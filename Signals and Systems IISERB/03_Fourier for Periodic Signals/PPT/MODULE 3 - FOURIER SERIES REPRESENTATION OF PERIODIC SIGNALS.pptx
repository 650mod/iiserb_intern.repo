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10287000" cx="18288000"/>
  <p:notesSz cx="6858000" cy="9144000"/>
  <p:embeddedFontLst>
    <p:embeddedFont>
      <p:font typeface="Anton"/>
      <p:regular r:id="rId25"/>
    </p:embeddedFont>
    <p:embeddedFont>
      <p:font typeface="Cormorant Garamond"/>
      <p:regular r:id="rId26"/>
      <p:bold r:id="rId27"/>
      <p:italic r:id="rId28"/>
      <p:boldItalic r:id="rId29"/>
    </p:embeddedFont>
    <p:embeddedFont>
      <p:font typeface="League Spartan"/>
      <p:regular r:id="rId30"/>
      <p:bold r:id="rId31"/>
    </p:embeddedFont>
    <p:embeddedFont>
      <p:font typeface="Arimo"/>
      <p:bold r:id="rId32"/>
      <p:boldItalic r:id="rId33"/>
    </p:embeddedFont>
    <p:embeddedFont>
      <p:font typeface="Poppins"/>
      <p:bold r:id="rId34"/>
      <p:boldItalic r:id="rId35"/>
    </p:embeddedFont>
    <p:embeddedFont>
      <p:font typeface="Sansita"/>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0" roundtripDataSignature="AMtx7mgGxmp2vWlhnKrLbtqT8zrpw43C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ormorantGaramond-regular.fntdata"/><Relationship Id="rId25" Type="http://schemas.openxmlformats.org/officeDocument/2006/relationships/font" Target="fonts/Anton-regular.fntdata"/><Relationship Id="rId28" Type="http://schemas.openxmlformats.org/officeDocument/2006/relationships/font" Target="fonts/CormorantGaramond-italic.fntdata"/><Relationship Id="rId27" Type="http://schemas.openxmlformats.org/officeDocument/2006/relationships/font" Target="fonts/CormorantGaramond-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ormorantGaramond-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eagueSpartan-bold.fntdata"/><Relationship Id="rId30" Type="http://schemas.openxmlformats.org/officeDocument/2006/relationships/font" Target="fonts/LeagueSpartan-regular.fntdata"/><Relationship Id="rId11" Type="http://schemas.openxmlformats.org/officeDocument/2006/relationships/slide" Target="slides/slide6.xml"/><Relationship Id="rId33" Type="http://schemas.openxmlformats.org/officeDocument/2006/relationships/font" Target="fonts/Arimo-boldItalic.fntdata"/><Relationship Id="rId10" Type="http://schemas.openxmlformats.org/officeDocument/2006/relationships/slide" Target="slides/slide5.xml"/><Relationship Id="rId32" Type="http://schemas.openxmlformats.org/officeDocument/2006/relationships/font" Target="fonts/Arimo-bold.fntdata"/><Relationship Id="rId13" Type="http://schemas.openxmlformats.org/officeDocument/2006/relationships/slide" Target="slides/slide8.xml"/><Relationship Id="rId35" Type="http://schemas.openxmlformats.org/officeDocument/2006/relationships/font" Target="fonts/Poppins-boldItalic.fntdata"/><Relationship Id="rId12" Type="http://schemas.openxmlformats.org/officeDocument/2006/relationships/slide" Target="slides/slide7.xml"/><Relationship Id="rId34" Type="http://schemas.openxmlformats.org/officeDocument/2006/relationships/font" Target="fonts/Poppins-bold.fntdata"/><Relationship Id="rId15" Type="http://schemas.openxmlformats.org/officeDocument/2006/relationships/slide" Target="slides/slide10.xml"/><Relationship Id="rId37" Type="http://schemas.openxmlformats.org/officeDocument/2006/relationships/font" Target="fonts/Sansita-bold.fntdata"/><Relationship Id="rId14" Type="http://schemas.openxmlformats.org/officeDocument/2006/relationships/slide" Target="slides/slide9.xml"/><Relationship Id="rId36" Type="http://schemas.openxmlformats.org/officeDocument/2006/relationships/font" Target="fonts/Sansita-regular.fntdata"/><Relationship Id="rId17" Type="http://schemas.openxmlformats.org/officeDocument/2006/relationships/slide" Target="slides/slide12.xml"/><Relationship Id="rId39" Type="http://schemas.openxmlformats.org/officeDocument/2006/relationships/font" Target="fonts/Sansita-boldItalic.fntdata"/><Relationship Id="rId16" Type="http://schemas.openxmlformats.org/officeDocument/2006/relationships/slide" Target="slides/slide11.xml"/><Relationship Id="rId38" Type="http://schemas.openxmlformats.org/officeDocument/2006/relationships/font" Target="fonts/Sansita-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9"/>
          <p:cNvSpPr/>
          <p:nvPr>
            <p:ph idx="2" type="pic"/>
          </p:nvPr>
        </p:nvSpPr>
        <p:spPr>
          <a:xfrm>
            <a:off x="1792288" y="612775"/>
            <a:ext cx="5486400" cy="4114800"/>
          </a:xfrm>
          <a:prstGeom prst="rect">
            <a:avLst/>
          </a:prstGeom>
          <a:noFill/>
          <a:ln>
            <a:noFill/>
          </a:ln>
        </p:spPr>
      </p:sp>
      <p:sp>
        <p:nvSpPr>
          <p:cNvPr id="64" name="Google Shape;64;p2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0.png"/><Relationship Id="rId6"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85" name="Google Shape;85;p1"/>
          <p:cNvSpPr/>
          <p:nvPr/>
        </p:nvSpPr>
        <p:spPr>
          <a:xfrm>
            <a:off x="8169686" y="305306"/>
            <a:ext cx="1755570" cy="1755570"/>
          </a:xfrm>
          <a:custGeom>
            <a:rect b="b" l="l" r="r" t="t"/>
            <a:pathLst>
              <a:path extrusionOk="0" h="1755570" w="1755570">
                <a:moveTo>
                  <a:pt x="0" y="0"/>
                </a:moveTo>
                <a:lnTo>
                  <a:pt x="1755570" y="0"/>
                </a:lnTo>
                <a:lnTo>
                  <a:pt x="1755570" y="1755570"/>
                </a:lnTo>
                <a:lnTo>
                  <a:pt x="0" y="1755570"/>
                </a:lnTo>
                <a:lnTo>
                  <a:pt x="0" y="0"/>
                </a:lnTo>
                <a:close/>
              </a:path>
            </a:pathLst>
          </a:custGeom>
          <a:blipFill rotWithShape="1">
            <a:blip r:embed="rId4">
              <a:alphaModFix/>
            </a:blip>
            <a:stretch>
              <a:fillRect b="0" l="0" r="0" t="0"/>
            </a:stretch>
          </a:blipFill>
          <a:ln>
            <a:noFill/>
          </a:ln>
        </p:spPr>
      </p:sp>
      <p:sp>
        <p:nvSpPr>
          <p:cNvPr id="86" name="Google Shape;86;p1"/>
          <p:cNvSpPr txBox="1"/>
          <p:nvPr/>
        </p:nvSpPr>
        <p:spPr>
          <a:xfrm>
            <a:off x="1347028" y="2507464"/>
            <a:ext cx="15912272" cy="886394"/>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227" u="none" cap="none" strike="noStrike">
                <a:solidFill>
                  <a:srgbClr val="000000"/>
                </a:solidFill>
                <a:latin typeface="Anton"/>
                <a:ea typeface="Anton"/>
                <a:cs typeface="Anton"/>
                <a:sym typeface="Anton"/>
              </a:rPr>
              <a:t>INDIAN INSTITUTE OF SCIENCE EDUCATION AND RESEARCH, BHOPAL</a:t>
            </a:r>
            <a:endParaRPr/>
          </a:p>
        </p:txBody>
      </p:sp>
      <p:sp>
        <p:nvSpPr>
          <p:cNvPr id="87" name="Google Shape;87;p1"/>
          <p:cNvSpPr txBox="1"/>
          <p:nvPr/>
        </p:nvSpPr>
        <p:spPr>
          <a:xfrm>
            <a:off x="2501231" y="4018349"/>
            <a:ext cx="13092480" cy="566488"/>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3197" u="none" cap="none" strike="noStrike">
                <a:solidFill>
                  <a:srgbClr val="000000"/>
                </a:solidFill>
                <a:latin typeface="Poppins"/>
                <a:ea typeface="Poppins"/>
                <a:cs typeface="Poppins"/>
                <a:sym typeface="Poppins"/>
              </a:rPr>
              <a:t>Department Of Electrical Engineering and Computer Sciene</a:t>
            </a:r>
            <a:endParaRPr/>
          </a:p>
        </p:txBody>
      </p:sp>
      <p:sp>
        <p:nvSpPr>
          <p:cNvPr id="88" name="Google Shape;88;p1"/>
          <p:cNvSpPr txBox="1"/>
          <p:nvPr/>
        </p:nvSpPr>
        <p:spPr>
          <a:xfrm>
            <a:off x="2219934" y="5350652"/>
            <a:ext cx="13289638" cy="566488"/>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3197" u="none" cap="none" strike="noStrike">
                <a:solidFill>
                  <a:srgbClr val="000000"/>
                </a:solidFill>
                <a:latin typeface="Poppins"/>
                <a:ea typeface="Poppins"/>
                <a:cs typeface="Poppins"/>
                <a:sym typeface="Poppins"/>
              </a:rPr>
              <a:t>MODULE  3</a:t>
            </a:r>
            <a:r>
              <a:rPr b="0" i="0" lang="en-US" sz="3197" u="none" cap="none" strike="noStrike">
                <a:solidFill>
                  <a:srgbClr val="000000"/>
                </a:solidFill>
                <a:latin typeface="Poppins"/>
                <a:ea typeface="Poppins"/>
                <a:cs typeface="Poppins"/>
                <a:sym typeface="Poppins"/>
              </a:rPr>
              <a:t> - FOURIER SERIES REPRESENTATION OF PERIODIC SIGNALS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94" name="Google Shape;94;p2"/>
          <p:cNvSpPr txBox="1"/>
          <p:nvPr/>
        </p:nvSpPr>
        <p:spPr>
          <a:xfrm>
            <a:off x="1414675" y="554037"/>
            <a:ext cx="15458650" cy="854075"/>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4999" u="none" cap="none" strike="noStrike">
                <a:solidFill>
                  <a:srgbClr val="000000"/>
                </a:solidFill>
                <a:latin typeface="Anton"/>
                <a:ea typeface="Anton"/>
                <a:cs typeface="Anton"/>
                <a:sym typeface="Anton"/>
              </a:rPr>
              <a:t>MODULE 3 : FOURIER SERIES REPRESENTATION OF PERIODIC SIGNALS </a:t>
            </a:r>
            <a:endParaRPr/>
          </a:p>
        </p:txBody>
      </p:sp>
      <p:sp>
        <p:nvSpPr>
          <p:cNvPr id="95" name="Google Shape;95;p2"/>
          <p:cNvSpPr txBox="1"/>
          <p:nvPr/>
        </p:nvSpPr>
        <p:spPr>
          <a:xfrm>
            <a:off x="335259" y="1758950"/>
            <a:ext cx="16924041" cy="74231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4200" u="none" cap="none" strike="noStrike">
                <a:solidFill>
                  <a:srgbClr val="000000"/>
                </a:solidFill>
                <a:latin typeface="Poppins"/>
                <a:ea typeface="Poppins"/>
                <a:cs typeface="Poppins"/>
                <a:sym typeface="Poppins"/>
              </a:rPr>
              <a:t>CONTENT </a:t>
            </a:r>
            <a:endParaRPr/>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HARMONICALLY RELATED COMPLEX EXPONENTIALS</a:t>
            </a:r>
            <a:endParaRPr/>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THE FOURIER SERIES REPRESENTATION</a:t>
            </a:r>
            <a:endParaRPr/>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TRIGONOMETRIC FORM OF THE FOURIER SERIES</a:t>
            </a:r>
            <a:endParaRPr/>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CONVERGENCE OF THE FOURIER SERIES</a:t>
            </a:r>
            <a:endParaRPr/>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PROPERTIES OF THE CONTINUOUS-TIME FOURIER SERIES</a:t>
            </a:r>
            <a:endParaRPr/>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DISCRETE-TIME FOURIER SERIES (DTFS)</a:t>
            </a:r>
            <a:endParaRPr/>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PROPERTIES OF THE DISCRETE-TIME FOURIER SERIES</a:t>
            </a:r>
            <a:endParaRPr/>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THE GIBBS PHENOMENON</a:t>
            </a:r>
            <a:endParaRPr/>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FOURIER SERIES AND LTI SYSTEMS</a:t>
            </a:r>
            <a:endParaRPr/>
          </a:p>
          <a:p>
            <a:pPr indent="-410212" lvl="1" marL="820424" marR="0" rtl="0" algn="l">
              <a:lnSpc>
                <a:spcPct val="140000"/>
              </a:lnSpc>
              <a:spcBef>
                <a:spcPts val="0"/>
              </a:spcBef>
              <a:spcAft>
                <a:spcPts val="0"/>
              </a:spcAft>
              <a:buClr>
                <a:srgbClr val="000000"/>
              </a:buClr>
              <a:buSzPts val="3800"/>
              <a:buFont typeface="Arial"/>
              <a:buChar char="•"/>
            </a:pPr>
            <a:r>
              <a:rPr b="0" i="0" lang="en-US" sz="3800" u="none" cap="none" strike="noStrike">
                <a:solidFill>
                  <a:srgbClr val="000000"/>
                </a:solidFill>
                <a:latin typeface="Poppins"/>
                <a:ea typeface="Poppins"/>
                <a:cs typeface="Poppins"/>
                <a:sym typeface="Poppins"/>
              </a:rPr>
              <a:t>FILTERING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101" name="Google Shape;101;p3"/>
          <p:cNvSpPr txBox="1"/>
          <p:nvPr/>
        </p:nvSpPr>
        <p:spPr>
          <a:xfrm>
            <a:off x="2754142" y="544478"/>
            <a:ext cx="12779715" cy="863669"/>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997" u="sng" cap="none" strike="noStrike">
                <a:solidFill>
                  <a:srgbClr val="000000"/>
                </a:solidFill>
                <a:latin typeface="Alice"/>
                <a:ea typeface="Alice"/>
                <a:cs typeface="Alice"/>
                <a:sym typeface="Alice"/>
              </a:rPr>
              <a:t>Harmonically Related Complex Exponentials </a:t>
            </a:r>
            <a:endParaRPr/>
          </a:p>
        </p:txBody>
      </p:sp>
      <p:sp>
        <p:nvSpPr>
          <p:cNvPr id="102" name="Google Shape;102;p3"/>
          <p:cNvSpPr txBox="1"/>
          <p:nvPr/>
        </p:nvSpPr>
        <p:spPr>
          <a:xfrm>
            <a:off x="1071953" y="2025581"/>
            <a:ext cx="16172930" cy="18732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000000"/>
                </a:solidFill>
                <a:latin typeface="Poppins"/>
                <a:ea typeface="Poppins"/>
                <a:cs typeface="Poppins"/>
                <a:sym typeface="Poppins"/>
              </a:rPr>
              <a:t>A set of harmonically related complex exponentials is a set of periodic exponentials with fundamental frequencies that are all multiples of a single positive frequency ω₀. </a:t>
            </a:r>
            <a:endParaRPr/>
          </a:p>
        </p:txBody>
      </p:sp>
      <p:sp>
        <p:nvSpPr>
          <p:cNvPr id="103" name="Google Shape;103;p3"/>
          <p:cNvSpPr txBox="1"/>
          <p:nvPr/>
        </p:nvSpPr>
        <p:spPr>
          <a:xfrm>
            <a:off x="5033753" y="4279831"/>
            <a:ext cx="8413552" cy="863669"/>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997" u="none" cap="none" strike="noStrike">
                <a:solidFill>
                  <a:srgbClr val="000000"/>
                </a:solidFill>
                <a:latin typeface="Alice"/>
                <a:ea typeface="Alice"/>
                <a:cs typeface="Alice"/>
                <a:sym typeface="Alice"/>
              </a:rPr>
              <a:t>φk(t) = ejkω₀t, k = 0, ±1, ±2, … </a:t>
            </a:r>
            <a:endParaRPr/>
          </a:p>
        </p:txBody>
      </p:sp>
      <p:sp>
        <p:nvSpPr>
          <p:cNvPr id="104" name="Google Shape;104;p3"/>
          <p:cNvSpPr txBox="1"/>
          <p:nvPr/>
        </p:nvSpPr>
        <p:spPr>
          <a:xfrm>
            <a:off x="1057535" y="5762625"/>
            <a:ext cx="16201765" cy="187325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500" u="none" cap="none" strike="noStrike">
                <a:solidFill>
                  <a:srgbClr val="000000"/>
                </a:solidFill>
                <a:latin typeface="Poppins"/>
                <a:ea typeface="Poppins"/>
                <a:cs typeface="Poppins"/>
                <a:sym typeface="Poppins"/>
              </a:rPr>
              <a:t>Each φk(t) has fundamental frequency kω0 and is periodic with period 2π/(kω0). Since each is periodic with period</a:t>
            </a:r>
            <a:endParaRPr/>
          </a:p>
          <a:p>
            <a:pPr indent="0" lvl="0" marL="0" marR="0" rtl="0" algn="just">
              <a:lnSpc>
                <a:spcPct val="140000"/>
              </a:lnSpc>
              <a:spcBef>
                <a:spcPts val="0"/>
              </a:spcBef>
              <a:spcAft>
                <a:spcPts val="0"/>
              </a:spcAft>
              <a:buNone/>
            </a:pPr>
            <a:r>
              <a:rPr b="0" i="0" lang="en-US" sz="3500" u="none" cap="none" strike="noStrike">
                <a:solidFill>
                  <a:srgbClr val="000000"/>
                </a:solidFill>
                <a:latin typeface="Poppins"/>
                <a:ea typeface="Poppins"/>
                <a:cs typeface="Poppins"/>
                <a:sym typeface="Poppins"/>
              </a:rPr>
              <a:t>T = 2π/ω0, any linear combination is also periodic with period T. </a:t>
            </a:r>
            <a:endParaRPr/>
          </a:p>
        </p:txBody>
      </p:sp>
      <p:sp>
        <p:nvSpPr>
          <p:cNvPr id="105" name="Google Shape;105;p3"/>
          <p:cNvSpPr txBox="1"/>
          <p:nvPr/>
        </p:nvSpPr>
        <p:spPr>
          <a:xfrm>
            <a:off x="6134900" y="7798898"/>
            <a:ext cx="4360069" cy="738574"/>
          </a:xfrm>
          <a:prstGeom prst="rect">
            <a:avLst/>
          </a:prstGeom>
          <a:noFill/>
          <a:ln>
            <a:noFill/>
          </a:ln>
        </p:spPr>
        <p:txBody>
          <a:bodyPr anchorCtr="0" anchor="t" bIns="0" lIns="0" spcFirstLastPara="1" rIns="0" wrap="square" tIns="0">
            <a:spAutoFit/>
          </a:bodyPr>
          <a:lstStyle/>
          <a:p>
            <a:pPr indent="-463893" lvl="1" marL="927787" marR="0" rtl="0" algn="l">
              <a:lnSpc>
                <a:spcPct val="140004"/>
              </a:lnSpc>
              <a:spcBef>
                <a:spcPts val="0"/>
              </a:spcBef>
              <a:spcAft>
                <a:spcPts val="0"/>
              </a:spcAft>
              <a:buClr>
                <a:srgbClr val="000000"/>
              </a:buClr>
              <a:buSzPts val="4297"/>
              <a:buFont typeface="Arial"/>
              <a:buChar char="•"/>
            </a:pPr>
            <a:r>
              <a:rPr b="0" i="1" lang="en-US" sz="4297" u="sng" cap="none" strike="noStrike">
                <a:solidFill>
                  <a:srgbClr val="000000"/>
                </a:solidFill>
                <a:latin typeface="Alice"/>
                <a:ea typeface="Alice"/>
                <a:cs typeface="Alice"/>
                <a:sym typeface="Alice"/>
              </a:rPr>
              <a:t>General Form </a:t>
            </a:r>
            <a:endParaRPr/>
          </a:p>
        </p:txBody>
      </p:sp>
      <p:sp>
        <p:nvSpPr>
          <p:cNvPr id="106" name="Google Shape;106;p3"/>
          <p:cNvSpPr txBox="1"/>
          <p:nvPr/>
        </p:nvSpPr>
        <p:spPr>
          <a:xfrm>
            <a:off x="3952127" y="8697321"/>
            <a:ext cx="8928378" cy="863669"/>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997" u="none" cap="none" strike="noStrike">
                <a:solidFill>
                  <a:srgbClr val="000000"/>
                </a:solidFill>
                <a:latin typeface="Alice"/>
                <a:ea typeface="Alice"/>
                <a:cs typeface="Alice"/>
                <a:sym typeface="Alice"/>
              </a:rPr>
              <a:t>x(t) = ∑k=-∞ ∞  ak ejkω₀t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112" name="Google Shape;112;p4"/>
          <p:cNvSpPr/>
          <p:nvPr/>
        </p:nvSpPr>
        <p:spPr>
          <a:xfrm>
            <a:off x="2251472" y="376238"/>
            <a:ext cx="13785056" cy="6900862"/>
          </a:xfrm>
          <a:custGeom>
            <a:rect b="b" l="l" r="r" t="t"/>
            <a:pathLst>
              <a:path extrusionOk="0" h="6900862" w="13785056">
                <a:moveTo>
                  <a:pt x="0" y="0"/>
                </a:moveTo>
                <a:lnTo>
                  <a:pt x="13785056" y="0"/>
                </a:lnTo>
                <a:lnTo>
                  <a:pt x="13785056" y="6900862"/>
                </a:lnTo>
                <a:lnTo>
                  <a:pt x="0" y="6900862"/>
                </a:lnTo>
                <a:lnTo>
                  <a:pt x="0" y="0"/>
                </a:lnTo>
                <a:close/>
              </a:path>
            </a:pathLst>
          </a:custGeom>
          <a:blipFill rotWithShape="1">
            <a:blip r:embed="rId4">
              <a:alphaModFix/>
            </a:blip>
            <a:stretch>
              <a:fillRect b="0" l="0" r="0" t="0"/>
            </a:stretch>
          </a:blipFill>
          <a:ln>
            <a:noFill/>
          </a:ln>
        </p:spPr>
      </p:sp>
      <p:sp>
        <p:nvSpPr>
          <p:cNvPr id="113" name="Google Shape;113;p4"/>
          <p:cNvSpPr/>
          <p:nvPr/>
        </p:nvSpPr>
        <p:spPr>
          <a:xfrm>
            <a:off x="6029008" y="8371767"/>
            <a:ext cx="6229984" cy="1773067"/>
          </a:xfrm>
          <a:custGeom>
            <a:rect b="b" l="l" r="r" t="t"/>
            <a:pathLst>
              <a:path extrusionOk="0" h="1773067" w="6229984">
                <a:moveTo>
                  <a:pt x="0" y="0"/>
                </a:moveTo>
                <a:lnTo>
                  <a:pt x="6229984" y="0"/>
                </a:lnTo>
                <a:lnTo>
                  <a:pt x="6229984" y="1773066"/>
                </a:lnTo>
                <a:lnTo>
                  <a:pt x="0" y="1773066"/>
                </a:lnTo>
                <a:lnTo>
                  <a:pt x="0" y="0"/>
                </a:lnTo>
                <a:close/>
              </a:path>
            </a:pathLst>
          </a:custGeom>
          <a:blipFill rotWithShape="1">
            <a:blip r:embed="rId5">
              <a:alphaModFix/>
            </a:blip>
            <a:stretch>
              <a:fillRect b="-100811" l="-53816" r="-53816" t="-198455"/>
            </a:stretch>
          </a:blipFill>
          <a:ln cap="sq" cmpd="sng" w="38100">
            <a:solidFill>
              <a:srgbClr val="000000"/>
            </a:solidFill>
            <a:prstDash val="solid"/>
            <a:miter lim="8000"/>
            <a:headEnd len="sm" w="sm" type="none"/>
            <a:tailEnd len="sm" w="sm" type="none"/>
          </a:ln>
        </p:spPr>
      </p:sp>
      <p:sp>
        <p:nvSpPr>
          <p:cNvPr id="114" name="Google Shape;114;p4"/>
          <p:cNvSpPr txBox="1"/>
          <p:nvPr/>
        </p:nvSpPr>
        <p:spPr>
          <a:xfrm>
            <a:off x="2683774" y="7258050"/>
            <a:ext cx="12920453" cy="7810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1" lang="en-US" sz="2500" u="none" cap="none" strike="noStrike">
                <a:solidFill>
                  <a:srgbClr val="000000"/>
                </a:solidFill>
                <a:latin typeface="Alice"/>
                <a:ea typeface="Alice"/>
                <a:cs typeface="Alice"/>
                <a:sym typeface="Alice"/>
              </a:rPr>
              <a:t>A periodic signal x(t) with period T built as a sum of complex exponentials at integer multiples of ω₀ = 2π/T</a:t>
            </a:r>
            <a:endParaRPr/>
          </a:p>
        </p:txBody>
      </p:sp>
      <p:sp>
        <p:nvSpPr>
          <p:cNvPr id="115" name="Google Shape;115;p4"/>
          <p:cNvSpPr txBox="1"/>
          <p:nvPr/>
        </p:nvSpPr>
        <p:spPr>
          <a:xfrm>
            <a:off x="6197538" y="8535996"/>
            <a:ext cx="8001149" cy="4203879"/>
          </a:xfrm>
          <a:prstGeom prst="rect">
            <a:avLst/>
          </a:prstGeom>
          <a:noFill/>
          <a:ln>
            <a:noFill/>
          </a:ln>
        </p:spPr>
        <p:txBody>
          <a:bodyPr anchorCtr="0" anchor="t" bIns="0" lIns="0" spcFirstLastPara="1" rIns="0" wrap="square" tIns="0">
            <a:spAutoFit/>
          </a:bodyPr>
          <a:lstStyle/>
          <a:p>
            <a:pPr indent="0" lvl="0" marL="0" marR="0" rtl="0" algn="l">
              <a:lnSpc>
                <a:spcPct val="140018"/>
              </a:lnSpc>
              <a:spcBef>
                <a:spcPts val="0"/>
              </a:spcBef>
              <a:spcAft>
                <a:spcPts val="0"/>
              </a:spcAft>
              <a:buNone/>
            </a:pPr>
            <a:r>
              <a:rPr b="1" i="0" lang="en-US" sz="2199" u="none" cap="none" strike="noStrike">
                <a:solidFill>
                  <a:srgbClr val="000000"/>
                </a:solidFill>
                <a:latin typeface="Alice"/>
                <a:ea typeface="Alice"/>
                <a:cs typeface="Alice"/>
                <a:sym typeface="Alice"/>
              </a:rPr>
              <a:t>k = 0: DC / constant term a₀</a:t>
            </a:r>
            <a:endParaRPr/>
          </a:p>
          <a:p>
            <a:pPr indent="0" lvl="0" marL="0" marR="0" rtl="0" algn="l">
              <a:lnSpc>
                <a:spcPct val="140018"/>
              </a:lnSpc>
              <a:spcBef>
                <a:spcPts val="0"/>
              </a:spcBef>
              <a:spcAft>
                <a:spcPts val="0"/>
              </a:spcAft>
              <a:buNone/>
            </a:pPr>
            <a:r>
              <a:rPr b="1" i="0" lang="en-US" sz="2199" u="none" cap="none" strike="noStrike">
                <a:solidFill>
                  <a:srgbClr val="000000"/>
                </a:solidFill>
                <a:latin typeface="Arimo"/>
                <a:ea typeface="Arimo"/>
                <a:cs typeface="Arimo"/>
                <a:sym typeface="Arimo"/>
              </a:rPr>
              <a:t>k = ±1: Fundamental component</a:t>
            </a:r>
            <a:endParaRPr/>
          </a:p>
          <a:p>
            <a:pPr indent="0" lvl="0" marL="0" marR="0" rtl="0" algn="l">
              <a:lnSpc>
                <a:spcPct val="140018"/>
              </a:lnSpc>
              <a:spcBef>
                <a:spcPts val="0"/>
              </a:spcBef>
              <a:spcAft>
                <a:spcPts val="0"/>
              </a:spcAft>
              <a:buNone/>
            </a:pPr>
            <a:r>
              <a:rPr b="1" i="0" lang="en-US" sz="2199" u="none" cap="none" strike="noStrike">
                <a:solidFill>
                  <a:srgbClr val="000000"/>
                </a:solidFill>
                <a:latin typeface="Arimo"/>
                <a:ea typeface="Arimo"/>
                <a:cs typeface="Arimo"/>
                <a:sym typeface="Arimo"/>
              </a:rPr>
              <a:t>k = ±N: Nth harmonic component</a:t>
            </a:r>
            <a:endParaRPr/>
          </a:p>
          <a:p>
            <a:pPr indent="0" lvl="0" marL="0" marR="0" rtl="0" algn="ctr">
              <a:lnSpc>
                <a:spcPct val="368349"/>
              </a:lnSpc>
              <a:spcBef>
                <a:spcPts val="0"/>
              </a:spcBef>
              <a:spcAft>
                <a:spcPts val="0"/>
              </a:spcAft>
              <a:buNone/>
            </a:pPr>
            <a:r>
              <a:t/>
            </a:r>
            <a:endParaRPr b="1" i="0" sz="2199" u="none" cap="none" strike="noStrike">
              <a:solidFill>
                <a:srgbClr val="000000"/>
              </a:solidFill>
              <a:latin typeface="Arimo"/>
              <a:ea typeface="Arimo"/>
              <a:cs typeface="Arimo"/>
              <a:sym typeface="Arimo"/>
            </a:endParaRPr>
          </a:p>
          <a:p>
            <a:pPr indent="0" lvl="0" marL="0" marR="0" rtl="0" algn="ctr">
              <a:lnSpc>
                <a:spcPct val="368349"/>
              </a:lnSpc>
              <a:spcBef>
                <a:spcPts val="0"/>
              </a:spcBef>
              <a:spcAft>
                <a:spcPts val="0"/>
              </a:spcAft>
              <a:buNone/>
            </a:pPr>
            <a:r>
              <a:t/>
            </a:r>
            <a:endParaRPr b="1" i="0" sz="2199" u="none" cap="none" strike="noStrike">
              <a:solidFill>
                <a:srgbClr val="000000"/>
              </a:solidFill>
              <a:latin typeface="Arimo"/>
              <a:ea typeface="Arimo"/>
              <a:cs typeface="Arimo"/>
              <a:sym typeface="Arimo"/>
            </a:endParaRPr>
          </a:p>
          <a:p>
            <a:pPr indent="0" lvl="0" marL="0" marR="0" rtl="0" algn="ctr">
              <a:lnSpc>
                <a:spcPct val="140017"/>
              </a:lnSpc>
              <a:spcBef>
                <a:spcPts val="0"/>
              </a:spcBef>
              <a:spcAft>
                <a:spcPts val="0"/>
              </a:spcAft>
              <a:buNone/>
            </a:pPr>
            <a:r>
              <a:rPr b="1" i="0" lang="en-US" sz="5785" u="none" cap="none" strike="noStrike">
                <a:solidFill>
                  <a:srgbClr val="000000"/>
                </a:solidFill>
                <a:latin typeface="Alice"/>
                <a:ea typeface="Alice"/>
                <a:cs typeface="Alice"/>
                <a:sym typeface="Alice"/>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5"/>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121" name="Google Shape;121;p5"/>
          <p:cNvSpPr txBox="1"/>
          <p:nvPr/>
        </p:nvSpPr>
        <p:spPr>
          <a:xfrm>
            <a:off x="4070678" y="165031"/>
            <a:ext cx="9781877" cy="863669"/>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997" u="sng" cap="none" strike="noStrike">
                <a:solidFill>
                  <a:srgbClr val="000000"/>
                </a:solidFill>
                <a:latin typeface="Alice"/>
                <a:ea typeface="Alice"/>
                <a:cs typeface="Alice"/>
                <a:sym typeface="Alice"/>
              </a:rPr>
              <a:t>The Fourier Series Representation </a:t>
            </a:r>
            <a:endParaRPr/>
          </a:p>
        </p:txBody>
      </p:sp>
      <p:sp>
        <p:nvSpPr>
          <p:cNvPr id="122" name="Google Shape;122;p5"/>
          <p:cNvSpPr txBox="1"/>
          <p:nvPr/>
        </p:nvSpPr>
        <p:spPr>
          <a:xfrm>
            <a:off x="332828" y="1502291"/>
            <a:ext cx="17815402" cy="1028768"/>
          </a:xfrm>
          <a:prstGeom prst="rect">
            <a:avLst/>
          </a:prstGeom>
          <a:noFill/>
          <a:ln>
            <a:noFill/>
          </a:ln>
        </p:spPr>
        <p:txBody>
          <a:bodyPr anchorCtr="0" anchor="t" bIns="0" lIns="0" spcFirstLastPara="1" rIns="0" wrap="square" tIns="0">
            <a:spAutoFit/>
          </a:bodyPr>
          <a:lstStyle/>
          <a:p>
            <a:pPr indent="0" lvl="0" marL="0" marR="0" rtl="0" algn="just">
              <a:lnSpc>
                <a:spcPct val="140006"/>
              </a:lnSpc>
              <a:spcBef>
                <a:spcPts val="0"/>
              </a:spcBef>
              <a:spcAft>
                <a:spcPts val="0"/>
              </a:spcAft>
              <a:buNone/>
            </a:pPr>
            <a:r>
              <a:rPr b="1" i="0" lang="en-US" sz="2997" u="none" cap="none" strike="noStrike">
                <a:solidFill>
                  <a:srgbClr val="000000"/>
                </a:solidFill>
                <a:latin typeface="Alice"/>
                <a:ea typeface="Alice"/>
                <a:cs typeface="Alice"/>
                <a:sym typeface="Alice"/>
              </a:rPr>
              <a:t>If a periodic signal x(t), with period T and fundamental frequency ω₀ = 2π/T, satisfies the Dirichlet conditions, it can be expressed as: </a:t>
            </a:r>
            <a:endParaRPr/>
          </a:p>
        </p:txBody>
      </p:sp>
      <p:sp>
        <p:nvSpPr>
          <p:cNvPr id="123" name="Google Shape;123;p5"/>
          <p:cNvSpPr txBox="1"/>
          <p:nvPr/>
        </p:nvSpPr>
        <p:spPr>
          <a:xfrm>
            <a:off x="6246041" y="3371333"/>
            <a:ext cx="4841558" cy="679518"/>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1" lang="en-US" sz="3997" u="none" cap="none" strike="noStrike">
                <a:solidFill>
                  <a:srgbClr val="000000"/>
                </a:solidFill>
                <a:latin typeface="Cormorant Garamond"/>
                <a:ea typeface="Cormorant Garamond"/>
                <a:cs typeface="Cormorant Garamond"/>
                <a:sym typeface="Cormorant Garamond"/>
              </a:rPr>
              <a:t>SYNTHESIS EQUATION </a:t>
            </a:r>
            <a:endParaRPr/>
          </a:p>
        </p:txBody>
      </p:sp>
      <p:sp>
        <p:nvSpPr>
          <p:cNvPr id="124" name="Google Shape;124;p5"/>
          <p:cNvSpPr txBox="1"/>
          <p:nvPr/>
        </p:nvSpPr>
        <p:spPr>
          <a:xfrm>
            <a:off x="4977842" y="3948535"/>
            <a:ext cx="7358967" cy="863669"/>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997" u="none" cap="none" strike="noStrike">
                <a:solidFill>
                  <a:srgbClr val="000000"/>
                </a:solidFill>
                <a:latin typeface="Alice"/>
                <a:ea typeface="Alice"/>
                <a:cs typeface="Alice"/>
                <a:sym typeface="Alice"/>
              </a:rPr>
              <a:t>x(t) = ∑k=-∞∞ akejkω0t</a:t>
            </a:r>
            <a:endParaRPr/>
          </a:p>
        </p:txBody>
      </p:sp>
      <p:sp>
        <p:nvSpPr>
          <p:cNvPr id="125" name="Google Shape;125;p5"/>
          <p:cNvSpPr txBox="1"/>
          <p:nvPr/>
        </p:nvSpPr>
        <p:spPr>
          <a:xfrm>
            <a:off x="5904748" y="4774105"/>
            <a:ext cx="5524143" cy="339792"/>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0" lang="en-US" sz="1997" u="none" cap="none" strike="noStrike">
                <a:solidFill>
                  <a:srgbClr val="000000"/>
                </a:solidFill>
                <a:latin typeface="Alice"/>
                <a:ea typeface="Alice"/>
                <a:cs typeface="Alice"/>
                <a:sym typeface="Alice"/>
              </a:rPr>
              <a:t>Reconstructs x(t) from its Fourier coefficients ak </a:t>
            </a:r>
            <a:endParaRPr/>
          </a:p>
        </p:txBody>
      </p:sp>
      <p:cxnSp>
        <p:nvCxnSpPr>
          <p:cNvPr id="126" name="Google Shape;126;p5"/>
          <p:cNvCxnSpPr/>
          <p:nvPr/>
        </p:nvCxnSpPr>
        <p:spPr>
          <a:xfrm>
            <a:off x="4798244" y="5581740"/>
            <a:ext cx="7718227" cy="25476"/>
          </a:xfrm>
          <a:prstGeom prst="straightConnector1">
            <a:avLst/>
          </a:prstGeom>
          <a:noFill/>
          <a:ln cap="flat" cmpd="sng" w="38100">
            <a:solidFill>
              <a:srgbClr val="000000"/>
            </a:solidFill>
            <a:prstDash val="solid"/>
            <a:round/>
            <a:headEnd len="sm" w="sm" type="none"/>
            <a:tailEnd len="sm" w="sm" type="none"/>
          </a:ln>
        </p:spPr>
      </p:cxnSp>
      <p:cxnSp>
        <p:nvCxnSpPr>
          <p:cNvPr id="127" name="Google Shape;127;p5"/>
          <p:cNvCxnSpPr/>
          <p:nvPr/>
        </p:nvCxnSpPr>
        <p:spPr>
          <a:xfrm>
            <a:off x="4798244" y="3080773"/>
            <a:ext cx="7737277" cy="0"/>
          </a:xfrm>
          <a:prstGeom prst="straightConnector1">
            <a:avLst/>
          </a:prstGeom>
          <a:noFill/>
          <a:ln cap="flat" cmpd="sng" w="38100">
            <a:solidFill>
              <a:srgbClr val="000000"/>
            </a:solidFill>
            <a:prstDash val="solid"/>
            <a:round/>
            <a:headEnd len="sm" w="sm" type="none"/>
            <a:tailEnd len="sm" w="sm" type="none"/>
          </a:ln>
        </p:spPr>
      </p:cxnSp>
      <p:cxnSp>
        <p:nvCxnSpPr>
          <p:cNvPr id="128" name="Google Shape;128;p5"/>
          <p:cNvCxnSpPr/>
          <p:nvPr/>
        </p:nvCxnSpPr>
        <p:spPr>
          <a:xfrm flipH="1">
            <a:off x="12535521" y="3105772"/>
            <a:ext cx="6090" cy="2498141"/>
          </a:xfrm>
          <a:prstGeom prst="straightConnector1">
            <a:avLst/>
          </a:prstGeom>
          <a:noFill/>
          <a:ln cap="flat" cmpd="sng" w="38100">
            <a:solidFill>
              <a:srgbClr val="000000"/>
            </a:solidFill>
            <a:prstDash val="solid"/>
            <a:round/>
            <a:headEnd len="sm" w="sm" type="none"/>
            <a:tailEnd len="sm" w="sm" type="none"/>
          </a:ln>
        </p:spPr>
      </p:cxnSp>
      <p:cxnSp>
        <p:nvCxnSpPr>
          <p:cNvPr id="129" name="Google Shape;129;p5"/>
          <p:cNvCxnSpPr/>
          <p:nvPr/>
        </p:nvCxnSpPr>
        <p:spPr>
          <a:xfrm>
            <a:off x="4769669" y="3064531"/>
            <a:ext cx="9462" cy="2507303"/>
          </a:xfrm>
          <a:prstGeom prst="straightConnector1">
            <a:avLst/>
          </a:prstGeom>
          <a:noFill/>
          <a:ln cap="flat" cmpd="sng" w="38100">
            <a:solidFill>
              <a:srgbClr val="000000"/>
            </a:solidFill>
            <a:prstDash val="solid"/>
            <a:round/>
            <a:headEnd len="sm" w="sm" type="none"/>
            <a:tailEnd len="sm" w="sm" type="none"/>
          </a:ln>
        </p:spPr>
      </p:cxnSp>
      <p:sp>
        <p:nvSpPr>
          <p:cNvPr id="130" name="Google Shape;130;p5"/>
          <p:cNvSpPr txBox="1"/>
          <p:nvPr/>
        </p:nvSpPr>
        <p:spPr>
          <a:xfrm>
            <a:off x="4987974" y="6102426"/>
            <a:ext cx="8505111" cy="679518"/>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0" i="1" lang="en-US" sz="3997" u="none" cap="none" strike="noStrike">
                <a:solidFill>
                  <a:srgbClr val="000000"/>
                </a:solidFill>
                <a:latin typeface="Cormorant Garamond"/>
                <a:ea typeface="Cormorant Garamond"/>
                <a:cs typeface="Cormorant Garamond"/>
                <a:sym typeface="Cormorant Garamond"/>
              </a:rPr>
              <a:t>ANALYSIS EQUATION (EULER FORMULA)</a:t>
            </a:r>
            <a:endParaRPr/>
          </a:p>
        </p:txBody>
      </p:sp>
      <p:sp>
        <p:nvSpPr>
          <p:cNvPr id="131" name="Google Shape;131;p5"/>
          <p:cNvSpPr txBox="1"/>
          <p:nvPr/>
        </p:nvSpPr>
        <p:spPr>
          <a:xfrm>
            <a:off x="5106334" y="6599748"/>
            <a:ext cx="8075332" cy="1386908"/>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997" u="none" cap="none" strike="noStrike">
                <a:solidFill>
                  <a:srgbClr val="000000"/>
                </a:solidFill>
                <a:latin typeface="Alice"/>
                <a:ea typeface="Alice"/>
                <a:cs typeface="Alice"/>
                <a:sym typeface="Alice"/>
              </a:rPr>
              <a:t>ak = 1/T  ∫Tx(t) e-jkω₀t dt</a:t>
            </a:r>
            <a:endParaRPr/>
          </a:p>
          <a:p>
            <a:pPr indent="0" lvl="0" marL="0" marR="0" rtl="0" algn="l">
              <a:lnSpc>
                <a:spcPct val="140007"/>
              </a:lnSpc>
              <a:spcBef>
                <a:spcPts val="0"/>
              </a:spcBef>
              <a:spcAft>
                <a:spcPts val="0"/>
              </a:spcAft>
              <a:buNone/>
            </a:pPr>
            <a:r>
              <a:rPr b="1" i="0" lang="en-US" sz="2797" u="none" cap="none" strike="noStrike">
                <a:solidFill>
                  <a:srgbClr val="000000"/>
                </a:solidFill>
                <a:latin typeface="Alice"/>
                <a:ea typeface="Alice"/>
                <a:cs typeface="Alice"/>
                <a:sym typeface="Alice"/>
              </a:rPr>
              <a:t>                       </a:t>
            </a:r>
            <a:endParaRPr/>
          </a:p>
        </p:txBody>
      </p:sp>
      <p:sp>
        <p:nvSpPr>
          <p:cNvPr id="132" name="Google Shape;132;p5"/>
          <p:cNvSpPr txBox="1"/>
          <p:nvPr/>
        </p:nvSpPr>
        <p:spPr>
          <a:xfrm>
            <a:off x="4862354" y="7773180"/>
            <a:ext cx="8198525" cy="431868"/>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2497" u="none" cap="none" strike="noStrike">
                <a:solidFill>
                  <a:srgbClr val="000000"/>
                </a:solidFill>
                <a:latin typeface="Alice"/>
                <a:ea typeface="Alice"/>
                <a:cs typeface="Alice"/>
                <a:sym typeface="Alice"/>
              </a:rPr>
              <a:t>Computes coefficients ak by integrating over one period T</a:t>
            </a:r>
            <a:endParaRPr/>
          </a:p>
        </p:txBody>
      </p:sp>
      <p:cxnSp>
        <p:nvCxnSpPr>
          <p:cNvPr id="133" name="Google Shape;133;p5"/>
          <p:cNvCxnSpPr/>
          <p:nvPr/>
        </p:nvCxnSpPr>
        <p:spPr>
          <a:xfrm flipH="1" rot="10800000">
            <a:off x="4369891" y="6094923"/>
            <a:ext cx="9378031" cy="19050"/>
          </a:xfrm>
          <a:prstGeom prst="straightConnector1">
            <a:avLst/>
          </a:prstGeom>
          <a:noFill/>
          <a:ln cap="flat" cmpd="sng" w="38100">
            <a:solidFill>
              <a:srgbClr val="000000"/>
            </a:solidFill>
            <a:prstDash val="solid"/>
            <a:round/>
            <a:headEnd len="sm" w="sm" type="none"/>
            <a:tailEnd len="sm" w="sm" type="none"/>
          </a:ln>
        </p:spPr>
      </p:cxnSp>
      <p:cxnSp>
        <p:nvCxnSpPr>
          <p:cNvPr id="134" name="Google Shape;134;p5"/>
          <p:cNvCxnSpPr/>
          <p:nvPr/>
        </p:nvCxnSpPr>
        <p:spPr>
          <a:xfrm flipH="1" rot="10800000">
            <a:off x="4414104" y="8616528"/>
            <a:ext cx="9377968" cy="18895"/>
          </a:xfrm>
          <a:prstGeom prst="straightConnector1">
            <a:avLst/>
          </a:prstGeom>
          <a:noFill/>
          <a:ln cap="flat" cmpd="sng" w="38100">
            <a:solidFill>
              <a:srgbClr val="000000"/>
            </a:solidFill>
            <a:prstDash val="solid"/>
            <a:round/>
            <a:headEnd len="sm" w="sm" type="none"/>
            <a:tailEnd len="sm" w="sm" type="none"/>
          </a:ln>
        </p:spPr>
      </p:cxnSp>
      <p:cxnSp>
        <p:nvCxnSpPr>
          <p:cNvPr id="135" name="Google Shape;135;p5"/>
          <p:cNvCxnSpPr/>
          <p:nvPr/>
        </p:nvCxnSpPr>
        <p:spPr>
          <a:xfrm flipH="1">
            <a:off x="13766971" y="6054669"/>
            <a:ext cx="25140" cy="2542621"/>
          </a:xfrm>
          <a:prstGeom prst="straightConnector1">
            <a:avLst/>
          </a:prstGeom>
          <a:noFill/>
          <a:ln cap="flat" cmpd="sng" w="38100">
            <a:solidFill>
              <a:srgbClr val="000000"/>
            </a:solidFill>
            <a:prstDash val="solid"/>
            <a:round/>
            <a:headEnd len="sm" w="sm" type="none"/>
            <a:tailEnd len="sm" w="sm" type="none"/>
          </a:ln>
        </p:spPr>
      </p:cxnSp>
      <p:cxnSp>
        <p:nvCxnSpPr>
          <p:cNvPr id="136" name="Google Shape;136;p5"/>
          <p:cNvCxnSpPr/>
          <p:nvPr/>
        </p:nvCxnSpPr>
        <p:spPr>
          <a:xfrm>
            <a:off x="4350802" y="6178626"/>
            <a:ext cx="0" cy="2507393"/>
          </a:xfrm>
          <a:prstGeom prst="straightConnector1">
            <a:avLst/>
          </a:prstGeom>
          <a:noFill/>
          <a:ln cap="flat" cmpd="sng" w="38100">
            <a:solidFill>
              <a:srgbClr val="000000"/>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6"/>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142" name="Google Shape;142;p6"/>
          <p:cNvSpPr txBox="1"/>
          <p:nvPr/>
        </p:nvSpPr>
        <p:spPr>
          <a:xfrm>
            <a:off x="4070678" y="165031"/>
            <a:ext cx="9781877" cy="863669"/>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997" u="sng" cap="none" strike="noStrike">
                <a:solidFill>
                  <a:srgbClr val="000000"/>
                </a:solidFill>
                <a:latin typeface="Alice"/>
                <a:ea typeface="Alice"/>
                <a:cs typeface="Alice"/>
                <a:sym typeface="Alice"/>
              </a:rPr>
              <a:t>The Fourier Series Representation </a:t>
            </a:r>
            <a:endParaRPr/>
          </a:p>
        </p:txBody>
      </p:sp>
      <p:sp>
        <p:nvSpPr>
          <p:cNvPr id="143" name="Google Shape;143;p6"/>
          <p:cNvSpPr txBox="1"/>
          <p:nvPr/>
        </p:nvSpPr>
        <p:spPr>
          <a:xfrm>
            <a:off x="709705" y="6045431"/>
            <a:ext cx="2597825" cy="738574"/>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297" u="none" cap="none" strike="noStrike">
                <a:solidFill>
                  <a:srgbClr val="000000"/>
                </a:solidFill>
                <a:latin typeface="Alice"/>
                <a:ea typeface="Alice"/>
                <a:cs typeface="Alice"/>
                <a:sym typeface="Alice"/>
              </a:rPr>
              <a:t>Key Points</a:t>
            </a:r>
            <a:endParaRPr/>
          </a:p>
        </p:txBody>
      </p:sp>
      <p:sp>
        <p:nvSpPr>
          <p:cNvPr id="144" name="Google Shape;144;p6"/>
          <p:cNvSpPr txBox="1"/>
          <p:nvPr/>
        </p:nvSpPr>
        <p:spPr>
          <a:xfrm>
            <a:off x="96529" y="7013875"/>
            <a:ext cx="18129171" cy="2422593"/>
          </a:xfrm>
          <a:prstGeom prst="rect">
            <a:avLst/>
          </a:prstGeom>
          <a:noFill/>
          <a:ln>
            <a:noFill/>
          </a:ln>
        </p:spPr>
        <p:txBody>
          <a:bodyPr anchorCtr="0" anchor="t" bIns="0" lIns="0" spcFirstLastPara="1" rIns="0" wrap="square" tIns="0">
            <a:spAutoFit/>
          </a:bodyPr>
          <a:lstStyle/>
          <a:p>
            <a:pPr indent="-323562" lvl="1" marL="647124" marR="0" rtl="0" algn="l">
              <a:lnSpc>
                <a:spcPct val="140006"/>
              </a:lnSpc>
              <a:spcBef>
                <a:spcPts val="0"/>
              </a:spcBef>
              <a:spcAft>
                <a:spcPts val="0"/>
              </a:spcAft>
              <a:buClr>
                <a:srgbClr val="000000"/>
              </a:buClr>
              <a:buSzPts val="2997"/>
              <a:buFont typeface="Arial"/>
              <a:buChar char="•"/>
            </a:pPr>
            <a:r>
              <a:rPr b="0" i="0" lang="en-US" sz="2997" u="none" cap="none" strike="noStrike">
                <a:solidFill>
                  <a:srgbClr val="000000"/>
                </a:solidFill>
                <a:latin typeface="Arimo"/>
                <a:ea typeface="Arimo"/>
                <a:cs typeface="Arimo"/>
                <a:sym typeface="Arimo"/>
              </a:rPr>
              <a:t>a₀ is the average value (DC component) of x(t) over one period: a₀ = (1/T) ∫T x(t) dt.</a:t>
            </a:r>
            <a:endParaRPr/>
          </a:p>
          <a:p>
            <a:pPr indent="-323562" lvl="1" marL="647124" marR="0" rtl="0" algn="l">
              <a:lnSpc>
                <a:spcPct val="140006"/>
              </a:lnSpc>
              <a:spcBef>
                <a:spcPts val="0"/>
              </a:spcBef>
              <a:spcAft>
                <a:spcPts val="0"/>
              </a:spcAft>
              <a:buClr>
                <a:srgbClr val="000000"/>
              </a:buClr>
              <a:buSzPts val="2997"/>
              <a:buFont typeface="Arial"/>
              <a:buChar char="•"/>
            </a:pPr>
            <a:r>
              <a:rPr b="0" i="0" lang="en-US" sz="2997" u="none" cap="none" strike="noStrike">
                <a:solidFill>
                  <a:srgbClr val="000000"/>
                </a:solidFill>
                <a:latin typeface="Arimo"/>
                <a:ea typeface="Arimo"/>
                <a:cs typeface="Arimo"/>
                <a:sym typeface="Arimo"/>
              </a:rPr>
              <a:t>ak &amp; a-k are related by a-k = ak*(complex conjugates) whenever x(t) is real-valued.</a:t>
            </a:r>
            <a:endParaRPr/>
          </a:p>
          <a:p>
            <a:pPr indent="-323562" lvl="1" marL="647124" marR="0" rtl="0" algn="l">
              <a:lnSpc>
                <a:spcPct val="140006"/>
              </a:lnSpc>
              <a:spcBef>
                <a:spcPts val="0"/>
              </a:spcBef>
              <a:spcAft>
                <a:spcPts val="0"/>
              </a:spcAft>
              <a:buClr>
                <a:srgbClr val="000000"/>
              </a:buClr>
              <a:buSzPts val="2997"/>
              <a:buFont typeface="Arial"/>
              <a:buChar char="•"/>
            </a:pPr>
            <a:r>
              <a:rPr b="0" i="1" lang="en-US" sz="2997" u="none" cap="none" strike="noStrike">
                <a:solidFill>
                  <a:srgbClr val="000000"/>
                </a:solidFill>
                <a:latin typeface="Arimo"/>
                <a:ea typeface="Arimo"/>
                <a:cs typeface="Arimo"/>
                <a:sym typeface="Arimo"/>
              </a:rPr>
              <a:t>|ak| </a:t>
            </a:r>
            <a:r>
              <a:rPr b="0" i="0" lang="en-US" sz="2997" u="none" cap="none" strike="noStrike">
                <a:solidFill>
                  <a:srgbClr val="000000"/>
                </a:solidFill>
                <a:latin typeface="Arimo"/>
                <a:ea typeface="Arimo"/>
                <a:cs typeface="Arimo"/>
                <a:sym typeface="Arimo"/>
              </a:rPr>
              <a:t>gives the magnitude spectrum; ∠ak gives the phase spectrum — together, the line spectrum of x(t).</a:t>
            </a:r>
            <a:endParaRPr/>
          </a:p>
          <a:p>
            <a:pPr indent="0" lvl="0" marL="0" marR="0" rtl="0" algn="just">
              <a:lnSpc>
                <a:spcPct val="233433"/>
              </a:lnSpc>
              <a:spcBef>
                <a:spcPts val="0"/>
              </a:spcBef>
              <a:spcAft>
                <a:spcPts val="0"/>
              </a:spcAft>
              <a:buNone/>
            </a:pPr>
            <a:r>
              <a:t/>
            </a:r>
            <a:endParaRPr b="0" i="0" sz="2997" u="none" cap="none" strike="noStrike">
              <a:solidFill>
                <a:srgbClr val="000000"/>
              </a:solidFill>
              <a:latin typeface="Arimo"/>
              <a:ea typeface="Arimo"/>
              <a:cs typeface="Arimo"/>
              <a:sym typeface="Arimo"/>
            </a:endParaRPr>
          </a:p>
        </p:txBody>
      </p:sp>
      <p:sp>
        <p:nvSpPr>
          <p:cNvPr id="145" name="Google Shape;145;p6"/>
          <p:cNvSpPr txBox="1"/>
          <p:nvPr/>
        </p:nvSpPr>
        <p:spPr>
          <a:xfrm>
            <a:off x="96529" y="2056976"/>
            <a:ext cx="18191471" cy="2463868"/>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None/>
            </a:pPr>
            <a:r>
              <a:rPr b="0" i="0" lang="en-US" sz="3497" u="none" cap="none" strike="noStrike">
                <a:solidFill>
                  <a:srgbClr val="000000"/>
                </a:solidFill>
                <a:latin typeface="Alice"/>
                <a:ea typeface="Alice"/>
                <a:cs typeface="Alice"/>
                <a:sym typeface="Alice"/>
              </a:rPr>
              <a:t>We have written equivalent expressions for the Fourier series in terms of the fundamnetal frequency ω0 and the fundamental period T. Equation (1) is referred to as the synthesis equation and eq. (2) as the analysis equation. The set of coefficients {ak} are often called the Fourier series coefficients or the spectral coefficients of x(t).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7"/>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151" name="Google Shape;151;p7"/>
          <p:cNvSpPr/>
          <p:nvPr/>
        </p:nvSpPr>
        <p:spPr>
          <a:xfrm>
            <a:off x="2020504" y="6950495"/>
            <a:ext cx="5523300" cy="3106856"/>
          </a:xfrm>
          <a:custGeom>
            <a:rect b="b" l="l" r="r" t="t"/>
            <a:pathLst>
              <a:path extrusionOk="0" h="3106856" w="5523300">
                <a:moveTo>
                  <a:pt x="0" y="0"/>
                </a:moveTo>
                <a:lnTo>
                  <a:pt x="5523300" y="0"/>
                </a:lnTo>
                <a:lnTo>
                  <a:pt x="5523300" y="3106857"/>
                </a:lnTo>
                <a:lnTo>
                  <a:pt x="0" y="3106857"/>
                </a:lnTo>
                <a:lnTo>
                  <a:pt x="0" y="0"/>
                </a:lnTo>
                <a:close/>
              </a:path>
            </a:pathLst>
          </a:custGeom>
          <a:blipFill rotWithShape="1">
            <a:blip r:embed="rId4">
              <a:alphaModFix/>
            </a:blip>
            <a:stretch>
              <a:fillRect b="-38889" l="-30883" r="-30883" t="-38889"/>
            </a:stretch>
          </a:blipFill>
          <a:ln cap="sq" cmpd="sng" w="38100">
            <a:solidFill>
              <a:srgbClr val="000000"/>
            </a:solidFill>
            <a:prstDash val="solid"/>
            <a:miter lim="8000"/>
            <a:headEnd len="sm" w="sm" type="none"/>
            <a:tailEnd len="sm" w="sm" type="none"/>
          </a:ln>
        </p:spPr>
      </p:sp>
      <p:sp>
        <p:nvSpPr>
          <p:cNvPr id="152" name="Google Shape;152;p7"/>
          <p:cNvSpPr txBox="1"/>
          <p:nvPr/>
        </p:nvSpPr>
        <p:spPr>
          <a:xfrm>
            <a:off x="3452663" y="165031"/>
            <a:ext cx="11575733" cy="863669"/>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997" u="sng" cap="none" strike="noStrike">
                <a:solidFill>
                  <a:srgbClr val="000000"/>
                </a:solidFill>
                <a:latin typeface="Alice"/>
                <a:ea typeface="Alice"/>
                <a:cs typeface="Alice"/>
                <a:sym typeface="Alice"/>
              </a:rPr>
              <a:t>Trigonometric Form of the Fourier Series</a:t>
            </a:r>
            <a:endParaRPr/>
          </a:p>
        </p:txBody>
      </p:sp>
      <p:sp>
        <p:nvSpPr>
          <p:cNvPr id="153" name="Google Shape;153;p7"/>
          <p:cNvSpPr txBox="1"/>
          <p:nvPr/>
        </p:nvSpPr>
        <p:spPr>
          <a:xfrm>
            <a:off x="-273363" y="1375325"/>
            <a:ext cx="19027800" cy="4614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2997" u="none" cap="none" strike="noStrike">
                <a:solidFill>
                  <a:srgbClr val="000000"/>
                </a:solidFill>
                <a:latin typeface="Alice"/>
                <a:ea typeface="Alice"/>
                <a:cs typeface="Alice"/>
                <a:sym typeface="Alice"/>
              </a:rPr>
              <a:t>For a real periodic signal x(t), the complex exponential form can be rewritten using sines and cosines:</a:t>
            </a:r>
            <a:endParaRPr/>
          </a:p>
        </p:txBody>
      </p:sp>
      <p:sp>
        <p:nvSpPr>
          <p:cNvPr id="154" name="Google Shape;154;p7"/>
          <p:cNvSpPr txBox="1"/>
          <p:nvPr/>
        </p:nvSpPr>
        <p:spPr>
          <a:xfrm>
            <a:off x="340850" y="6027775"/>
            <a:ext cx="9588000" cy="4614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2997" u="none" cap="none" strike="noStrike">
                <a:solidFill>
                  <a:srgbClr val="000000"/>
                </a:solidFill>
                <a:latin typeface="Alice"/>
                <a:ea typeface="Alice"/>
                <a:cs typeface="Alice"/>
                <a:sym typeface="Alice"/>
              </a:rPr>
              <a:t>Special Cases (Real &amp; Even / Real &amp; Odd Signals)</a:t>
            </a:r>
            <a:endParaRPr/>
          </a:p>
        </p:txBody>
      </p:sp>
      <p:sp>
        <p:nvSpPr>
          <p:cNvPr id="155" name="Google Shape;155;p7"/>
          <p:cNvSpPr txBox="1"/>
          <p:nvPr/>
        </p:nvSpPr>
        <p:spPr>
          <a:xfrm>
            <a:off x="2913765" y="7312445"/>
            <a:ext cx="3736777" cy="547438"/>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1" lang="en-US" sz="3197" u="sng" cap="none" strike="noStrike">
                <a:solidFill>
                  <a:srgbClr val="000000"/>
                </a:solidFill>
                <a:latin typeface="Alice"/>
                <a:ea typeface="Alice"/>
                <a:cs typeface="Alice"/>
                <a:sym typeface="Alice"/>
              </a:rPr>
              <a:t>If x(t) is real &amp; EVEN</a:t>
            </a:r>
            <a:endParaRPr/>
          </a:p>
        </p:txBody>
      </p:sp>
      <p:sp>
        <p:nvSpPr>
          <p:cNvPr id="156" name="Google Shape;156;p7"/>
          <p:cNvSpPr/>
          <p:nvPr/>
        </p:nvSpPr>
        <p:spPr>
          <a:xfrm>
            <a:off x="8950501" y="6618322"/>
            <a:ext cx="6264262" cy="3523647"/>
          </a:xfrm>
          <a:custGeom>
            <a:rect b="b" l="l" r="r" t="t"/>
            <a:pathLst>
              <a:path extrusionOk="0" h="3523647" w="6264262">
                <a:moveTo>
                  <a:pt x="0" y="0"/>
                </a:moveTo>
                <a:lnTo>
                  <a:pt x="6264261" y="0"/>
                </a:lnTo>
                <a:lnTo>
                  <a:pt x="6264261" y="3523647"/>
                </a:lnTo>
                <a:lnTo>
                  <a:pt x="0" y="3523647"/>
                </a:lnTo>
                <a:lnTo>
                  <a:pt x="0" y="0"/>
                </a:lnTo>
                <a:close/>
              </a:path>
            </a:pathLst>
          </a:custGeom>
          <a:blipFill rotWithShape="1">
            <a:blip r:embed="rId4">
              <a:alphaModFix/>
            </a:blip>
            <a:stretch>
              <a:fillRect b="-38889" l="-30883" r="-30883" t="-38889"/>
            </a:stretch>
          </a:blipFill>
          <a:ln cap="sq" cmpd="sng" w="38100">
            <a:solidFill>
              <a:srgbClr val="000000"/>
            </a:solidFill>
            <a:prstDash val="solid"/>
            <a:miter lim="8000"/>
            <a:headEnd len="sm" w="sm" type="none"/>
            <a:tailEnd len="sm" w="sm" type="none"/>
          </a:ln>
        </p:spPr>
      </p:sp>
      <p:sp>
        <p:nvSpPr>
          <p:cNvPr id="157" name="Google Shape;157;p7"/>
          <p:cNvSpPr txBox="1"/>
          <p:nvPr/>
        </p:nvSpPr>
        <p:spPr>
          <a:xfrm>
            <a:off x="10293717" y="7312445"/>
            <a:ext cx="3577828" cy="547370"/>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0" i="1" lang="en-US" sz="3199" u="sng" cap="none" strike="noStrike">
                <a:solidFill>
                  <a:srgbClr val="000000"/>
                </a:solidFill>
                <a:latin typeface="Alice"/>
                <a:ea typeface="Alice"/>
                <a:cs typeface="Alice"/>
                <a:sym typeface="Alice"/>
              </a:rPr>
              <a:t>If x(t) is real &amp; ODD</a:t>
            </a:r>
            <a:endParaRPr/>
          </a:p>
        </p:txBody>
      </p:sp>
      <p:sp>
        <p:nvSpPr>
          <p:cNvPr id="158" name="Google Shape;158;p7"/>
          <p:cNvSpPr txBox="1"/>
          <p:nvPr/>
        </p:nvSpPr>
        <p:spPr>
          <a:xfrm>
            <a:off x="2320775" y="8181527"/>
            <a:ext cx="4922758" cy="490855"/>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i="0" lang="en-US" sz="2799" u="none" cap="none" strike="noStrike">
                <a:solidFill>
                  <a:srgbClr val="000000"/>
                </a:solidFill>
                <a:latin typeface="Alice"/>
                <a:ea typeface="Alice"/>
                <a:cs typeface="Alice"/>
                <a:sym typeface="Alice"/>
              </a:rPr>
              <a:t>x(t) = a₀ + ∑k=1∞ 2ak cos(kω0t)</a:t>
            </a:r>
            <a:endParaRPr/>
          </a:p>
        </p:txBody>
      </p:sp>
      <p:sp>
        <p:nvSpPr>
          <p:cNvPr id="159" name="Google Shape;159;p7"/>
          <p:cNvSpPr txBox="1"/>
          <p:nvPr/>
        </p:nvSpPr>
        <p:spPr>
          <a:xfrm>
            <a:off x="9550511" y="8225158"/>
            <a:ext cx="5185767" cy="490855"/>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i="0" lang="en-US" sz="2799" u="none" cap="none" strike="noStrike">
                <a:solidFill>
                  <a:srgbClr val="000000"/>
                </a:solidFill>
                <a:latin typeface="Alice"/>
                <a:ea typeface="Alice"/>
                <a:cs typeface="Alice"/>
                <a:sym typeface="Alice"/>
              </a:rPr>
              <a:t>x(t) = ∑k=1∞ 2j·Im{ak} sin(kω0t)</a:t>
            </a:r>
            <a:endParaRPr/>
          </a:p>
        </p:txBody>
      </p:sp>
      <p:sp>
        <p:nvSpPr>
          <p:cNvPr id="160" name="Google Shape;160;p7"/>
          <p:cNvSpPr txBox="1"/>
          <p:nvPr/>
        </p:nvSpPr>
        <p:spPr>
          <a:xfrm>
            <a:off x="2732314" y="8909050"/>
            <a:ext cx="4099679" cy="3492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1" lang="en-US" sz="2000" u="none" cap="none" strike="noStrike">
                <a:solidFill>
                  <a:srgbClr val="000000"/>
                </a:solidFill>
                <a:latin typeface="Alice"/>
                <a:ea typeface="Alice"/>
                <a:cs typeface="Alice"/>
                <a:sym typeface="Alice"/>
              </a:rPr>
              <a:t>Only cosine terms appear (ak is real)</a:t>
            </a:r>
            <a:endParaRPr/>
          </a:p>
        </p:txBody>
      </p:sp>
      <p:sp>
        <p:nvSpPr>
          <p:cNvPr id="161" name="Google Shape;161;p7"/>
          <p:cNvSpPr txBox="1"/>
          <p:nvPr/>
        </p:nvSpPr>
        <p:spPr>
          <a:xfrm>
            <a:off x="8950501" y="8732838"/>
            <a:ext cx="6264262" cy="3492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1" lang="en-US" sz="2000" u="none" cap="none" strike="noStrike">
                <a:solidFill>
                  <a:srgbClr val="000000"/>
                </a:solidFill>
                <a:latin typeface="Alice"/>
                <a:ea typeface="Alice"/>
                <a:cs typeface="Alice"/>
                <a:sym typeface="Alice"/>
              </a:rPr>
              <a:t>Only sine terms appear (ak is purely imaginary); a₀ = 0</a:t>
            </a:r>
            <a:endParaRPr/>
          </a:p>
        </p:txBody>
      </p:sp>
      <p:sp>
        <p:nvSpPr>
          <p:cNvPr id="162" name="Google Shape;162;p7"/>
          <p:cNvSpPr/>
          <p:nvPr/>
        </p:nvSpPr>
        <p:spPr>
          <a:xfrm>
            <a:off x="1560466" y="2183347"/>
            <a:ext cx="6529734" cy="3672975"/>
          </a:xfrm>
          <a:custGeom>
            <a:rect b="b" l="l" r="r" t="t"/>
            <a:pathLst>
              <a:path extrusionOk="0" h="3672975" w="6529734">
                <a:moveTo>
                  <a:pt x="0" y="0"/>
                </a:moveTo>
                <a:lnTo>
                  <a:pt x="6529733" y="0"/>
                </a:lnTo>
                <a:lnTo>
                  <a:pt x="6529733" y="3672975"/>
                </a:lnTo>
                <a:lnTo>
                  <a:pt x="0" y="3672975"/>
                </a:lnTo>
                <a:lnTo>
                  <a:pt x="0" y="0"/>
                </a:lnTo>
                <a:close/>
              </a:path>
            </a:pathLst>
          </a:custGeom>
          <a:blipFill rotWithShape="1">
            <a:blip r:embed="rId4">
              <a:alphaModFix/>
            </a:blip>
            <a:stretch>
              <a:fillRect b="-38889" l="-30883" r="-30883" t="-38889"/>
            </a:stretch>
          </a:blipFill>
          <a:ln cap="sq" cmpd="sng" w="38100">
            <a:solidFill>
              <a:srgbClr val="000000"/>
            </a:solidFill>
            <a:prstDash val="solid"/>
            <a:miter lim="8000"/>
            <a:headEnd len="sm" w="sm" type="none"/>
            <a:tailEnd len="sm" w="sm" type="none"/>
          </a:ln>
        </p:spPr>
      </p:sp>
      <p:sp>
        <p:nvSpPr>
          <p:cNvPr id="163" name="Google Shape;163;p7"/>
          <p:cNvSpPr/>
          <p:nvPr/>
        </p:nvSpPr>
        <p:spPr>
          <a:xfrm>
            <a:off x="8878528" y="2135722"/>
            <a:ext cx="6529734" cy="3672975"/>
          </a:xfrm>
          <a:custGeom>
            <a:rect b="b" l="l" r="r" t="t"/>
            <a:pathLst>
              <a:path extrusionOk="0" h="3672975" w="6529734">
                <a:moveTo>
                  <a:pt x="0" y="0"/>
                </a:moveTo>
                <a:lnTo>
                  <a:pt x="6529734" y="0"/>
                </a:lnTo>
                <a:lnTo>
                  <a:pt x="6529734" y="3672975"/>
                </a:lnTo>
                <a:lnTo>
                  <a:pt x="0" y="3672975"/>
                </a:lnTo>
                <a:lnTo>
                  <a:pt x="0" y="0"/>
                </a:lnTo>
                <a:close/>
              </a:path>
            </a:pathLst>
          </a:custGeom>
          <a:blipFill rotWithShape="1">
            <a:blip r:embed="rId4">
              <a:alphaModFix/>
            </a:blip>
            <a:stretch>
              <a:fillRect b="-38889" l="-30883" r="-30883" t="-38889"/>
            </a:stretch>
          </a:blipFill>
          <a:ln cap="sq" cmpd="sng" w="38100">
            <a:solidFill>
              <a:srgbClr val="000000"/>
            </a:solidFill>
            <a:prstDash val="solid"/>
            <a:miter lim="8000"/>
            <a:headEnd len="sm" w="sm" type="none"/>
            <a:tailEnd len="sm" w="sm" type="none"/>
          </a:ln>
        </p:spPr>
      </p:sp>
      <p:sp>
        <p:nvSpPr>
          <p:cNvPr id="164" name="Google Shape;164;p7"/>
          <p:cNvSpPr txBox="1"/>
          <p:nvPr/>
        </p:nvSpPr>
        <p:spPr>
          <a:xfrm>
            <a:off x="1560466" y="3677495"/>
            <a:ext cx="6529734" cy="986155"/>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i="0" lang="en-US" sz="2799" u="none" cap="none" strike="noStrike">
                <a:solidFill>
                  <a:srgbClr val="000000"/>
                </a:solidFill>
                <a:latin typeface="Alice"/>
                <a:ea typeface="Alice"/>
                <a:cs typeface="Alice"/>
                <a:sym typeface="Alice"/>
              </a:rPr>
              <a:t>x(t) =</a:t>
            </a:r>
            <a:endParaRPr/>
          </a:p>
          <a:p>
            <a:pPr indent="0" lvl="0" marL="0" marR="0" rtl="0" algn="l">
              <a:lnSpc>
                <a:spcPct val="140014"/>
              </a:lnSpc>
              <a:spcBef>
                <a:spcPts val="0"/>
              </a:spcBef>
              <a:spcAft>
                <a:spcPts val="0"/>
              </a:spcAft>
              <a:buNone/>
            </a:pPr>
            <a:r>
              <a:rPr b="1" i="0" lang="en-US" sz="2799" u="none" cap="none" strike="noStrike">
                <a:solidFill>
                  <a:srgbClr val="000000"/>
                </a:solidFill>
                <a:latin typeface="Alice"/>
                <a:ea typeface="Alice"/>
                <a:cs typeface="Alice"/>
                <a:sym typeface="Alice"/>
              </a:rPr>
              <a:t> a₀ + ∑k=1∞ [Bk cos(kω0t) + Cksin(kω0t)]</a:t>
            </a:r>
            <a:endParaRPr/>
          </a:p>
        </p:txBody>
      </p:sp>
      <p:sp>
        <p:nvSpPr>
          <p:cNvPr id="165" name="Google Shape;165;p7"/>
          <p:cNvSpPr txBox="1"/>
          <p:nvPr/>
        </p:nvSpPr>
        <p:spPr>
          <a:xfrm>
            <a:off x="9240529" y="3357254"/>
            <a:ext cx="6529734" cy="1535498"/>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2922" u="none" cap="none" strike="noStrike">
                <a:solidFill>
                  <a:srgbClr val="000000"/>
                </a:solidFill>
                <a:latin typeface="Alice"/>
                <a:ea typeface="Alice"/>
                <a:cs typeface="Alice"/>
                <a:sym typeface="Alice"/>
              </a:rPr>
              <a:t>x(t) =</a:t>
            </a:r>
            <a:endParaRPr/>
          </a:p>
          <a:p>
            <a:pPr indent="0" lvl="0" marL="0" marR="0" rtl="0" algn="l">
              <a:lnSpc>
                <a:spcPct val="140006"/>
              </a:lnSpc>
              <a:spcBef>
                <a:spcPts val="0"/>
              </a:spcBef>
              <a:spcAft>
                <a:spcPts val="0"/>
              </a:spcAft>
              <a:buNone/>
            </a:pPr>
            <a:r>
              <a:rPr b="1" i="0" lang="en-US" sz="2922" u="none" cap="none" strike="noStrike">
                <a:solidFill>
                  <a:srgbClr val="000000"/>
                </a:solidFill>
                <a:latin typeface="Alice"/>
                <a:ea typeface="Alice"/>
                <a:cs typeface="Alice"/>
                <a:sym typeface="Alice"/>
              </a:rPr>
              <a:t> a₀ + ∑k=1∞ 2|ak|cos(kω0t+ ∠ak) </a:t>
            </a:r>
            <a:endParaRPr/>
          </a:p>
          <a:p>
            <a:pPr indent="0" lvl="0" marL="0" marR="0" rtl="0" algn="ctr">
              <a:lnSpc>
                <a:spcPct val="140006"/>
              </a:lnSpc>
              <a:spcBef>
                <a:spcPts val="0"/>
              </a:spcBef>
              <a:spcAft>
                <a:spcPts val="0"/>
              </a:spcAft>
              <a:buNone/>
            </a:pPr>
            <a:r>
              <a:t/>
            </a:r>
            <a:endParaRPr b="1" i="0" sz="2922" u="none" cap="none" strike="noStrike">
              <a:solidFill>
                <a:srgbClr val="000000"/>
              </a:solidFill>
              <a:latin typeface="Alice"/>
              <a:ea typeface="Alice"/>
              <a:cs typeface="Alice"/>
              <a:sym typeface="Alice"/>
            </a:endParaRPr>
          </a:p>
        </p:txBody>
      </p:sp>
      <p:sp>
        <p:nvSpPr>
          <p:cNvPr id="166" name="Google Shape;166;p7"/>
          <p:cNvSpPr txBox="1"/>
          <p:nvPr/>
        </p:nvSpPr>
        <p:spPr>
          <a:xfrm>
            <a:off x="8878528" y="2589262"/>
            <a:ext cx="6529734" cy="54737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1" lang="en-US" sz="3200" u="sng" cap="none" strike="noStrike">
                <a:solidFill>
                  <a:srgbClr val="000000"/>
                </a:solidFill>
                <a:latin typeface="Alice"/>
                <a:ea typeface="Alice"/>
                <a:cs typeface="Alice"/>
                <a:sym typeface="Alice"/>
              </a:rPr>
              <a:t>Amplitude phase form :</a:t>
            </a:r>
            <a:endParaRPr/>
          </a:p>
        </p:txBody>
      </p:sp>
      <p:sp>
        <p:nvSpPr>
          <p:cNvPr id="167" name="Google Shape;167;p7"/>
          <p:cNvSpPr txBox="1"/>
          <p:nvPr/>
        </p:nvSpPr>
        <p:spPr>
          <a:xfrm>
            <a:off x="1560466" y="2589262"/>
            <a:ext cx="6529734" cy="54737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1" lang="en-US" sz="3200" u="sng" cap="none" strike="noStrike">
                <a:solidFill>
                  <a:srgbClr val="000000"/>
                </a:solidFill>
                <a:latin typeface="Alice"/>
                <a:ea typeface="Alice"/>
                <a:cs typeface="Alice"/>
                <a:sym typeface="Alice"/>
              </a:rPr>
              <a:t>Combined Sine-Cosine Form :</a:t>
            </a:r>
            <a:endParaRPr/>
          </a:p>
        </p:txBody>
      </p:sp>
      <p:sp>
        <p:nvSpPr>
          <p:cNvPr id="168" name="Google Shape;168;p7"/>
          <p:cNvSpPr txBox="1"/>
          <p:nvPr/>
        </p:nvSpPr>
        <p:spPr>
          <a:xfrm>
            <a:off x="1560466" y="4845126"/>
            <a:ext cx="6529734" cy="3492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1" lang="en-US" sz="2000" u="none" cap="none" strike="noStrike">
                <a:solidFill>
                  <a:srgbClr val="000000"/>
                </a:solidFill>
                <a:latin typeface="Alice"/>
                <a:ea typeface="Alice"/>
                <a:cs typeface="Alice"/>
                <a:sym typeface="Alice"/>
              </a:rPr>
              <a:t>where Bk = ak + a-k = 2Re{ak},  Ck = j(ak − a-k) = −2Im{ak} </a:t>
            </a:r>
            <a:endParaRPr/>
          </a:p>
        </p:txBody>
      </p:sp>
      <p:sp>
        <p:nvSpPr>
          <p:cNvPr id="169" name="Google Shape;169;p7"/>
          <p:cNvSpPr txBox="1"/>
          <p:nvPr/>
        </p:nvSpPr>
        <p:spPr>
          <a:xfrm>
            <a:off x="8817765" y="4404996"/>
            <a:ext cx="6529734" cy="1054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1" lang="en-US" sz="2000" u="none" cap="none" strike="noStrike">
                <a:solidFill>
                  <a:srgbClr val="000000"/>
                </a:solidFill>
                <a:latin typeface="Alice"/>
                <a:ea typeface="Alice"/>
                <a:cs typeface="Alice"/>
                <a:sym typeface="Alice"/>
              </a:rPr>
              <a:t>Most useful form for interpreting amplitude and phase spectra of a real signal</a:t>
            </a:r>
            <a:endParaRPr/>
          </a:p>
          <a:p>
            <a:pPr indent="0" lvl="0" marL="0" marR="0" rtl="0" algn="ctr">
              <a:lnSpc>
                <a:spcPct val="140000"/>
              </a:lnSpc>
              <a:spcBef>
                <a:spcPts val="0"/>
              </a:spcBef>
              <a:spcAft>
                <a:spcPts val="0"/>
              </a:spcAft>
              <a:buNone/>
            </a:pPr>
            <a:r>
              <a:t/>
            </a:r>
            <a:endParaRPr b="0" i="1" sz="2000" u="none" cap="none" strike="noStrike">
              <a:solidFill>
                <a:srgbClr val="000000"/>
              </a:solidFill>
              <a:latin typeface="Alice"/>
              <a:ea typeface="Alice"/>
              <a:cs typeface="Alice"/>
              <a:sym typeface="Alic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8"/>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175" name="Google Shape;175;p8"/>
          <p:cNvSpPr txBox="1"/>
          <p:nvPr/>
        </p:nvSpPr>
        <p:spPr>
          <a:xfrm>
            <a:off x="4483923" y="165031"/>
            <a:ext cx="9513213" cy="863669"/>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997" u="sng" cap="none" strike="noStrike">
                <a:solidFill>
                  <a:srgbClr val="000000"/>
                </a:solidFill>
                <a:latin typeface="Alice"/>
                <a:ea typeface="Alice"/>
                <a:cs typeface="Alice"/>
                <a:sym typeface="Alice"/>
              </a:rPr>
              <a:t>Convergence of the Fourier Series</a:t>
            </a:r>
            <a:endParaRPr/>
          </a:p>
        </p:txBody>
      </p:sp>
      <p:sp>
        <p:nvSpPr>
          <p:cNvPr id="176" name="Google Shape;176;p8"/>
          <p:cNvSpPr txBox="1"/>
          <p:nvPr/>
        </p:nvSpPr>
        <p:spPr>
          <a:xfrm>
            <a:off x="0" y="1466548"/>
            <a:ext cx="18288000" cy="10572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000000"/>
                </a:solidFill>
                <a:latin typeface="Alice"/>
                <a:ea typeface="Alice"/>
                <a:cs typeface="Alice"/>
                <a:sym typeface="Alice"/>
              </a:rPr>
              <a:t>Not every periodic signal has a Fourier series that converges to x(t) exactly. Oppenheim presents two classes of sufficient conditions:</a:t>
            </a:r>
            <a:endParaRPr/>
          </a:p>
        </p:txBody>
      </p:sp>
      <p:sp>
        <p:nvSpPr>
          <p:cNvPr id="177" name="Google Shape;177;p8"/>
          <p:cNvSpPr txBox="1"/>
          <p:nvPr/>
        </p:nvSpPr>
        <p:spPr>
          <a:xfrm>
            <a:off x="241299" y="2812100"/>
            <a:ext cx="7630200" cy="4614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2997" u="none" cap="none" strike="noStrike">
                <a:solidFill>
                  <a:srgbClr val="000000"/>
                </a:solidFill>
                <a:latin typeface="Alice"/>
                <a:ea typeface="Alice"/>
                <a:cs typeface="Alice"/>
                <a:sym typeface="Alice"/>
              </a:rPr>
              <a:t>CONDITION A — FINITE ENERGY</a:t>
            </a:r>
            <a:endParaRPr/>
          </a:p>
        </p:txBody>
      </p:sp>
      <p:sp>
        <p:nvSpPr>
          <p:cNvPr id="178" name="Google Shape;178;p8"/>
          <p:cNvSpPr txBox="1"/>
          <p:nvPr/>
        </p:nvSpPr>
        <p:spPr>
          <a:xfrm>
            <a:off x="5924782" y="4830746"/>
            <a:ext cx="4892159" cy="863669"/>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997" u="none" cap="none" strike="noStrike">
                <a:solidFill>
                  <a:srgbClr val="000000"/>
                </a:solidFill>
                <a:latin typeface="Alice"/>
                <a:ea typeface="Alice"/>
                <a:cs typeface="Alice"/>
                <a:sym typeface="Alice"/>
              </a:rPr>
              <a:t>∫T |x(t)|² dt &lt; ∞</a:t>
            </a:r>
            <a:endParaRPr/>
          </a:p>
        </p:txBody>
      </p:sp>
      <p:sp>
        <p:nvSpPr>
          <p:cNvPr id="179" name="Google Shape;179;p8"/>
          <p:cNvSpPr txBox="1"/>
          <p:nvPr/>
        </p:nvSpPr>
        <p:spPr>
          <a:xfrm>
            <a:off x="431387" y="3579254"/>
            <a:ext cx="17662629" cy="10287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0" i="0" lang="en-US" sz="2999" u="none" cap="none" strike="noStrike">
                <a:solidFill>
                  <a:srgbClr val="000000"/>
                </a:solidFill>
                <a:latin typeface="Alice"/>
                <a:ea typeface="Alice"/>
                <a:cs typeface="Alice"/>
                <a:sym typeface="Alice"/>
              </a:rPr>
              <a:t>One class of periodic signals that are representable through the Fourier series is those signals which have finite energy over a single period, i.e., signals for which </a:t>
            </a:r>
            <a:endParaRPr/>
          </a:p>
        </p:txBody>
      </p:sp>
      <p:sp>
        <p:nvSpPr>
          <p:cNvPr id="180" name="Google Shape;180;p8"/>
          <p:cNvSpPr txBox="1"/>
          <p:nvPr/>
        </p:nvSpPr>
        <p:spPr>
          <a:xfrm>
            <a:off x="186416" y="6358771"/>
            <a:ext cx="7355681" cy="504825"/>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1" i="0" lang="en-US" sz="2999" u="none" cap="none" strike="noStrike">
                <a:solidFill>
                  <a:srgbClr val="000000"/>
                </a:solidFill>
                <a:latin typeface="Alice"/>
                <a:ea typeface="Alice"/>
                <a:cs typeface="Alice"/>
                <a:sym typeface="Alice"/>
              </a:rPr>
              <a:t>CONDITION B — DIRICHLET CONDITIONS</a:t>
            </a:r>
            <a:endParaRPr/>
          </a:p>
        </p:txBody>
      </p:sp>
      <p:sp>
        <p:nvSpPr>
          <p:cNvPr id="181" name="Google Shape;181;p8"/>
          <p:cNvSpPr txBox="1"/>
          <p:nvPr/>
        </p:nvSpPr>
        <p:spPr>
          <a:xfrm>
            <a:off x="431387" y="7287776"/>
            <a:ext cx="17426282" cy="1552575"/>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0" i="0" lang="en-US" sz="2999" u="none" cap="none" strike="noStrike">
                <a:solidFill>
                  <a:srgbClr val="000000"/>
                </a:solidFill>
                <a:latin typeface="Alice"/>
                <a:ea typeface="Alice"/>
                <a:cs typeface="Alice"/>
                <a:sym typeface="Alice"/>
              </a:rPr>
              <a:t>Moreover, an alternative set of conditions, developed by P. L. Dirichlet and also satisfied by essentially all of the signals with which we will be concerned, guarantees that x(t) equals its Fourier series representation, except at isolated values oft for which x(t) is discontinuous.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9"/>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187" name="Google Shape;187;p9"/>
          <p:cNvSpPr txBox="1"/>
          <p:nvPr/>
        </p:nvSpPr>
        <p:spPr>
          <a:xfrm>
            <a:off x="4483923" y="165031"/>
            <a:ext cx="9513213" cy="863669"/>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997" u="sng" cap="none" strike="noStrike">
                <a:solidFill>
                  <a:srgbClr val="000000"/>
                </a:solidFill>
                <a:latin typeface="Alice"/>
                <a:ea typeface="Alice"/>
                <a:cs typeface="Alice"/>
                <a:sym typeface="Alice"/>
              </a:rPr>
              <a:t>Convergence of the Fourier Series</a:t>
            </a:r>
            <a:endParaRPr/>
          </a:p>
        </p:txBody>
      </p:sp>
      <p:sp>
        <p:nvSpPr>
          <p:cNvPr id="188" name="Google Shape;188;p9"/>
          <p:cNvSpPr txBox="1"/>
          <p:nvPr/>
        </p:nvSpPr>
        <p:spPr>
          <a:xfrm>
            <a:off x="0" y="2111209"/>
            <a:ext cx="18288000" cy="4835526"/>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US" sz="3499" u="none" cap="none" strike="noStrike">
                <a:solidFill>
                  <a:srgbClr val="000000"/>
                </a:solidFill>
                <a:latin typeface="Alice"/>
                <a:ea typeface="Alice"/>
                <a:cs typeface="Alice"/>
                <a:sym typeface="Alice"/>
              </a:rPr>
              <a:t>The Dirichlet conditions are as follows: </a:t>
            </a:r>
            <a:endParaRPr/>
          </a:p>
          <a:p>
            <a:pPr indent="0" lvl="0" marL="0" marR="0" rtl="0" algn="l">
              <a:lnSpc>
                <a:spcPct val="140011"/>
              </a:lnSpc>
              <a:spcBef>
                <a:spcPts val="0"/>
              </a:spcBef>
              <a:spcAft>
                <a:spcPts val="0"/>
              </a:spcAft>
              <a:buNone/>
            </a:pPr>
            <a:r>
              <a:rPr b="1" i="0" lang="en-US" sz="3499" u="none" cap="none" strike="noStrike">
                <a:solidFill>
                  <a:srgbClr val="000000"/>
                </a:solidFill>
                <a:latin typeface="Alice"/>
                <a:ea typeface="Alice"/>
                <a:cs typeface="Alice"/>
                <a:sym typeface="Alice"/>
              </a:rPr>
              <a:t>Condition 1. </a:t>
            </a:r>
            <a:r>
              <a:rPr b="0" i="0" lang="en-US" sz="3499" u="none" cap="none" strike="noStrike">
                <a:solidFill>
                  <a:srgbClr val="000000"/>
                </a:solidFill>
                <a:latin typeface="Alice"/>
                <a:ea typeface="Alice"/>
                <a:cs typeface="Alice"/>
                <a:sym typeface="Alice"/>
              </a:rPr>
              <a:t>Over any period, x(t) must be absolutely integrable; that is, ∫t lx(t)l dt &lt; ∞ .</a:t>
            </a:r>
            <a:endParaRPr/>
          </a:p>
          <a:p>
            <a:pPr indent="0" lvl="0" marL="0" marR="0" rtl="0" algn="l">
              <a:lnSpc>
                <a:spcPct val="140011"/>
              </a:lnSpc>
              <a:spcBef>
                <a:spcPts val="0"/>
              </a:spcBef>
              <a:spcAft>
                <a:spcPts val="0"/>
              </a:spcAft>
              <a:buNone/>
            </a:pPr>
            <a:r>
              <a:t/>
            </a:r>
            <a:endParaRPr b="0" i="0" sz="3499" u="none" cap="none" strike="noStrike">
              <a:solidFill>
                <a:srgbClr val="000000"/>
              </a:solidFill>
              <a:latin typeface="Alice"/>
              <a:ea typeface="Alice"/>
              <a:cs typeface="Alice"/>
              <a:sym typeface="Alice"/>
            </a:endParaRPr>
          </a:p>
          <a:p>
            <a:pPr indent="0" lvl="0" marL="0" marR="0" rtl="0" algn="l">
              <a:lnSpc>
                <a:spcPct val="140011"/>
              </a:lnSpc>
              <a:spcBef>
                <a:spcPts val="0"/>
              </a:spcBef>
              <a:spcAft>
                <a:spcPts val="0"/>
              </a:spcAft>
              <a:buNone/>
            </a:pPr>
            <a:r>
              <a:rPr b="1" i="0" lang="en-US" sz="3499" u="none" cap="none" strike="noStrike">
                <a:solidFill>
                  <a:srgbClr val="000000"/>
                </a:solidFill>
                <a:latin typeface="Alice"/>
                <a:ea typeface="Alice"/>
                <a:cs typeface="Alice"/>
                <a:sym typeface="Alice"/>
              </a:rPr>
              <a:t>Condition 2.</a:t>
            </a:r>
            <a:r>
              <a:rPr b="0" i="0" lang="en-US" sz="3499" u="none" cap="none" strike="noStrike">
                <a:solidFill>
                  <a:srgbClr val="000000"/>
                </a:solidFill>
                <a:latin typeface="Alice"/>
                <a:ea typeface="Alice"/>
                <a:cs typeface="Alice"/>
                <a:sym typeface="Alice"/>
              </a:rPr>
              <a:t> In any finite interval of time, x(t) is of bounded variation; that is, there are no more than a finite number of maxima and minima during any single period of the signal. </a:t>
            </a:r>
            <a:endParaRPr/>
          </a:p>
          <a:p>
            <a:pPr indent="0" lvl="0" marL="0" marR="0" rtl="0" algn="l">
              <a:lnSpc>
                <a:spcPct val="120005"/>
              </a:lnSpc>
              <a:spcBef>
                <a:spcPts val="0"/>
              </a:spcBef>
              <a:spcAft>
                <a:spcPts val="0"/>
              </a:spcAft>
              <a:buNone/>
            </a:pPr>
            <a:r>
              <a:t/>
            </a:r>
            <a:endParaRPr b="0" i="0" sz="3499" u="none" cap="none" strike="noStrike">
              <a:solidFill>
                <a:srgbClr val="000000"/>
              </a:solidFill>
              <a:latin typeface="Alice"/>
              <a:ea typeface="Alice"/>
              <a:cs typeface="Alice"/>
              <a:sym typeface="Alice"/>
            </a:endParaRPr>
          </a:p>
          <a:p>
            <a:pPr indent="0" lvl="0" marL="0" marR="0" rtl="0" algn="l">
              <a:lnSpc>
                <a:spcPct val="140011"/>
              </a:lnSpc>
              <a:spcBef>
                <a:spcPts val="0"/>
              </a:spcBef>
              <a:spcAft>
                <a:spcPts val="0"/>
              </a:spcAft>
              <a:buNone/>
            </a:pPr>
            <a:r>
              <a:rPr b="1" i="0" lang="en-US" sz="3499" u="none" cap="none" strike="noStrike">
                <a:solidFill>
                  <a:srgbClr val="000000"/>
                </a:solidFill>
                <a:latin typeface="Alice"/>
                <a:ea typeface="Alice"/>
                <a:cs typeface="Alice"/>
                <a:sym typeface="Alice"/>
              </a:rPr>
              <a:t>Condition 3. </a:t>
            </a:r>
            <a:r>
              <a:rPr b="0" i="0" lang="en-US" sz="3499" u="none" cap="none" strike="noStrike">
                <a:solidFill>
                  <a:srgbClr val="000000"/>
                </a:solidFill>
                <a:latin typeface="Alice"/>
                <a:ea typeface="Alice"/>
                <a:cs typeface="Alice"/>
                <a:sym typeface="Alice"/>
              </a:rPr>
              <a:t>In any finite interval of time, there are only a finite number of discontinu ities. Furthermore, each of these discontinuities is finite.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0"/>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194" name="Google Shape;194;p10"/>
          <p:cNvSpPr/>
          <p:nvPr/>
        </p:nvSpPr>
        <p:spPr>
          <a:xfrm>
            <a:off x="508286" y="2924382"/>
            <a:ext cx="17271429" cy="6843866"/>
          </a:xfrm>
          <a:custGeom>
            <a:rect b="b" l="l" r="r" t="t"/>
            <a:pathLst>
              <a:path extrusionOk="0" h="6843866" w="17271429">
                <a:moveTo>
                  <a:pt x="0" y="0"/>
                </a:moveTo>
                <a:lnTo>
                  <a:pt x="17271428" y="0"/>
                </a:lnTo>
                <a:lnTo>
                  <a:pt x="17271428" y="6843866"/>
                </a:lnTo>
                <a:lnTo>
                  <a:pt x="0" y="6843866"/>
                </a:lnTo>
                <a:lnTo>
                  <a:pt x="0" y="0"/>
                </a:lnTo>
                <a:close/>
              </a:path>
            </a:pathLst>
          </a:custGeom>
          <a:blipFill rotWithShape="1">
            <a:blip r:embed="rId4">
              <a:alphaModFix/>
            </a:blip>
            <a:stretch>
              <a:fillRect b="0" l="0" r="0" t="0"/>
            </a:stretch>
          </a:blipFill>
          <a:ln>
            <a:noFill/>
          </a:ln>
        </p:spPr>
      </p:sp>
      <p:sp>
        <p:nvSpPr>
          <p:cNvPr id="195" name="Google Shape;195;p10"/>
          <p:cNvSpPr txBox="1"/>
          <p:nvPr/>
        </p:nvSpPr>
        <p:spPr>
          <a:xfrm>
            <a:off x="2293947" y="165031"/>
            <a:ext cx="13893165" cy="863669"/>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997" u="sng" cap="none" strike="noStrike">
                <a:solidFill>
                  <a:srgbClr val="000000"/>
                </a:solidFill>
                <a:latin typeface="Alice"/>
                <a:ea typeface="Alice"/>
                <a:cs typeface="Alice"/>
                <a:sym typeface="Alice"/>
              </a:rPr>
              <a:t>Properties of the Continuous-Time Fourier Series</a:t>
            </a:r>
            <a:endParaRPr/>
          </a:p>
        </p:txBody>
      </p:sp>
      <p:sp>
        <p:nvSpPr>
          <p:cNvPr id="196" name="Google Shape;196;p10"/>
          <p:cNvSpPr txBox="1"/>
          <p:nvPr/>
        </p:nvSpPr>
        <p:spPr>
          <a:xfrm>
            <a:off x="508286" y="1455132"/>
            <a:ext cx="14808041" cy="504893"/>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0" i="0" lang="en-US" sz="2997" u="none" cap="none" strike="noStrike">
                <a:solidFill>
                  <a:srgbClr val="000000"/>
                </a:solidFill>
                <a:latin typeface="League Spartan"/>
                <a:ea typeface="League Spartan"/>
                <a:cs typeface="League Spartan"/>
                <a:sym typeface="League Spartan"/>
              </a:rPr>
              <a:t>x(t) ↔ ak and y(t) ↔ bk are Fourier series pairs, both periodic with period 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1"/>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202" name="Google Shape;202;p11"/>
          <p:cNvSpPr/>
          <p:nvPr/>
        </p:nvSpPr>
        <p:spPr>
          <a:xfrm>
            <a:off x="1028700" y="2950251"/>
            <a:ext cx="16230600" cy="2975110"/>
          </a:xfrm>
          <a:custGeom>
            <a:rect b="b" l="l" r="r" t="t"/>
            <a:pathLst>
              <a:path extrusionOk="0" h="2975110" w="16230600">
                <a:moveTo>
                  <a:pt x="0" y="0"/>
                </a:moveTo>
                <a:lnTo>
                  <a:pt x="16230600" y="0"/>
                </a:lnTo>
                <a:lnTo>
                  <a:pt x="16230600" y="2975110"/>
                </a:lnTo>
                <a:lnTo>
                  <a:pt x="0" y="2975110"/>
                </a:lnTo>
                <a:lnTo>
                  <a:pt x="0" y="0"/>
                </a:lnTo>
                <a:close/>
              </a:path>
            </a:pathLst>
          </a:custGeom>
          <a:blipFill rotWithShape="1">
            <a:blip r:embed="rId4">
              <a:alphaModFix amt="8999"/>
            </a:blip>
            <a:stretch>
              <a:fillRect b="0" l="-123816" r="-123816" t="0"/>
            </a:stretch>
          </a:blipFill>
          <a:ln>
            <a:noFill/>
          </a:ln>
        </p:spPr>
      </p:sp>
      <p:sp>
        <p:nvSpPr>
          <p:cNvPr id="203" name="Google Shape;203;p11"/>
          <p:cNvSpPr/>
          <p:nvPr/>
        </p:nvSpPr>
        <p:spPr>
          <a:xfrm>
            <a:off x="1028700" y="6715936"/>
            <a:ext cx="16230600" cy="3245046"/>
          </a:xfrm>
          <a:custGeom>
            <a:rect b="b" l="l" r="r" t="t"/>
            <a:pathLst>
              <a:path extrusionOk="0" h="3245046" w="16230600">
                <a:moveTo>
                  <a:pt x="0" y="0"/>
                </a:moveTo>
                <a:lnTo>
                  <a:pt x="16230600" y="0"/>
                </a:lnTo>
                <a:lnTo>
                  <a:pt x="16230600" y="3245046"/>
                </a:lnTo>
                <a:lnTo>
                  <a:pt x="0" y="3245046"/>
                </a:lnTo>
                <a:lnTo>
                  <a:pt x="0" y="0"/>
                </a:lnTo>
                <a:close/>
              </a:path>
            </a:pathLst>
          </a:custGeom>
          <a:blipFill rotWithShape="1">
            <a:blip r:embed="rId4">
              <a:alphaModFix amt="8999"/>
            </a:blip>
            <a:stretch>
              <a:fillRect b="0" l="-139595" r="-139595" t="0"/>
            </a:stretch>
          </a:blipFill>
          <a:ln>
            <a:noFill/>
          </a:ln>
        </p:spPr>
      </p:sp>
      <p:sp>
        <p:nvSpPr>
          <p:cNvPr id="204" name="Google Shape;204;p11"/>
          <p:cNvSpPr txBox="1"/>
          <p:nvPr/>
        </p:nvSpPr>
        <p:spPr>
          <a:xfrm>
            <a:off x="4110038" y="353627"/>
            <a:ext cx="10067925" cy="863669"/>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997" u="sng" cap="none" strike="noStrike">
                <a:solidFill>
                  <a:srgbClr val="000000"/>
                </a:solidFill>
                <a:latin typeface="Alice"/>
                <a:ea typeface="Alice"/>
                <a:cs typeface="Alice"/>
                <a:sym typeface="Alice"/>
              </a:rPr>
              <a:t>Discrete-Time Fourier Series (DTFS)</a:t>
            </a:r>
            <a:endParaRPr/>
          </a:p>
        </p:txBody>
      </p:sp>
      <p:sp>
        <p:nvSpPr>
          <p:cNvPr id="205" name="Google Shape;205;p11"/>
          <p:cNvSpPr txBox="1"/>
          <p:nvPr/>
        </p:nvSpPr>
        <p:spPr>
          <a:xfrm>
            <a:off x="514350" y="1523973"/>
            <a:ext cx="17773650" cy="1028768"/>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97" u="none" cap="none" strike="noStrike">
                <a:solidFill>
                  <a:srgbClr val="000000"/>
                </a:solidFill>
                <a:latin typeface="Arial"/>
                <a:ea typeface="Arial"/>
                <a:cs typeface="Arial"/>
                <a:sym typeface="Arial"/>
              </a:rPr>
              <a:t>A discrete-time periodic sequence x[n] with period N and fundamental frequency ω0 = 2π/N can be represented as a sum of N harmonically related discrete-time exponentials:</a:t>
            </a:r>
            <a:endParaRPr/>
          </a:p>
        </p:txBody>
      </p:sp>
      <p:sp>
        <p:nvSpPr>
          <p:cNvPr id="206" name="Google Shape;206;p11"/>
          <p:cNvSpPr txBox="1"/>
          <p:nvPr/>
        </p:nvSpPr>
        <p:spPr>
          <a:xfrm>
            <a:off x="6134288" y="3300215"/>
            <a:ext cx="5311497" cy="679518"/>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1" i="0" lang="en-US" sz="3997" u="none" cap="none" strike="noStrike">
                <a:solidFill>
                  <a:srgbClr val="000000"/>
                </a:solidFill>
                <a:latin typeface="Alice"/>
                <a:ea typeface="Alice"/>
                <a:cs typeface="Alice"/>
                <a:sym typeface="Alice"/>
              </a:rPr>
              <a:t>SYNTHESIS EQUATION</a:t>
            </a:r>
            <a:endParaRPr/>
          </a:p>
        </p:txBody>
      </p:sp>
      <p:sp>
        <p:nvSpPr>
          <p:cNvPr id="207" name="Google Shape;207;p11"/>
          <p:cNvSpPr txBox="1"/>
          <p:nvPr/>
        </p:nvSpPr>
        <p:spPr>
          <a:xfrm>
            <a:off x="5569099" y="4156263"/>
            <a:ext cx="6441877" cy="863669"/>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997" u="none" cap="none" strike="noStrike">
                <a:solidFill>
                  <a:srgbClr val="000000"/>
                </a:solidFill>
                <a:latin typeface="Alice"/>
                <a:ea typeface="Alice"/>
                <a:cs typeface="Alice"/>
                <a:sym typeface="Alice"/>
              </a:rPr>
              <a:t>x[n] = ∑k=&lt;N&gt; ak ejkω0n</a:t>
            </a:r>
            <a:endParaRPr/>
          </a:p>
        </p:txBody>
      </p:sp>
      <p:sp>
        <p:nvSpPr>
          <p:cNvPr id="208" name="Google Shape;208;p11"/>
          <p:cNvSpPr txBox="1"/>
          <p:nvPr/>
        </p:nvSpPr>
        <p:spPr>
          <a:xfrm>
            <a:off x="4189422" y="5005300"/>
            <a:ext cx="10102200" cy="307500"/>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1" lang="en-US" sz="1997" u="none" cap="none" strike="noStrike">
                <a:solidFill>
                  <a:srgbClr val="000000"/>
                </a:solidFill>
                <a:latin typeface="Alice"/>
                <a:ea typeface="Alice"/>
                <a:cs typeface="Alice"/>
                <a:sym typeface="Alice"/>
              </a:rPr>
              <a:t>Sum over any N consecutive values of k (a finite sum — only N distinct exponentials exist)</a:t>
            </a:r>
            <a:endParaRPr/>
          </a:p>
        </p:txBody>
      </p:sp>
      <p:sp>
        <p:nvSpPr>
          <p:cNvPr id="209" name="Google Shape;209;p11"/>
          <p:cNvSpPr txBox="1"/>
          <p:nvPr/>
        </p:nvSpPr>
        <p:spPr>
          <a:xfrm>
            <a:off x="6949476" y="6860963"/>
            <a:ext cx="4944546" cy="679518"/>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1" i="0" lang="en-US" sz="3997" u="none" cap="none" strike="noStrike">
                <a:solidFill>
                  <a:srgbClr val="000000"/>
                </a:solidFill>
                <a:latin typeface="Alice"/>
                <a:ea typeface="Alice"/>
                <a:cs typeface="Alice"/>
                <a:sym typeface="Alice"/>
              </a:rPr>
              <a:t>ANALYSIS EQUATION</a:t>
            </a:r>
            <a:endParaRPr/>
          </a:p>
        </p:txBody>
      </p:sp>
      <p:sp>
        <p:nvSpPr>
          <p:cNvPr id="210" name="Google Shape;210;p11"/>
          <p:cNvSpPr txBox="1"/>
          <p:nvPr/>
        </p:nvSpPr>
        <p:spPr>
          <a:xfrm>
            <a:off x="5424999" y="7842143"/>
            <a:ext cx="2155388" cy="1749494"/>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997" u="none" cap="none" strike="noStrike">
                <a:solidFill>
                  <a:srgbClr val="000000"/>
                </a:solidFill>
                <a:latin typeface="Alice"/>
                <a:ea typeface="Alice"/>
                <a:cs typeface="Alice"/>
                <a:sym typeface="Alice"/>
              </a:rPr>
              <a:t>ak = 1/N</a:t>
            </a:r>
            <a:endParaRPr/>
          </a:p>
          <a:p>
            <a:pPr indent="0" lvl="0" marL="0" marR="0" rtl="0" algn="ctr">
              <a:lnSpc>
                <a:spcPct val="140004"/>
              </a:lnSpc>
              <a:spcBef>
                <a:spcPts val="0"/>
              </a:spcBef>
              <a:spcAft>
                <a:spcPts val="0"/>
              </a:spcAft>
              <a:buNone/>
            </a:pPr>
            <a:r>
              <a:t/>
            </a:r>
            <a:endParaRPr b="1" i="0" sz="4997" u="none" cap="none" strike="noStrike">
              <a:solidFill>
                <a:srgbClr val="000000"/>
              </a:solidFill>
              <a:latin typeface="Alice"/>
              <a:ea typeface="Alice"/>
              <a:cs typeface="Alice"/>
              <a:sym typeface="Alice"/>
            </a:endParaRPr>
          </a:p>
        </p:txBody>
      </p:sp>
      <p:sp>
        <p:nvSpPr>
          <p:cNvPr id="211" name="Google Shape;211;p11"/>
          <p:cNvSpPr txBox="1"/>
          <p:nvPr/>
        </p:nvSpPr>
        <p:spPr>
          <a:xfrm>
            <a:off x="7580388" y="7797656"/>
            <a:ext cx="5649754" cy="863669"/>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997" u="none" cap="none" strike="noStrike">
                <a:solidFill>
                  <a:srgbClr val="000000"/>
                </a:solidFill>
                <a:latin typeface="Alice"/>
                <a:ea typeface="Alice"/>
                <a:cs typeface="Alice"/>
                <a:sym typeface="Alice"/>
              </a:rPr>
              <a:t>∑n=&lt;N&gt; x[n] e−jkω0n</a:t>
            </a:r>
            <a:endParaRPr/>
          </a:p>
        </p:txBody>
      </p:sp>
      <p:sp>
        <p:nvSpPr>
          <p:cNvPr id="212" name="Google Shape;212;p11"/>
          <p:cNvSpPr txBox="1"/>
          <p:nvPr/>
        </p:nvSpPr>
        <p:spPr>
          <a:xfrm>
            <a:off x="4999493" y="8763750"/>
            <a:ext cx="8803500" cy="307500"/>
          </a:xfrm>
          <a:prstGeom prst="rect">
            <a:avLst/>
          </a:prstGeom>
          <a:noFill/>
          <a:ln>
            <a:noFill/>
          </a:ln>
        </p:spPr>
        <p:txBody>
          <a:bodyPr anchorCtr="0" anchor="t" bIns="0" lIns="0" spcFirstLastPara="1" rIns="0" wrap="square" tIns="0">
            <a:spAutoFit/>
          </a:bodyPr>
          <a:lstStyle/>
          <a:p>
            <a:pPr indent="0" lvl="0" marL="0" marR="0" rtl="0" algn="ctr">
              <a:lnSpc>
                <a:spcPct val="140080"/>
              </a:lnSpc>
              <a:spcBef>
                <a:spcPts val="0"/>
              </a:spcBef>
              <a:spcAft>
                <a:spcPts val="0"/>
              </a:spcAft>
              <a:buNone/>
            </a:pPr>
            <a:r>
              <a:rPr b="0" i="1" lang="en-US" sz="1997" u="none" cap="none" strike="noStrike">
                <a:solidFill>
                  <a:srgbClr val="000000"/>
                </a:solidFill>
                <a:latin typeface="Alice"/>
                <a:ea typeface="Alice"/>
                <a:cs typeface="Alice"/>
                <a:sym typeface="Alice"/>
              </a:rPr>
              <a:t>Only N distinct coefficients ak: a key difference from the CT case (infinite ak's)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2"/>
          <p:cNvSpPr/>
          <p:nvPr/>
        </p:nvSpPr>
        <p:spPr>
          <a:xfrm>
            <a:off x="294037" y="3062555"/>
            <a:ext cx="9062181" cy="4161890"/>
          </a:xfrm>
          <a:custGeom>
            <a:rect b="b" l="l" r="r" t="t"/>
            <a:pathLst>
              <a:path extrusionOk="0" h="4161890" w="9062181">
                <a:moveTo>
                  <a:pt x="0" y="0"/>
                </a:moveTo>
                <a:lnTo>
                  <a:pt x="9062181" y="0"/>
                </a:lnTo>
                <a:lnTo>
                  <a:pt x="9062181" y="4161890"/>
                </a:lnTo>
                <a:lnTo>
                  <a:pt x="0" y="4161890"/>
                </a:lnTo>
                <a:lnTo>
                  <a:pt x="0" y="0"/>
                </a:lnTo>
                <a:close/>
              </a:path>
            </a:pathLst>
          </a:custGeom>
          <a:blipFill rotWithShape="1">
            <a:blip r:embed="rId3">
              <a:alphaModFix/>
            </a:blip>
            <a:stretch>
              <a:fillRect b="0" l="0" r="0" t="0"/>
            </a:stretch>
          </a:blipFill>
          <a:ln>
            <a:noFill/>
          </a:ln>
        </p:spPr>
      </p:sp>
      <p:sp>
        <p:nvSpPr>
          <p:cNvPr id="218" name="Google Shape;218;p12"/>
          <p:cNvSpPr txBox="1"/>
          <p:nvPr/>
        </p:nvSpPr>
        <p:spPr>
          <a:xfrm>
            <a:off x="9009000" y="1979675"/>
            <a:ext cx="9279000" cy="6156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en-US" sz="3999" u="sng" cap="none" strike="noStrike">
                <a:solidFill>
                  <a:srgbClr val="000000"/>
                </a:solidFill>
                <a:latin typeface="Arial"/>
                <a:ea typeface="Arial"/>
                <a:cs typeface="Arial"/>
                <a:sym typeface="Arial"/>
              </a:rPr>
              <a:t>Key Differences from CT Fourier Series</a:t>
            </a:r>
            <a:endParaRPr/>
          </a:p>
        </p:txBody>
      </p:sp>
      <p:sp>
        <p:nvSpPr>
          <p:cNvPr id="219" name="Google Shape;219;p12"/>
          <p:cNvSpPr txBox="1"/>
          <p:nvPr/>
        </p:nvSpPr>
        <p:spPr>
          <a:xfrm>
            <a:off x="9356218" y="3186244"/>
            <a:ext cx="8599372" cy="3762375"/>
          </a:xfrm>
          <a:prstGeom prst="rect">
            <a:avLst/>
          </a:prstGeom>
          <a:noFill/>
          <a:ln>
            <a:noFill/>
          </a:ln>
        </p:spPr>
        <p:txBody>
          <a:bodyPr anchorCtr="0" anchor="t" bIns="0" lIns="0" spcFirstLastPara="1" rIns="0" wrap="square" tIns="0">
            <a:spAutoFit/>
          </a:bodyPr>
          <a:lstStyle/>
          <a:p>
            <a:pPr indent="-323849" lvl="1" marL="647698" marR="0" rtl="0" algn="l">
              <a:lnSpc>
                <a:spcPct val="140013"/>
              </a:lnSpc>
              <a:spcBef>
                <a:spcPts val="0"/>
              </a:spcBef>
              <a:spcAft>
                <a:spcPts val="0"/>
              </a:spcAft>
              <a:buClr>
                <a:srgbClr val="000000"/>
              </a:buClr>
              <a:buSzPts val="2999"/>
              <a:buFont typeface="Arial"/>
              <a:buChar char="•"/>
            </a:pPr>
            <a:r>
              <a:rPr b="0" i="0" lang="en-US" sz="2999" u="none" cap="none" strike="noStrike">
                <a:solidFill>
                  <a:srgbClr val="000000"/>
                </a:solidFill>
                <a:latin typeface="Arial"/>
                <a:ea typeface="Arial"/>
                <a:cs typeface="Arial"/>
                <a:sym typeface="Arial"/>
              </a:rPr>
              <a:t>ak is periodic in k with period N: a(k+N) = ak</a:t>
            </a:r>
            <a:endParaRPr/>
          </a:p>
          <a:p>
            <a:pPr indent="0" lvl="0" marL="0" marR="0" rtl="0" algn="l">
              <a:lnSpc>
                <a:spcPct val="154384"/>
              </a:lnSpc>
              <a:spcBef>
                <a:spcPts val="0"/>
              </a:spcBef>
              <a:spcAft>
                <a:spcPts val="0"/>
              </a:spcAft>
              <a:buNone/>
            </a:pPr>
            <a:r>
              <a:t/>
            </a:r>
            <a:endParaRPr b="0" i="0" sz="2999" u="none" cap="none" strike="noStrike">
              <a:solidFill>
                <a:srgbClr val="000000"/>
              </a:solidFill>
              <a:latin typeface="Arial"/>
              <a:ea typeface="Arial"/>
              <a:cs typeface="Arial"/>
              <a:sym typeface="Arial"/>
            </a:endParaRPr>
          </a:p>
          <a:p>
            <a:pPr indent="-323849" lvl="1" marL="647698" marR="0" rtl="0" algn="l">
              <a:lnSpc>
                <a:spcPct val="140013"/>
              </a:lnSpc>
              <a:spcBef>
                <a:spcPts val="0"/>
              </a:spcBef>
              <a:spcAft>
                <a:spcPts val="0"/>
              </a:spcAft>
              <a:buClr>
                <a:srgbClr val="000000"/>
              </a:buClr>
              <a:buSzPts val="2999"/>
              <a:buFont typeface="Arial"/>
              <a:buChar char="•"/>
            </a:pPr>
            <a:r>
              <a:rPr b="0" i="0" lang="en-US" sz="2999" u="none" cap="none" strike="noStrike">
                <a:solidFill>
                  <a:srgbClr val="000000"/>
                </a:solidFill>
                <a:latin typeface="Arial"/>
                <a:ea typeface="Arial"/>
                <a:cs typeface="Arial"/>
                <a:sym typeface="Arial"/>
              </a:rPr>
              <a:t>Only N independent coefficients exist — the DTFS is a finite series, unlike the infinite CTFS</a:t>
            </a:r>
            <a:endParaRPr/>
          </a:p>
          <a:p>
            <a:pPr indent="0" lvl="0" marL="0" marR="0" rtl="0" algn="l">
              <a:lnSpc>
                <a:spcPct val="154384"/>
              </a:lnSpc>
              <a:spcBef>
                <a:spcPts val="0"/>
              </a:spcBef>
              <a:spcAft>
                <a:spcPts val="0"/>
              </a:spcAft>
              <a:buNone/>
            </a:pPr>
            <a:r>
              <a:t/>
            </a:r>
            <a:endParaRPr b="0" i="0" sz="2999" u="none" cap="none" strike="noStrike">
              <a:solidFill>
                <a:srgbClr val="000000"/>
              </a:solidFill>
              <a:latin typeface="Arial"/>
              <a:ea typeface="Arial"/>
              <a:cs typeface="Arial"/>
              <a:sym typeface="Arial"/>
            </a:endParaRPr>
          </a:p>
          <a:p>
            <a:pPr indent="-323849" lvl="1" marL="647698" marR="0" rtl="0" algn="l">
              <a:lnSpc>
                <a:spcPct val="140013"/>
              </a:lnSpc>
              <a:spcBef>
                <a:spcPts val="0"/>
              </a:spcBef>
              <a:spcAft>
                <a:spcPts val="0"/>
              </a:spcAft>
              <a:buClr>
                <a:srgbClr val="000000"/>
              </a:buClr>
              <a:buSzPts val="2999"/>
              <a:buFont typeface="Arial"/>
              <a:buChar char="•"/>
            </a:pPr>
            <a:r>
              <a:rPr b="0" i="0" lang="en-US" sz="2999" u="none" cap="none" strike="noStrike">
                <a:solidFill>
                  <a:srgbClr val="000000"/>
                </a:solidFill>
                <a:latin typeface="Arial"/>
                <a:ea typeface="Arial"/>
                <a:cs typeface="Arial"/>
                <a:sym typeface="Arial"/>
              </a:rPr>
              <a:t>&lt;N&gt; denotes any range of N consecutive integers (e.g. k = 0, 1, …, N−1)</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3"/>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225" name="Google Shape;225;p13"/>
          <p:cNvSpPr/>
          <p:nvPr/>
        </p:nvSpPr>
        <p:spPr>
          <a:xfrm>
            <a:off x="526201" y="2283272"/>
            <a:ext cx="17145021" cy="7531370"/>
          </a:xfrm>
          <a:custGeom>
            <a:rect b="b" l="l" r="r" t="t"/>
            <a:pathLst>
              <a:path extrusionOk="0" h="7531370" w="17145021">
                <a:moveTo>
                  <a:pt x="0" y="0"/>
                </a:moveTo>
                <a:lnTo>
                  <a:pt x="17145021" y="0"/>
                </a:lnTo>
                <a:lnTo>
                  <a:pt x="17145021" y="7531370"/>
                </a:lnTo>
                <a:lnTo>
                  <a:pt x="0" y="7531370"/>
                </a:lnTo>
                <a:lnTo>
                  <a:pt x="0" y="0"/>
                </a:lnTo>
                <a:close/>
              </a:path>
            </a:pathLst>
          </a:custGeom>
          <a:blipFill rotWithShape="1">
            <a:blip r:embed="rId4">
              <a:alphaModFix/>
            </a:blip>
            <a:stretch>
              <a:fillRect b="0" l="0" r="0" t="0"/>
            </a:stretch>
          </a:blipFill>
          <a:ln>
            <a:noFill/>
          </a:ln>
        </p:spPr>
      </p:sp>
      <p:sp>
        <p:nvSpPr>
          <p:cNvPr id="226" name="Google Shape;226;p13"/>
          <p:cNvSpPr txBox="1"/>
          <p:nvPr/>
        </p:nvSpPr>
        <p:spPr>
          <a:xfrm>
            <a:off x="3570268" y="372677"/>
            <a:ext cx="11147465" cy="738574"/>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297" u="sng" cap="none" strike="noStrike">
                <a:solidFill>
                  <a:srgbClr val="000000"/>
                </a:solidFill>
                <a:latin typeface="Alice"/>
                <a:ea typeface="Alice"/>
                <a:cs typeface="Alice"/>
                <a:sym typeface="Alice"/>
              </a:rPr>
              <a:t>Properties of the Discrete-Time Fourier Series</a:t>
            </a:r>
            <a:endParaRPr/>
          </a:p>
        </p:txBody>
      </p:sp>
      <p:sp>
        <p:nvSpPr>
          <p:cNvPr id="227" name="Google Shape;227;p13"/>
          <p:cNvSpPr txBox="1"/>
          <p:nvPr/>
        </p:nvSpPr>
        <p:spPr>
          <a:xfrm>
            <a:off x="526201" y="1416429"/>
            <a:ext cx="11483698" cy="504893"/>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2997" u="none" cap="none" strike="noStrike">
                <a:solidFill>
                  <a:srgbClr val="000000"/>
                </a:solidFill>
                <a:latin typeface="Alice"/>
                <a:ea typeface="Alice"/>
                <a:cs typeface="Alice"/>
                <a:sym typeface="Alice"/>
              </a:rPr>
              <a:t>x[n] ↔ ak and y[n] ↔ bk are DTFS pairs, both periodic with period 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4"/>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233" name="Google Shape;233;p14"/>
          <p:cNvSpPr/>
          <p:nvPr/>
        </p:nvSpPr>
        <p:spPr>
          <a:xfrm>
            <a:off x="96529" y="1533139"/>
            <a:ext cx="18191471" cy="954473"/>
          </a:xfrm>
          <a:custGeom>
            <a:rect b="b" l="l" r="r" t="t"/>
            <a:pathLst>
              <a:path extrusionOk="0" h="954473" w="18191471">
                <a:moveTo>
                  <a:pt x="0" y="0"/>
                </a:moveTo>
                <a:lnTo>
                  <a:pt x="18191471" y="0"/>
                </a:lnTo>
                <a:lnTo>
                  <a:pt x="18191471" y="954472"/>
                </a:lnTo>
                <a:lnTo>
                  <a:pt x="0" y="954472"/>
                </a:lnTo>
                <a:lnTo>
                  <a:pt x="0" y="0"/>
                </a:lnTo>
                <a:close/>
              </a:path>
            </a:pathLst>
          </a:custGeom>
          <a:blipFill rotWithShape="1">
            <a:blip r:embed="rId4">
              <a:alphaModFix amt="15000"/>
            </a:blip>
            <a:stretch>
              <a:fillRect b="-2985" l="-5450" r="0" t="-2985"/>
            </a:stretch>
          </a:blipFill>
          <a:ln>
            <a:noFill/>
          </a:ln>
        </p:spPr>
      </p:sp>
      <p:sp>
        <p:nvSpPr>
          <p:cNvPr id="234" name="Google Shape;234;p14"/>
          <p:cNvSpPr txBox="1"/>
          <p:nvPr/>
        </p:nvSpPr>
        <p:spPr>
          <a:xfrm>
            <a:off x="5872906" y="283176"/>
            <a:ext cx="6735246" cy="1483712"/>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1" i="0" lang="en-US" sz="4999" u="sng" cap="none" strike="noStrike">
                <a:solidFill>
                  <a:srgbClr val="000000"/>
                </a:solidFill>
                <a:latin typeface="Alice"/>
                <a:ea typeface="Alice"/>
                <a:cs typeface="Alice"/>
                <a:sym typeface="Alice"/>
              </a:rPr>
              <a:t>The Gibbs Phenomenon</a:t>
            </a:r>
            <a:endParaRPr/>
          </a:p>
          <a:p>
            <a:pPr indent="0" lvl="0" marL="0" marR="0" rtl="0" algn="ctr">
              <a:lnSpc>
                <a:spcPct val="95839"/>
              </a:lnSpc>
              <a:spcBef>
                <a:spcPts val="0"/>
              </a:spcBef>
              <a:spcAft>
                <a:spcPts val="0"/>
              </a:spcAft>
              <a:buNone/>
            </a:pPr>
            <a:r>
              <a:t/>
            </a:r>
            <a:endParaRPr b="1" i="0" sz="4999" u="sng" cap="none" strike="noStrike">
              <a:solidFill>
                <a:srgbClr val="000000"/>
              </a:solidFill>
              <a:latin typeface="Alice"/>
              <a:ea typeface="Alice"/>
              <a:cs typeface="Alice"/>
              <a:sym typeface="Alice"/>
            </a:endParaRPr>
          </a:p>
        </p:txBody>
      </p:sp>
      <p:sp>
        <p:nvSpPr>
          <p:cNvPr id="235" name="Google Shape;235;p14"/>
          <p:cNvSpPr txBox="1"/>
          <p:nvPr/>
        </p:nvSpPr>
        <p:spPr>
          <a:xfrm>
            <a:off x="0" y="1458911"/>
            <a:ext cx="18288000" cy="10287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None/>
            </a:pPr>
            <a:r>
              <a:rPr b="1" i="0" lang="en-US" sz="2999" u="none" cap="none" strike="noStrike">
                <a:solidFill>
                  <a:srgbClr val="000000"/>
                </a:solidFill>
                <a:latin typeface="Alice"/>
                <a:ea typeface="Alice"/>
                <a:cs typeface="Alice"/>
                <a:sym typeface="Alice"/>
              </a:rPr>
              <a:t>Named after: </a:t>
            </a:r>
            <a:r>
              <a:rPr b="0" i="1" lang="en-US" sz="2999" u="sng" cap="none" strike="noStrike">
                <a:solidFill>
                  <a:srgbClr val="000000"/>
                </a:solidFill>
                <a:latin typeface="Alice"/>
                <a:ea typeface="Alice"/>
                <a:cs typeface="Alice"/>
                <a:sym typeface="Alice"/>
              </a:rPr>
              <a:t>J. Willard Gibbs (1899)</a:t>
            </a:r>
            <a:r>
              <a:rPr b="0" i="0" lang="en-US" sz="2999" u="none" cap="none" strike="noStrike">
                <a:solidFill>
                  <a:srgbClr val="000000"/>
                </a:solidFill>
                <a:latin typeface="Alice"/>
                <a:ea typeface="Alice"/>
                <a:cs typeface="Alice"/>
                <a:sym typeface="Alice"/>
              </a:rPr>
              <a:t>, though first observed by Henry Wilbraham (1848). It is a fundamental limitation when truncating Fourier series for practical (finite-term) signal reconstruction and filter design.</a:t>
            </a:r>
            <a:endParaRPr/>
          </a:p>
        </p:txBody>
      </p:sp>
      <p:sp>
        <p:nvSpPr>
          <p:cNvPr id="236" name="Google Shape;236;p14"/>
          <p:cNvSpPr txBox="1"/>
          <p:nvPr/>
        </p:nvSpPr>
        <p:spPr>
          <a:xfrm>
            <a:off x="305440" y="2901276"/>
            <a:ext cx="17773650" cy="10287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1" i="0" lang="en-US" sz="2999" u="none" cap="none" strike="noStrike">
                <a:solidFill>
                  <a:srgbClr val="000000"/>
                </a:solidFill>
                <a:latin typeface="Alice"/>
                <a:ea typeface="Alice"/>
                <a:cs typeface="Alice"/>
                <a:sym typeface="Alice"/>
              </a:rPr>
              <a:t>When x(t) has a jump discontinuity, the partial sum xN(t) = ∑|k|≤N ak ejkω₀t always exhibits ripples (overshoot) near the discontinuity.</a:t>
            </a:r>
            <a:endParaRPr/>
          </a:p>
        </p:txBody>
      </p:sp>
      <p:sp>
        <p:nvSpPr>
          <p:cNvPr id="237" name="Google Shape;237;p14"/>
          <p:cNvSpPr txBox="1"/>
          <p:nvPr/>
        </p:nvSpPr>
        <p:spPr>
          <a:xfrm>
            <a:off x="1028700" y="4605882"/>
            <a:ext cx="14439256" cy="4820636"/>
          </a:xfrm>
          <a:prstGeom prst="rect">
            <a:avLst/>
          </a:prstGeom>
          <a:noFill/>
          <a:ln>
            <a:noFill/>
          </a:ln>
        </p:spPr>
        <p:txBody>
          <a:bodyPr anchorCtr="0" anchor="t" bIns="0" lIns="0" spcFirstLastPara="1" rIns="0" wrap="square" tIns="0">
            <a:spAutoFit/>
          </a:bodyPr>
          <a:lstStyle/>
          <a:p>
            <a:pPr indent="-323849" lvl="1" marL="647698" marR="0" rtl="0" algn="l">
              <a:lnSpc>
                <a:spcPct val="140013"/>
              </a:lnSpc>
              <a:spcBef>
                <a:spcPts val="0"/>
              </a:spcBef>
              <a:spcAft>
                <a:spcPts val="0"/>
              </a:spcAft>
              <a:buClr>
                <a:srgbClr val="000000"/>
              </a:buClr>
              <a:buSzPts val="2999"/>
              <a:buFont typeface="Arial"/>
              <a:buChar char="•"/>
            </a:pPr>
            <a:r>
              <a:rPr b="0" i="0" lang="en-US" sz="2999" u="none" cap="none" strike="noStrike">
                <a:solidFill>
                  <a:srgbClr val="000000"/>
                </a:solidFill>
                <a:latin typeface="Alice"/>
                <a:ea typeface="Alice"/>
                <a:cs typeface="Alice"/>
                <a:sym typeface="Alice"/>
              </a:rPr>
              <a:t>As N increases, the ripples become more compressed near the edge but the peak overshoot does NOT vanish</a:t>
            </a:r>
            <a:endParaRPr/>
          </a:p>
          <a:p>
            <a:pPr indent="0" lvl="0" marL="0" marR="0" rtl="0" algn="l">
              <a:lnSpc>
                <a:spcPct val="155085"/>
              </a:lnSpc>
              <a:spcBef>
                <a:spcPts val="0"/>
              </a:spcBef>
              <a:spcAft>
                <a:spcPts val="0"/>
              </a:spcAft>
              <a:buNone/>
            </a:pPr>
            <a:r>
              <a:t/>
            </a:r>
            <a:endParaRPr b="0" i="0" sz="2999" u="none" cap="none" strike="noStrike">
              <a:solidFill>
                <a:srgbClr val="000000"/>
              </a:solidFill>
              <a:latin typeface="Alice"/>
              <a:ea typeface="Alice"/>
              <a:cs typeface="Alice"/>
              <a:sym typeface="Alice"/>
            </a:endParaRPr>
          </a:p>
          <a:p>
            <a:pPr indent="-323849" lvl="1" marL="647698" marR="0" rtl="0" algn="l">
              <a:lnSpc>
                <a:spcPct val="140013"/>
              </a:lnSpc>
              <a:spcBef>
                <a:spcPts val="0"/>
              </a:spcBef>
              <a:spcAft>
                <a:spcPts val="0"/>
              </a:spcAft>
              <a:buClr>
                <a:srgbClr val="000000"/>
              </a:buClr>
              <a:buSzPts val="2999"/>
              <a:buFont typeface="Arial"/>
              <a:buChar char="•"/>
            </a:pPr>
            <a:r>
              <a:rPr b="0" i="0" lang="en-US" sz="2999" u="none" cap="none" strike="noStrike">
                <a:solidFill>
                  <a:srgbClr val="000000"/>
                </a:solidFill>
                <a:latin typeface="Alice"/>
                <a:ea typeface="Alice"/>
                <a:cs typeface="Alice"/>
                <a:sym typeface="Alice"/>
              </a:rPr>
              <a:t>The overshoot converges to approximately 9% of the signal's jump size, regardless of how large N is</a:t>
            </a:r>
            <a:endParaRPr/>
          </a:p>
          <a:p>
            <a:pPr indent="0" lvl="0" marL="0" marR="0" rtl="0" algn="l">
              <a:lnSpc>
                <a:spcPct val="155085"/>
              </a:lnSpc>
              <a:spcBef>
                <a:spcPts val="0"/>
              </a:spcBef>
              <a:spcAft>
                <a:spcPts val="0"/>
              </a:spcAft>
              <a:buNone/>
            </a:pPr>
            <a:r>
              <a:t/>
            </a:r>
            <a:endParaRPr b="0" i="0" sz="2999" u="none" cap="none" strike="noStrike">
              <a:solidFill>
                <a:srgbClr val="000000"/>
              </a:solidFill>
              <a:latin typeface="Alice"/>
              <a:ea typeface="Alice"/>
              <a:cs typeface="Alice"/>
              <a:sym typeface="Alice"/>
            </a:endParaRPr>
          </a:p>
          <a:p>
            <a:pPr indent="-323849" lvl="1" marL="647698" marR="0" rtl="0" algn="l">
              <a:lnSpc>
                <a:spcPct val="140013"/>
              </a:lnSpc>
              <a:spcBef>
                <a:spcPts val="0"/>
              </a:spcBef>
              <a:spcAft>
                <a:spcPts val="0"/>
              </a:spcAft>
              <a:buClr>
                <a:srgbClr val="000000"/>
              </a:buClr>
              <a:buSzPts val="2999"/>
              <a:buFont typeface="Arial"/>
              <a:buChar char="•"/>
            </a:pPr>
            <a:r>
              <a:rPr b="0" i="0" lang="en-US" sz="2999" u="none" cap="none" strike="noStrike">
                <a:solidFill>
                  <a:srgbClr val="000000"/>
                </a:solidFill>
                <a:latin typeface="Alice"/>
                <a:ea typeface="Alice"/>
                <a:cs typeface="Alice"/>
                <a:sym typeface="Alice"/>
              </a:rPr>
              <a:t>Energy in the ripples → 0 as N → ∞, so convergence still holds in the mean-square (finite-energy) sense</a:t>
            </a:r>
            <a:endParaRPr/>
          </a:p>
          <a:p>
            <a:pPr indent="0" lvl="0" marL="0" marR="0" rtl="0" algn="ctr">
              <a:lnSpc>
                <a:spcPct val="136412"/>
              </a:lnSpc>
              <a:spcBef>
                <a:spcPts val="0"/>
              </a:spcBef>
              <a:spcAft>
                <a:spcPts val="0"/>
              </a:spcAft>
              <a:buNone/>
            </a:pPr>
            <a:r>
              <a:t/>
            </a:r>
            <a:endParaRPr b="0" i="0" sz="2999" u="none" cap="none" strike="noStrike">
              <a:solidFill>
                <a:srgbClr val="000000"/>
              </a:solidFill>
              <a:latin typeface="Alice"/>
              <a:ea typeface="Alice"/>
              <a:cs typeface="Alice"/>
              <a:sym typeface="Alic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5"/>
          <p:cNvSpPr/>
          <p:nvPr/>
        </p:nvSpPr>
        <p:spPr>
          <a:xfrm>
            <a:off x="1513570" y="572878"/>
            <a:ext cx="15260859" cy="9141244"/>
          </a:xfrm>
          <a:custGeom>
            <a:rect b="b" l="l" r="r" t="t"/>
            <a:pathLst>
              <a:path extrusionOk="0" h="9141244" w="15260859">
                <a:moveTo>
                  <a:pt x="0" y="0"/>
                </a:moveTo>
                <a:lnTo>
                  <a:pt x="15260860" y="0"/>
                </a:lnTo>
                <a:lnTo>
                  <a:pt x="15260860" y="9141244"/>
                </a:lnTo>
                <a:lnTo>
                  <a:pt x="0" y="9141244"/>
                </a:lnTo>
                <a:lnTo>
                  <a:pt x="0" y="0"/>
                </a:lnTo>
                <a:close/>
              </a:path>
            </a:pathLst>
          </a:custGeom>
          <a:blipFill rotWithShape="1">
            <a:blip r:embed="rId3">
              <a:alphaModFix/>
            </a:blip>
            <a:stretch>
              <a:fillRect b="-600" l="0" r="0" t="-60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6"/>
          <p:cNvSpPr/>
          <p:nvPr/>
        </p:nvSpPr>
        <p:spPr>
          <a:xfrm>
            <a:off x="0" y="2959712"/>
            <a:ext cx="9628722" cy="3091868"/>
          </a:xfrm>
          <a:custGeom>
            <a:rect b="b" l="l" r="r" t="t"/>
            <a:pathLst>
              <a:path extrusionOk="0" h="3091868" w="9628722">
                <a:moveTo>
                  <a:pt x="0" y="0"/>
                </a:moveTo>
                <a:lnTo>
                  <a:pt x="9628722" y="0"/>
                </a:lnTo>
                <a:lnTo>
                  <a:pt x="9628722" y="3091868"/>
                </a:lnTo>
                <a:lnTo>
                  <a:pt x="0" y="3091868"/>
                </a:lnTo>
                <a:lnTo>
                  <a:pt x="0" y="0"/>
                </a:lnTo>
                <a:close/>
              </a:path>
            </a:pathLst>
          </a:custGeom>
          <a:blipFill rotWithShape="1">
            <a:blip r:embed="rId3">
              <a:alphaModFix amt="5000"/>
            </a:blip>
            <a:stretch>
              <a:fillRect b="0" l="-228756" r="-280221" t="0"/>
            </a:stretch>
          </a:blipFill>
          <a:ln>
            <a:noFill/>
          </a:ln>
        </p:spPr>
      </p:sp>
      <p:sp>
        <p:nvSpPr>
          <p:cNvPr id="248" name="Google Shape;248;p16"/>
          <p:cNvSpPr/>
          <p:nvPr/>
        </p:nvSpPr>
        <p:spPr>
          <a:xfrm>
            <a:off x="9949261" y="2959712"/>
            <a:ext cx="8211954" cy="3091868"/>
          </a:xfrm>
          <a:custGeom>
            <a:rect b="b" l="l" r="r" t="t"/>
            <a:pathLst>
              <a:path extrusionOk="0" h="3091868" w="8211954">
                <a:moveTo>
                  <a:pt x="0" y="0"/>
                </a:moveTo>
                <a:lnTo>
                  <a:pt x="8211953" y="0"/>
                </a:lnTo>
                <a:lnTo>
                  <a:pt x="8211953" y="3091868"/>
                </a:lnTo>
                <a:lnTo>
                  <a:pt x="0" y="3091868"/>
                </a:lnTo>
                <a:lnTo>
                  <a:pt x="0" y="0"/>
                </a:lnTo>
                <a:close/>
              </a:path>
            </a:pathLst>
          </a:custGeom>
          <a:blipFill rotWithShape="1">
            <a:blip r:embed="rId3">
              <a:alphaModFix amt="5000"/>
            </a:blip>
            <a:stretch>
              <a:fillRect b="0" l="-286998" r="-350085" t="-3218"/>
            </a:stretch>
          </a:blipFill>
          <a:ln>
            <a:noFill/>
          </a:ln>
        </p:spPr>
      </p:sp>
      <p:sp>
        <p:nvSpPr>
          <p:cNvPr id="249" name="Google Shape;249;p16"/>
          <p:cNvSpPr/>
          <p:nvPr/>
        </p:nvSpPr>
        <p:spPr>
          <a:xfrm>
            <a:off x="512341" y="7060029"/>
            <a:ext cx="3769628" cy="1348936"/>
          </a:xfrm>
          <a:custGeom>
            <a:rect b="b" l="l" r="r" t="t"/>
            <a:pathLst>
              <a:path extrusionOk="0" h="1348936" w="3769628">
                <a:moveTo>
                  <a:pt x="0" y="0"/>
                </a:moveTo>
                <a:lnTo>
                  <a:pt x="3769629" y="0"/>
                </a:lnTo>
                <a:lnTo>
                  <a:pt x="3769629" y="1348935"/>
                </a:lnTo>
                <a:lnTo>
                  <a:pt x="0" y="1348935"/>
                </a:lnTo>
                <a:lnTo>
                  <a:pt x="0" y="0"/>
                </a:lnTo>
                <a:close/>
              </a:path>
            </a:pathLst>
          </a:custGeom>
          <a:blipFill rotWithShape="1">
            <a:blip r:embed="rId4">
              <a:alphaModFix/>
            </a:blip>
            <a:stretch>
              <a:fillRect b="0" l="0" r="0" t="0"/>
            </a:stretch>
          </a:blipFill>
          <a:ln>
            <a:noFill/>
          </a:ln>
        </p:spPr>
      </p:sp>
      <p:sp>
        <p:nvSpPr>
          <p:cNvPr id="250" name="Google Shape;250;p16"/>
          <p:cNvSpPr/>
          <p:nvPr/>
        </p:nvSpPr>
        <p:spPr>
          <a:xfrm>
            <a:off x="12468552" y="7060029"/>
            <a:ext cx="5197899" cy="1397593"/>
          </a:xfrm>
          <a:custGeom>
            <a:rect b="b" l="l" r="r" t="t"/>
            <a:pathLst>
              <a:path extrusionOk="0" h="1397593" w="5197899">
                <a:moveTo>
                  <a:pt x="0" y="0"/>
                </a:moveTo>
                <a:lnTo>
                  <a:pt x="5197899" y="0"/>
                </a:lnTo>
                <a:lnTo>
                  <a:pt x="5197899" y="1397593"/>
                </a:lnTo>
                <a:lnTo>
                  <a:pt x="0" y="1397593"/>
                </a:lnTo>
                <a:lnTo>
                  <a:pt x="0" y="0"/>
                </a:lnTo>
                <a:close/>
              </a:path>
            </a:pathLst>
          </a:custGeom>
          <a:blipFill rotWithShape="1">
            <a:blip r:embed="rId5">
              <a:alphaModFix/>
            </a:blip>
            <a:stretch>
              <a:fillRect b="0" l="0" r="0" t="0"/>
            </a:stretch>
          </a:blipFill>
          <a:ln>
            <a:noFill/>
          </a:ln>
        </p:spPr>
      </p:sp>
      <p:sp>
        <p:nvSpPr>
          <p:cNvPr id="251" name="Google Shape;251;p16"/>
          <p:cNvSpPr/>
          <p:nvPr/>
        </p:nvSpPr>
        <p:spPr>
          <a:xfrm>
            <a:off x="5896829" y="7060029"/>
            <a:ext cx="4956864" cy="1348936"/>
          </a:xfrm>
          <a:custGeom>
            <a:rect b="b" l="l" r="r" t="t"/>
            <a:pathLst>
              <a:path extrusionOk="0" h="1348936" w="4956864">
                <a:moveTo>
                  <a:pt x="0" y="0"/>
                </a:moveTo>
                <a:lnTo>
                  <a:pt x="4956863" y="0"/>
                </a:lnTo>
                <a:lnTo>
                  <a:pt x="4956863" y="1348935"/>
                </a:lnTo>
                <a:lnTo>
                  <a:pt x="0" y="1348935"/>
                </a:lnTo>
                <a:lnTo>
                  <a:pt x="0" y="0"/>
                </a:lnTo>
                <a:close/>
              </a:path>
            </a:pathLst>
          </a:custGeom>
          <a:blipFill rotWithShape="1">
            <a:blip r:embed="rId3">
              <a:alphaModFix amt="21999"/>
            </a:blip>
            <a:stretch>
              <a:fillRect b="-14013" l="-254915" r="-254915" t="-4147"/>
            </a:stretch>
          </a:blipFill>
          <a:ln>
            <a:noFill/>
          </a:ln>
        </p:spPr>
      </p:sp>
      <p:sp>
        <p:nvSpPr>
          <p:cNvPr id="252" name="Google Shape;252;p16"/>
          <p:cNvSpPr txBox="1"/>
          <p:nvPr/>
        </p:nvSpPr>
        <p:spPr>
          <a:xfrm>
            <a:off x="195814" y="4632013"/>
            <a:ext cx="7215068" cy="656023"/>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1" i="0" lang="en-US" sz="3797" u="none" cap="none" strike="noStrike">
                <a:solidFill>
                  <a:srgbClr val="000000"/>
                </a:solidFill>
                <a:latin typeface="Alice"/>
                <a:ea typeface="Alice"/>
                <a:cs typeface="Alice"/>
                <a:sym typeface="Alice"/>
              </a:rPr>
              <a:t>H(jkω0) = ∫-∞∞ h(t) e−jkω0t dt</a:t>
            </a:r>
            <a:endParaRPr/>
          </a:p>
        </p:txBody>
      </p:sp>
      <p:sp>
        <p:nvSpPr>
          <p:cNvPr id="253" name="Google Shape;253;p16"/>
          <p:cNvSpPr/>
          <p:nvPr/>
        </p:nvSpPr>
        <p:spPr>
          <a:xfrm>
            <a:off x="4415352" y="7555862"/>
            <a:ext cx="1259604" cy="357270"/>
          </a:xfrm>
          <a:custGeom>
            <a:rect b="b" l="l" r="r" t="t"/>
            <a:pathLst>
              <a:path extrusionOk="0" h="357270" w="1259604">
                <a:moveTo>
                  <a:pt x="0" y="0"/>
                </a:moveTo>
                <a:lnTo>
                  <a:pt x="1259604" y="0"/>
                </a:lnTo>
                <a:lnTo>
                  <a:pt x="1259604" y="357269"/>
                </a:lnTo>
                <a:lnTo>
                  <a:pt x="0" y="357269"/>
                </a:lnTo>
                <a:lnTo>
                  <a:pt x="0" y="0"/>
                </a:lnTo>
                <a:close/>
              </a:path>
            </a:pathLst>
          </a:custGeom>
          <a:blipFill rotWithShape="1">
            <a:blip r:embed="rId6">
              <a:alphaModFix/>
            </a:blip>
            <a:stretch>
              <a:fillRect b="0" l="0" r="0" t="0"/>
            </a:stretch>
          </a:blipFill>
          <a:ln>
            <a:noFill/>
          </a:ln>
        </p:spPr>
      </p:sp>
      <p:sp>
        <p:nvSpPr>
          <p:cNvPr id="254" name="Google Shape;254;p16"/>
          <p:cNvSpPr txBox="1"/>
          <p:nvPr/>
        </p:nvSpPr>
        <p:spPr>
          <a:xfrm>
            <a:off x="4783336" y="353627"/>
            <a:ext cx="8721328" cy="863669"/>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997" u="sng" cap="none" strike="noStrike">
                <a:solidFill>
                  <a:srgbClr val="000000"/>
                </a:solidFill>
                <a:latin typeface="Alice"/>
                <a:ea typeface="Alice"/>
                <a:cs typeface="Alice"/>
                <a:sym typeface="Alice"/>
              </a:rPr>
              <a:t>Fourier Series and LTI Systems</a:t>
            </a:r>
            <a:endParaRPr/>
          </a:p>
        </p:txBody>
      </p:sp>
      <p:sp>
        <p:nvSpPr>
          <p:cNvPr id="255" name="Google Shape;255;p16"/>
          <p:cNvSpPr txBox="1"/>
          <p:nvPr/>
        </p:nvSpPr>
        <p:spPr>
          <a:xfrm>
            <a:off x="0" y="1479022"/>
            <a:ext cx="18288000" cy="101924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97" u="none" cap="none" strike="noStrike">
                <a:solidFill>
                  <a:srgbClr val="000000"/>
                </a:solidFill>
                <a:latin typeface="Arial"/>
                <a:ea typeface="Arial"/>
                <a:cs typeface="Arial"/>
                <a:sym typeface="Arial"/>
              </a:rPr>
              <a:t>Complex exponentials are eigenfunctions of any LTI system. If the input is est, the output is H(s)·est — same shape, scaled by the system's eigenvalue H(s).</a:t>
            </a:r>
            <a:endParaRPr/>
          </a:p>
        </p:txBody>
      </p:sp>
      <p:sp>
        <p:nvSpPr>
          <p:cNvPr id="256" name="Google Shape;256;p16"/>
          <p:cNvSpPr txBox="1"/>
          <p:nvPr/>
        </p:nvSpPr>
        <p:spPr>
          <a:xfrm>
            <a:off x="195832" y="3063175"/>
            <a:ext cx="8329200" cy="4614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2997" u="none" cap="none" strike="noStrike">
                <a:solidFill>
                  <a:srgbClr val="000000"/>
                </a:solidFill>
                <a:latin typeface="Alice"/>
                <a:ea typeface="Alice"/>
                <a:cs typeface="Alice"/>
                <a:sym typeface="Alice"/>
              </a:rPr>
              <a:t>EIGEN FUNCTION PROPERTY</a:t>
            </a:r>
            <a:endParaRPr/>
          </a:p>
        </p:txBody>
      </p:sp>
      <p:sp>
        <p:nvSpPr>
          <p:cNvPr id="257" name="Google Shape;257;p16"/>
          <p:cNvSpPr txBox="1"/>
          <p:nvPr/>
        </p:nvSpPr>
        <p:spPr>
          <a:xfrm>
            <a:off x="195814" y="3844302"/>
            <a:ext cx="8752404" cy="656023"/>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1" i="0" lang="en-US" sz="3797" u="none" cap="none" strike="noStrike">
                <a:solidFill>
                  <a:srgbClr val="000000"/>
                </a:solidFill>
                <a:latin typeface="Alice"/>
                <a:ea typeface="Alice"/>
                <a:cs typeface="Alice"/>
                <a:sym typeface="Alice"/>
              </a:rPr>
              <a:t>ejkω0t → LTI System → H(jkω0)·ejkω0t</a:t>
            </a:r>
            <a:endParaRPr/>
          </a:p>
        </p:txBody>
      </p:sp>
      <p:sp>
        <p:nvSpPr>
          <p:cNvPr id="258" name="Google Shape;258;p16"/>
          <p:cNvSpPr txBox="1"/>
          <p:nvPr/>
        </p:nvSpPr>
        <p:spPr>
          <a:xfrm>
            <a:off x="0" y="5476875"/>
            <a:ext cx="9628722" cy="297247"/>
          </a:xfrm>
          <a:prstGeom prst="rect">
            <a:avLst/>
          </a:prstGeom>
          <a:noFill/>
          <a:ln>
            <a:noFill/>
          </a:ln>
        </p:spPr>
        <p:txBody>
          <a:bodyPr anchorCtr="0" anchor="t" bIns="0" lIns="0" spcFirstLastPara="1" rIns="0" wrap="square" tIns="0">
            <a:spAutoFit/>
          </a:bodyPr>
          <a:lstStyle/>
          <a:p>
            <a:pPr indent="0" lvl="0" marL="0" marR="0" rtl="0" algn="ctr">
              <a:lnSpc>
                <a:spcPct val="140089"/>
              </a:lnSpc>
              <a:spcBef>
                <a:spcPts val="0"/>
              </a:spcBef>
              <a:spcAft>
                <a:spcPts val="0"/>
              </a:spcAft>
              <a:buNone/>
            </a:pPr>
            <a:r>
              <a:rPr b="0" i="1" lang="en-US" sz="1797" u="none" cap="none" strike="noStrike">
                <a:solidFill>
                  <a:srgbClr val="000000"/>
                </a:solidFill>
                <a:latin typeface="Sansita"/>
                <a:ea typeface="Sansita"/>
                <a:cs typeface="Sansita"/>
                <a:sym typeface="Sansita"/>
              </a:rPr>
              <a:t>H(jkω0) is the system's frequency response, evaluated at the harmonic frequencies</a:t>
            </a:r>
            <a:endParaRPr/>
          </a:p>
        </p:txBody>
      </p:sp>
      <p:sp>
        <p:nvSpPr>
          <p:cNvPr id="259" name="Google Shape;259;p16"/>
          <p:cNvSpPr txBox="1"/>
          <p:nvPr/>
        </p:nvSpPr>
        <p:spPr>
          <a:xfrm>
            <a:off x="10105775" y="3053650"/>
            <a:ext cx="8055600" cy="461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000" u="none" cap="none" strike="noStrike">
                <a:solidFill>
                  <a:srgbClr val="000000"/>
                </a:solidFill>
                <a:latin typeface="Alice"/>
                <a:ea typeface="Alice"/>
                <a:cs typeface="Alice"/>
                <a:sym typeface="Alice"/>
              </a:rPr>
              <a:t>RESPONSE TO A PERIODIC INPUT</a:t>
            </a:r>
            <a:endParaRPr/>
          </a:p>
        </p:txBody>
      </p:sp>
      <p:sp>
        <p:nvSpPr>
          <p:cNvPr id="260" name="Google Shape;260;p16"/>
          <p:cNvSpPr txBox="1"/>
          <p:nvPr/>
        </p:nvSpPr>
        <p:spPr>
          <a:xfrm>
            <a:off x="8092350" y="3583358"/>
            <a:ext cx="8752404" cy="656023"/>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1" i="0" lang="en-US" sz="3797" u="none" cap="none" strike="noStrike">
                <a:solidFill>
                  <a:srgbClr val="000000"/>
                </a:solidFill>
                <a:latin typeface="Alice"/>
                <a:ea typeface="Alice"/>
                <a:cs typeface="Alice"/>
                <a:sym typeface="Alice"/>
              </a:rPr>
              <a:t>If x(t) = ∑k ak ejkω0t</a:t>
            </a:r>
            <a:endParaRPr/>
          </a:p>
        </p:txBody>
      </p:sp>
      <p:sp>
        <p:nvSpPr>
          <p:cNvPr id="261" name="Google Shape;261;p16"/>
          <p:cNvSpPr txBox="1"/>
          <p:nvPr/>
        </p:nvSpPr>
        <p:spPr>
          <a:xfrm>
            <a:off x="10105776" y="4414600"/>
            <a:ext cx="7201614" cy="656023"/>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1" i="0" lang="en-US" sz="3797" u="none" cap="none" strike="noStrike">
                <a:solidFill>
                  <a:srgbClr val="000000"/>
                </a:solidFill>
                <a:latin typeface="Alice"/>
                <a:ea typeface="Alice"/>
                <a:cs typeface="Alice"/>
                <a:sym typeface="Alice"/>
              </a:rPr>
              <a:t>then y(t) = ∑k ak H(jkω0) ejkω0t</a:t>
            </a:r>
            <a:endParaRPr/>
          </a:p>
        </p:txBody>
      </p:sp>
      <p:sp>
        <p:nvSpPr>
          <p:cNvPr id="262" name="Google Shape;262;p16"/>
          <p:cNvSpPr txBox="1"/>
          <p:nvPr/>
        </p:nvSpPr>
        <p:spPr>
          <a:xfrm>
            <a:off x="9949261" y="5153092"/>
            <a:ext cx="8211954" cy="62103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1" lang="en-US" sz="1800" u="none" cap="none" strike="noStrike">
                <a:solidFill>
                  <a:srgbClr val="000000"/>
                </a:solidFill>
                <a:latin typeface="Alice"/>
                <a:ea typeface="Alice"/>
                <a:cs typeface="Alice"/>
                <a:sym typeface="Alice"/>
              </a:rPr>
              <a:t>The output is periodic with the SAME period; each coefficient is scaled by H at that harmonic</a:t>
            </a:r>
            <a:endParaRPr/>
          </a:p>
        </p:txBody>
      </p:sp>
      <p:sp>
        <p:nvSpPr>
          <p:cNvPr id="263" name="Google Shape;263;p16"/>
          <p:cNvSpPr txBox="1"/>
          <p:nvPr/>
        </p:nvSpPr>
        <p:spPr>
          <a:xfrm>
            <a:off x="405245" y="6194455"/>
            <a:ext cx="4273868" cy="679518"/>
          </a:xfrm>
          <a:prstGeom prst="rect">
            <a:avLst/>
          </a:prstGeom>
          <a:noFill/>
          <a:ln>
            <a:noFill/>
          </a:ln>
        </p:spPr>
        <p:txBody>
          <a:bodyPr anchorCtr="0" anchor="t" bIns="0" lIns="0" spcFirstLastPara="1" rIns="0" wrap="square" tIns="0">
            <a:spAutoFit/>
          </a:bodyPr>
          <a:lstStyle/>
          <a:p>
            <a:pPr indent="0" lvl="0" marL="0" marR="0" rtl="0" algn="ctr">
              <a:lnSpc>
                <a:spcPct val="140005"/>
              </a:lnSpc>
              <a:spcBef>
                <a:spcPts val="0"/>
              </a:spcBef>
              <a:spcAft>
                <a:spcPts val="0"/>
              </a:spcAft>
              <a:buNone/>
            </a:pPr>
            <a:r>
              <a:rPr b="1" i="0" lang="en-US" sz="3997" u="none" cap="none" strike="noStrike">
                <a:solidFill>
                  <a:srgbClr val="000000"/>
                </a:solidFill>
                <a:latin typeface="Alice"/>
                <a:ea typeface="Alice"/>
                <a:cs typeface="Alice"/>
                <a:sym typeface="Alice"/>
              </a:rPr>
              <a:t>System Block View</a:t>
            </a:r>
            <a:endParaRPr/>
          </a:p>
        </p:txBody>
      </p:sp>
      <p:sp>
        <p:nvSpPr>
          <p:cNvPr id="264" name="Google Shape;264;p16"/>
          <p:cNvSpPr/>
          <p:nvPr/>
        </p:nvSpPr>
        <p:spPr>
          <a:xfrm>
            <a:off x="11072767" y="7594630"/>
            <a:ext cx="1259604" cy="357270"/>
          </a:xfrm>
          <a:custGeom>
            <a:rect b="b" l="l" r="r" t="t"/>
            <a:pathLst>
              <a:path extrusionOk="0" h="357270" w="1259604">
                <a:moveTo>
                  <a:pt x="0" y="0"/>
                </a:moveTo>
                <a:lnTo>
                  <a:pt x="1259605" y="0"/>
                </a:lnTo>
                <a:lnTo>
                  <a:pt x="1259605" y="357270"/>
                </a:lnTo>
                <a:lnTo>
                  <a:pt x="0" y="357270"/>
                </a:lnTo>
                <a:lnTo>
                  <a:pt x="0" y="0"/>
                </a:lnTo>
                <a:close/>
              </a:path>
            </a:pathLst>
          </a:custGeom>
          <a:blipFill rotWithShape="1">
            <a:blip r:embed="rId6">
              <a:alphaModFix/>
            </a:blip>
            <a:stretch>
              <a:fillRect b="0" l="0" r="0" t="0"/>
            </a:stretch>
          </a:blipFill>
          <a:ln>
            <a:noFill/>
          </a:ln>
        </p:spPr>
      </p:sp>
      <p:sp>
        <p:nvSpPr>
          <p:cNvPr id="265" name="Google Shape;265;p16"/>
          <p:cNvSpPr txBox="1"/>
          <p:nvPr/>
        </p:nvSpPr>
        <p:spPr>
          <a:xfrm>
            <a:off x="988695" y="7145754"/>
            <a:ext cx="2396014" cy="1028768"/>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2997" u="none" cap="none" strike="noStrike">
                <a:solidFill>
                  <a:srgbClr val="000000"/>
                </a:solidFill>
                <a:latin typeface="Alice"/>
                <a:ea typeface="Alice"/>
                <a:cs typeface="Alice"/>
                <a:sym typeface="Alice"/>
              </a:rPr>
              <a:t>x(t)</a:t>
            </a:r>
            <a:endParaRPr/>
          </a:p>
          <a:p>
            <a:pPr indent="0" lvl="0" marL="0" marR="0" rtl="0" algn="ctr">
              <a:lnSpc>
                <a:spcPct val="140006"/>
              </a:lnSpc>
              <a:spcBef>
                <a:spcPts val="0"/>
              </a:spcBef>
              <a:spcAft>
                <a:spcPts val="0"/>
              </a:spcAft>
              <a:buNone/>
            </a:pPr>
            <a:r>
              <a:rPr b="1" i="0" lang="en-US" sz="2997" u="none" cap="none" strike="noStrike">
                <a:solidFill>
                  <a:srgbClr val="000000"/>
                </a:solidFill>
                <a:latin typeface="Alice"/>
                <a:ea typeface="Alice"/>
                <a:cs typeface="Alice"/>
                <a:sym typeface="Alice"/>
              </a:rPr>
              <a:t>= Σ ak e jkω0t</a:t>
            </a:r>
            <a:endParaRPr/>
          </a:p>
        </p:txBody>
      </p:sp>
      <p:sp>
        <p:nvSpPr>
          <p:cNvPr id="266" name="Google Shape;266;p16"/>
          <p:cNvSpPr txBox="1"/>
          <p:nvPr/>
        </p:nvSpPr>
        <p:spPr>
          <a:xfrm>
            <a:off x="7376476" y="7166000"/>
            <a:ext cx="2729400" cy="1107300"/>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2997" u="none" cap="none" strike="noStrike">
                <a:solidFill>
                  <a:srgbClr val="000000"/>
                </a:solidFill>
                <a:latin typeface="Alice"/>
                <a:ea typeface="Alice"/>
                <a:cs typeface="Alice"/>
                <a:sym typeface="Alice"/>
              </a:rPr>
              <a:t>LTI SYSTEM</a:t>
            </a:r>
            <a:endParaRPr/>
          </a:p>
          <a:p>
            <a:pPr indent="0" lvl="0" marL="0" marR="0" rtl="0" algn="ctr">
              <a:lnSpc>
                <a:spcPct val="140006"/>
              </a:lnSpc>
              <a:spcBef>
                <a:spcPts val="0"/>
              </a:spcBef>
              <a:spcAft>
                <a:spcPts val="0"/>
              </a:spcAft>
              <a:buNone/>
            </a:pPr>
            <a:r>
              <a:rPr b="1" i="0" lang="en-US" sz="2997" u="none" cap="none" strike="noStrike">
                <a:solidFill>
                  <a:srgbClr val="000000"/>
                </a:solidFill>
                <a:latin typeface="Alice"/>
                <a:ea typeface="Alice"/>
                <a:cs typeface="Alice"/>
                <a:sym typeface="Alice"/>
              </a:rPr>
              <a:t>h(t), H(jω)</a:t>
            </a:r>
            <a:endParaRPr/>
          </a:p>
        </p:txBody>
      </p:sp>
      <p:sp>
        <p:nvSpPr>
          <p:cNvPr id="267" name="Google Shape;267;p16"/>
          <p:cNvSpPr txBox="1"/>
          <p:nvPr/>
        </p:nvSpPr>
        <p:spPr>
          <a:xfrm>
            <a:off x="13123865" y="7199793"/>
            <a:ext cx="3887272" cy="1028768"/>
          </a:xfrm>
          <a:prstGeom prst="rect">
            <a:avLst/>
          </a:prstGeom>
          <a:noFill/>
          <a:ln>
            <a:noFill/>
          </a:ln>
        </p:spPr>
        <p:txBody>
          <a:bodyPr anchorCtr="0" anchor="t" bIns="0" lIns="0" spcFirstLastPara="1" rIns="0" wrap="square" tIns="0">
            <a:spAutoFit/>
          </a:bodyPr>
          <a:lstStyle/>
          <a:p>
            <a:pPr indent="0" lvl="0" marL="0" marR="0" rtl="0" algn="ctr">
              <a:lnSpc>
                <a:spcPct val="140006"/>
              </a:lnSpc>
              <a:spcBef>
                <a:spcPts val="0"/>
              </a:spcBef>
              <a:spcAft>
                <a:spcPts val="0"/>
              </a:spcAft>
              <a:buNone/>
            </a:pPr>
            <a:r>
              <a:rPr b="1" i="0" lang="en-US" sz="2997" u="none" cap="none" strike="noStrike">
                <a:solidFill>
                  <a:srgbClr val="000000"/>
                </a:solidFill>
                <a:latin typeface="Alice"/>
                <a:ea typeface="Alice"/>
                <a:cs typeface="Alice"/>
                <a:sym typeface="Alice"/>
              </a:rPr>
              <a:t>y(t)</a:t>
            </a:r>
            <a:endParaRPr/>
          </a:p>
          <a:p>
            <a:pPr indent="0" lvl="0" marL="0" marR="0" rtl="0" algn="ctr">
              <a:lnSpc>
                <a:spcPct val="140006"/>
              </a:lnSpc>
              <a:spcBef>
                <a:spcPts val="0"/>
              </a:spcBef>
              <a:spcAft>
                <a:spcPts val="0"/>
              </a:spcAft>
              <a:buNone/>
            </a:pPr>
            <a:r>
              <a:rPr b="1" i="0" lang="en-US" sz="2997" u="none" cap="none" strike="noStrike">
                <a:solidFill>
                  <a:srgbClr val="000000"/>
                </a:solidFill>
                <a:latin typeface="Alice"/>
                <a:ea typeface="Alice"/>
                <a:cs typeface="Alice"/>
                <a:sym typeface="Alice"/>
              </a:rPr>
              <a:t>= Σ ak H(jkω0) e jkω0t</a:t>
            </a:r>
            <a:endParaRPr/>
          </a:p>
        </p:txBody>
      </p:sp>
      <p:sp>
        <p:nvSpPr>
          <p:cNvPr id="268" name="Google Shape;268;p16"/>
          <p:cNvSpPr txBox="1"/>
          <p:nvPr/>
        </p:nvSpPr>
        <p:spPr>
          <a:xfrm>
            <a:off x="512341" y="8857672"/>
            <a:ext cx="18288000" cy="1028768"/>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1" i="1" lang="en-US" sz="2997" u="none" cap="none" strike="noStrike">
                <a:solidFill>
                  <a:srgbClr val="000000"/>
                </a:solidFill>
                <a:latin typeface="Arial"/>
                <a:ea typeface="Arial"/>
                <a:cs typeface="Arial"/>
                <a:sym typeface="Arial"/>
              </a:rPr>
              <a:t>This is the basis of frequency-domain analysis: filtering, frequency response design, and spectral shaping all rely on this relationship.</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17"/>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274" name="Google Shape;274;p17"/>
          <p:cNvSpPr txBox="1"/>
          <p:nvPr/>
        </p:nvSpPr>
        <p:spPr>
          <a:xfrm>
            <a:off x="7646789" y="353627"/>
            <a:ext cx="2994422" cy="814139"/>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697" u="sng" cap="none" strike="noStrike">
                <a:solidFill>
                  <a:srgbClr val="000000"/>
                </a:solidFill>
                <a:latin typeface="Alice"/>
                <a:ea typeface="Alice"/>
                <a:cs typeface="Alice"/>
                <a:sym typeface="Alice"/>
              </a:rPr>
              <a:t>FILTERING</a:t>
            </a:r>
            <a:endParaRPr/>
          </a:p>
        </p:txBody>
      </p:sp>
      <p:sp>
        <p:nvSpPr>
          <p:cNvPr id="275" name="Google Shape;275;p17"/>
          <p:cNvSpPr txBox="1"/>
          <p:nvPr/>
        </p:nvSpPr>
        <p:spPr>
          <a:xfrm>
            <a:off x="152974" y="1744531"/>
            <a:ext cx="17552344" cy="5559493"/>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None/>
            </a:pPr>
            <a:r>
              <a:rPr b="0" i="0" lang="en-US" sz="3497" u="none" cap="none" strike="noStrike">
                <a:solidFill>
                  <a:srgbClr val="000000"/>
                </a:solidFill>
                <a:latin typeface="Alice"/>
                <a:ea typeface="Alice"/>
                <a:cs typeface="Alice"/>
                <a:sym typeface="Alice"/>
              </a:rPr>
              <a:t>It is of interest to change the relative amplitudes of the frequency components in a signal or perhaps eliminate some frequency components entirely, a process referred to as filtering. </a:t>
            </a:r>
            <a:endParaRPr/>
          </a:p>
          <a:p>
            <a:pPr indent="0" lvl="0" marL="0" marR="0" rtl="0" algn="l">
              <a:lnSpc>
                <a:spcPct val="140005"/>
              </a:lnSpc>
              <a:spcBef>
                <a:spcPts val="0"/>
              </a:spcBef>
              <a:spcAft>
                <a:spcPts val="0"/>
              </a:spcAft>
              <a:buNone/>
            </a:pPr>
            <a:r>
              <a:t/>
            </a:r>
            <a:endParaRPr b="0" i="0" sz="3497" u="none" cap="none" strike="noStrike">
              <a:solidFill>
                <a:srgbClr val="000000"/>
              </a:solidFill>
              <a:latin typeface="Alice"/>
              <a:ea typeface="Alice"/>
              <a:cs typeface="Alice"/>
              <a:sym typeface="Alice"/>
            </a:endParaRPr>
          </a:p>
          <a:p>
            <a:pPr indent="0" lvl="0" marL="0" marR="0" rtl="0" algn="l">
              <a:lnSpc>
                <a:spcPct val="140005"/>
              </a:lnSpc>
              <a:spcBef>
                <a:spcPts val="0"/>
              </a:spcBef>
              <a:spcAft>
                <a:spcPts val="0"/>
              </a:spcAft>
              <a:buNone/>
            </a:pPr>
            <a:r>
              <a:rPr b="0" i="0" lang="en-US" sz="3497" u="none" cap="none" strike="noStrike">
                <a:solidFill>
                  <a:srgbClr val="000000"/>
                </a:solidFill>
                <a:latin typeface="Alice"/>
                <a:ea typeface="Alice"/>
                <a:cs typeface="Alice"/>
                <a:sym typeface="Alice"/>
              </a:rPr>
              <a:t>Linear time-invariant systems that change the shape of the spectrum are often referred to as </a:t>
            </a:r>
            <a:r>
              <a:rPr b="1" i="0" lang="en-US" sz="3497" u="none" cap="none" strike="noStrike">
                <a:solidFill>
                  <a:srgbClr val="000000"/>
                </a:solidFill>
                <a:latin typeface="Alice"/>
                <a:ea typeface="Alice"/>
                <a:cs typeface="Alice"/>
                <a:sym typeface="Alice"/>
              </a:rPr>
              <a:t>frequency-shaping filters.</a:t>
            </a:r>
            <a:r>
              <a:rPr b="0" i="0" lang="en-US" sz="3497" u="none" cap="none" strike="noStrike">
                <a:solidFill>
                  <a:srgbClr val="000000"/>
                </a:solidFill>
                <a:latin typeface="Alice"/>
                <a:ea typeface="Alice"/>
                <a:cs typeface="Alice"/>
                <a:sym typeface="Alice"/>
              </a:rPr>
              <a:t> </a:t>
            </a:r>
            <a:endParaRPr/>
          </a:p>
          <a:p>
            <a:pPr indent="0" lvl="0" marL="0" marR="0" rtl="0" algn="l">
              <a:lnSpc>
                <a:spcPct val="140005"/>
              </a:lnSpc>
              <a:spcBef>
                <a:spcPts val="0"/>
              </a:spcBef>
              <a:spcAft>
                <a:spcPts val="0"/>
              </a:spcAft>
              <a:buNone/>
            </a:pPr>
            <a:r>
              <a:t/>
            </a:r>
            <a:endParaRPr b="0" i="0" sz="3497" u="none" cap="none" strike="noStrike">
              <a:solidFill>
                <a:srgbClr val="000000"/>
              </a:solidFill>
              <a:latin typeface="Alice"/>
              <a:ea typeface="Alice"/>
              <a:cs typeface="Alice"/>
              <a:sym typeface="Alice"/>
            </a:endParaRPr>
          </a:p>
          <a:p>
            <a:pPr indent="0" lvl="0" marL="0" marR="0" rtl="0" algn="l">
              <a:lnSpc>
                <a:spcPct val="140005"/>
              </a:lnSpc>
              <a:spcBef>
                <a:spcPts val="0"/>
              </a:spcBef>
              <a:spcAft>
                <a:spcPts val="0"/>
              </a:spcAft>
              <a:buNone/>
            </a:pPr>
            <a:r>
              <a:rPr b="0" i="0" lang="en-US" sz="3497" u="none" cap="none" strike="noStrike">
                <a:solidFill>
                  <a:srgbClr val="000000"/>
                </a:solidFill>
                <a:latin typeface="Alice"/>
                <a:ea typeface="Alice"/>
                <a:cs typeface="Alice"/>
                <a:sym typeface="Alice"/>
              </a:rPr>
              <a:t>Systems that are designed to pass some frequencies essentially undistorted and significantly attenuate or eliminate others are referred to as </a:t>
            </a:r>
            <a:r>
              <a:rPr b="1" i="0" lang="en-US" sz="3497" u="none" cap="none" strike="noStrike">
                <a:solidFill>
                  <a:srgbClr val="000000"/>
                </a:solidFill>
                <a:latin typeface="Alice"/>
                <a:ea typeface="Alice"/>
                <a:cs typeface="Alice"/>
                <a:sym typeface="Alice"/>
              </a:rPr>
              <a:t>frequency-selective filters.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8"/>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281" name="Google Shape;281;p18"/>
          <p:cNvSpPr txBox="1"/>
          <p:nvPr/>
        </p:nvSpPr>
        <p:spPr>
          <a:xfrm>
            <a:off x="7646789" y="353627"/>
            <a:ext cx="2994422" cy="814139"/>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n-US" sz="4697" u="sng" cap="none" strike="noStrike">
                <a:solidFill>
                  <a:srgbClr val="000000"/>
                </a:solidFill>
                <a:latin typeface="Alice"/>
                <a:ea typeface="Alice"/>
                <a:cs typeface="Alice"/>
                <a:sym typeface="Alice"/>
              </a:rPr>
              <a:t>FILTERING</a:t>
            </a:r>
            <a:endParaRPr/>
          </a:p>
        </p:txBody>
      </p:sp>
      <p:sp>
        <p:nvSpPr>
          <p:cNvPr id="282" name="Google Shape;282;p18"/>
          <p:cNvSpPr txBox="1"/>
          <p:nvPr/>
        </p:nvSpPr>
        <p:spPr>
          <a:xfrm>
            <a:off x="196680" y="2072332"/>
            <a:ext cx="17552344" cy="4940368"/>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None/>
            </a:pPr>
            <a:r>
              <a:rPr b="0" i="0" lang="en-US" sz="3497" u="none" cap="none" strike="noStrike">
                <a:solidFill>
                  <a:srgbClr val="000000"/>
                </a:solidFill>
                <a:latin typeface="Alice"/>
                <a:ea typeface="Alice"/>
                <a:cs typeface="Alice"/>
                <a:sym typeface="Alice"/>
              </a:rPr>
              <a:t>EXAMPLES OF CONTINUOUS-TIME FILTERS DESCRIBED BY DIFFERENTIAL EQUATIONS:</a:t>
            </a:r>
            <a:endParaRPr/>
          </a:p>
          <a:p>
            <a:pPr indent="-377535" lvl="1" marL="755071" marR="0" rtl="0" algn="l">
              <a:lnSpc>
                <a:spcPct val="140005"/>
              </a:lnSpc>
              <a:spcBef>
                <a:spcPts val="0"/>
              </a:spcBef>
              <a:spcAft>
                <a:spcPts val="0"/>
              </a:spcAft>
              <a:buClr>
                <a:srgbClr val="000000"/>
              </a:buClr>
              <a:buSzPts val="3497"/>
              <a:buFont typeface="Arial"/>
              <a:buChar char="•"/>
            </a:pPr>
            <a:r>
              <a:rPr b="0" i="0" lang="en-US" sz="3497" u="none" cap="none" strike="noStrike">
                <a:solidFill>
                  <a:srgbClr val="000000"/>
                </a:solidFill>
                <a:latin typeface="Alice"/>
                <a:ea typeface="Alice"/>
                <a:cs typeface="Alice"/>
                <a:sym typeface="Alice"/>
              </a:rPr>
              <a:t>A Simple RC Lowpass Filter  </a:t>
            </a:r>
            <a:endParaRPr/>
          </a:p>
          <a:p>
            <a:pPr indent="-377535" lvl="1" marL="755071" marR="0" rtl="0" algn="l">
              <a:lnSpc>
                <a:spcPct val="140005"/>
              </a:lnSpc>
              <a:spcBef>
                <a:spcPts val="0"/>
              </a:spcBef>
              <a:spcAft>
                <a:spcPts val="0"/>
              </a:spcAft>
              <a:buClr>
                <a:srgbClr val="000000"/>
              </a:buClr>
              <a:buSzPts val="3497"/>
              <a:buFont typeface="Arial"/>
              <a:buChar char="•"/>
            </a:pPr>
            <a:r>
              <a:rPr b="0" i="0" lang="en-US" sz="3497" u="none" cap="none" strike="noStrike">
                <a:solidFill>
                  <a:srgbClr val="000000"/>
                </a:solidFill>
                <a:latin typeface="Alice"/>
                <a:ea typeface="Alice"/>
                <a:cs typeface="Alice"/>
                <a:sym typeface="Alice"/>
              </a:rPr>
              <a:t>A Simple RC Highpass Filter </a:t>
            </a:r>
            <a:endParaRPr/>
          </a:p>
          <a:p>
            <a:pPr indent="0" lvl="0" marL="0" marR="0" rtl="0" algn="l">
              <a:lnSpc>
                <a:spcPct val="140005"/>
              </a:lnSpc>
              <a:spcBef>
                <a:spcPts val="0"/>
              </a:spcBef>
              <a:spcAft>
                <a:spcPts val="0"/>
              </a:spcAft>
              <a:buNone/>
            </a:pPr>
            <a:r>
              <a:t/>
            </a:r>
            <a:endParaRPr b="0" i="0" sz="3497" u="none" cap="none" strike="noStrike">
              <a:solidFill>
                <a:srgbClr val="000000"/>
              </a:solidFill>
              <a:latin typeface="Alice"/>
              <a:ea typeface="Alice"/>
              <a:cs typeface="Alice"/>
              <a:sym typeface="Alice"/>
            </a:endParaRPr>
          </a:p>
          <a:p>
            <a:pPr indent="0" lvl="0" marL="0" marR="0" rtl="0" algn="l">
              <a:lnSpc>
                <a:spcPct val="140005"/>
              </a:lnSpc>
              <a:spcBef>
                <a:spcPts val="0"/>
              </a:spcBef>
              <a:spcAft>
                <a:spcPts val="0"/>
              </a:spcAft>
              <a:buNone/>
            </a:pPr>
            <a:r>
              <a:rPr b="0" i="0" lang="en-US" sz="3497" u="none" cap="none" strike="noStrike">
                <a:solidFill>
                  <a:srgbClr val="000000"/>
                </a:solidFill>
                <a:latin typeface="Alice"/>
                <a:ea typeface="Alice"/>
                <a:cs typeface="Alice"/>
                <a:sym typeface="Alice"/>
              </a:rPr>
              <a:t>EXAMPLES OF DISCRETE-TIME FILTERS DESCRIBED BY DIFFERENCE EQUATIONS :</a:t>
            </a:r>
            <a:endParaRPr/>
          </a:p>
          <a:p>
            <a:pPr indent="-377535" lvl="1" marL="755071" marR="0" rtl="0" algn="l">
              <a:lnSpc>
                <a:spcPct val="140005"/>
              </a:lnSpc>
              <a:spcBef>
                <a:spcPts val="0"/>
              </a:spcBef>
              <a:spcAft>
                <a:spcPts val="0"/>
              </a:spcAft>
              <a:buClr>
                <a:srgbClr val="000000"/>
              </a:buClr>
              <a:buSzPts val="3497"/>
              <a:buFont typeface="Arial"/>
              <a:buChar char="•"/>
            </a:pPr>
            <a:r>
              <a:rPr b="0" i="0" lang="en-US" sz="3497" u="none" cap="none" strike="noStrike">
                <a:solidFill>
                  <a:srgbClr val="000000"/>
                </a:solidFill>
                <a:latin typeface="Alice"/>
                <a:ea typeface="Alice"/>
                <a:cs typeface="Alice"/>
                <a:sym typeface="Alice"/>
              </a:rPr>
              <a:t>First-Order Recursive Discrete-Time Filters </a:t>
            </a:r>
            <a:endParaRPr/>
          </a:p>
          <a:p>
            <a:pPr indent="-377535" lvl="1" marL="755071" marR="0" rtl="0" algn="l">
              <a:lnSpc>
                <a:spcPct val="140005"/>
              </a:lnSpc>
              <a:spcBef>
                <a:spcPts val="0"/>
              </a:spcBef>
              <a:spcAft>
                <a:spcPts val="0"/>
              </a:spcAft>
              <a:buClr>
                <a:srgbClr val="000000"/>
              </a:buClr>
              <a:buSzPts val="3497"/>
              <a:buFont typeface="Arial"/>
              <a:buChar char="•"/>
            </a:pPr>
            <a:r>
              <a:rPr b="0" i="0" lang="en-US" sz="3497" u="none" cap="none" strike="noStrike">
                <a:solidFill>
                  <a:srgbClr val="000000"/>
                </a:solidFill>
                <a:latin typeface="Alice"/>
                <a:ea typeface="Alice"/>
                <a:cs typeface="Alice"/>
                <a:sym typeface="Alice"/>
              </a:rPr>
              <a:t>Nonrecursive Discrete-Time Filters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9"/>
          <p:cNvSpPr/>
          <p:nvPr/>
        </p:nvSpPr>
        <p:spPr>
          <a:xfrm>
            <a:off x="0" y="0"/>
            <a:ext cx="18481058" cy="10580406"/>
          </a:xfrm>
          <a:custGeom>
            <a:rect b="b" l="l" r="r" t="t"/>
            <a:pathLst>
              <a:path extrusionOk="0" h="10580406" w="18481058">
                <a:moveTo>
                  <a:pt x="0" y="0"/>
                </a:moveTo>
                <a:lnTo>
                  <a:pt x="18481058" y="0"/>
                </a:lnTo>
                <a:lnTo>
                  <a:pt x="18481058" y="10580406"/>
                </a:lnTo>
                <a:lnTo>
                  <a:pt x="0" y="10580406"/>
                </a:lnTo>
                <a:lnTo>
                  <a:pt x="0" y="0"/>
                </a:lnTo>
                <a:close/>
              </a:path>
            </a:pathLst>
          </a:custGeom>
          <a:blipFill rotWithShape="1">
            <a:blip r:embed="rId3">
              <a:alphaModFix/>
            </a:blip>
            <a:stretch>
              <a:fillRect b="0" l="0" r="0" t="0"/>
            </a:stretch>
          </a:blipFill>
          <a:ln>
            <a:noFill/>
          </a:ln>
        </p:spPr>
      </p:sp>
      <p:sp>
        <p:nvSpPr>
          <p:cNvPr id="288" name="Google Shape;288;p19"/>
          <p:cNvSpPr txBox="1"/>
          <p:nvPr/>
        </p:nvSpPr>
        <p:spPr>
          <a:xfrm>
            <a:off x="6457117" y="3695030"/>
            <a:ext cx="5373900" cy="307050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897" u="none" cap="none" strike="noStrike">
                <a:solidFill>
                  <a:srgbClr val="000000"/>
                </a:solidFill>
                <a:latin typeface="Poppins"/>
                <a:ea typeface="Poppins"/>
                <a:cs typeface="Poppins"/>
                <a:sym typeface="Poppins"/>
              </a:rPr>
              <a:t>Module - 3</a:t>
            </a:r>
            <a:endParaRPr/>
          </a:p>
          <a:p>
            <a:pPr indent="0" lvl="0" marL="0" marR="0" rtl="0" algn="ctr">
              <a:lnSpc>
                <a:spcPct val="71154"/>
              </a:lnSpc>
              <a:spcBef>
                <a:spcPts val="0"/>
              </a:spcBef>
              <a:spcAft>
                <a:spcPts val="0"/>
              </a:spcAft>
              <a:buNone/>
            </a:pPr>
            <a:r>
              <a:t/>
            </a:r>
            <a:endParaRPr b="0" i="0" sz="5897" u="none" cap="none" strike="noStrike">
              <a:solidFill>
                <a:srgbClr val="000000"/>
              </a:solidFill>
              <a:latin typeface="Poppins"/>
              <a:ea typeface="Poppins"/>
              <a:cs typeface="Poppins"/>
              <a:sym typeface="Poppins"/>
            </a:endParaRPr>
          </a:p>
          <a:p>
            <a:pPr indent="0" lvl="0" marL="0" marR="0" rtl="0" algn="ctr">
              <a:lnSpc>
                <a:spcPct val="140002"/>
              </a:lnSpc>
              <a:spcBef>
                <a:spcPts val="0"/>
              </a:spcBef>
              <a:spcAft>
                <a:spcPts val="0"/>
              </a:spcAft>
              <a:buNone/>
            </a:pPr>
            <a:r>
              <a:rPr b="0" i="0" lang="en-US" sz="7497" u="none" cap="none" strike="noStrike">
                <a:solidFill>
                  <a:srgbClr val="000000"/>
                </a:solidFill>
                <a:latin typeface="Poppins"/>
                <a:ea typeface="Poppins"/>
                <a:cs typeface="Poppins"/>
                <a:sym typeface="Poppins"/>
              </a:rPr>
              <a:t>Completed</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