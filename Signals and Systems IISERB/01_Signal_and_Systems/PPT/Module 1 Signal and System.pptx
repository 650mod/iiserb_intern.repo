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0287000" cx="18288000"/>
  <p:notesSz cx="6858000" cy="9144000"/>
  <p:embeddedFontLst>
    <p:embeddedFont>
      <p:font typeface="Anton"/>
      <p:regular r:id="rId30"/>
    </p:embeddedFont>
    <p:embeddedFont>
      <p:font typeface="Poppins"/>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3" roundtripDataSignature="AMtx7mg6Bp1RiIo7392O8YBdZZ8seoPv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bold.fntdata"/><Relationship Id="rId30" Type="http://schemas.openxmlformats.org/officeDocument/2006/relationships/font" Target="fonts/Anton-regular.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p:nvPr>
            <p:ph idx="2" type="pic"/>
          </p:nvPr>
        </p:nvSpPr>
        <p:spPr>
          <a:xfrm>
            <a:off x="1792288" y="612775"/>
            <a:ext cx="5486400" cy="4114800"/>
          </a:xfrm>
          <a:prstGeom prst="rect">
            <a:avLst/>
          </a:prstGeom>
          <a:noFill/>
          <a:ln>
            <a:noFill/>
          </a:ln>
        </p:spPr>
      </p:sp>
      <p:sp>
        <p:nvSpPr>
          <p:cNvPr id="64" name="Google Shape;64;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2.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image" Target="../media/image17.png"/><Relationship Id="rId6"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7.png"/><Relationship Id="rId5" Type="http://schemas.openxmlformats.org/officeDocument/2006/relationships/image" Target="../media/image14.png"/><Relationship Id="rId6" Type="http://schemas.openxmlformats.org/officeDocument/2006/relationships/image" Target="../media/image19.png"/><Relationship Id="rId7"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24.png"/><Relationship Id="rId7"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6.png"/><Relationship Id="rId5"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image" Target="../media/image38.png"/><Relationship Id="rId6" Type="http://schemas.openxmlformats.org/officeDocument/2006/relationships/image" Target="../media/image23.png"/><Relationship Id="rId7"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93058"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8169686" y="305306"/>
            <a:ext cx="1755570" cy="1755570"/>
          </a:xfrm>
          <a:custGeom>
            <a:rect b="b" l="l" r="r" t="t"/>
            <a:pathLst>
              <a:path extrusionOk="0" h="1755570" w="1755570">
                <a:moveTo>
                  <a:pt x="0" y="0"/>
                </a:moveTo>
                <a:lnTo>
                  <a:pt x="1755570" y="0"/>
                </a:lnTo>
                <a:lnTo>
                  <a:pt x="1755570" y="1755570"/>
                </a:lnTo>
                <a:lnTo>
                  <a:pt x="0" y="175557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347028" y="2507464"/>
            <a:ext cx="15912272" cy="886394"/>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227" u="none" cap="none" strike="noStrike">
                <a:solidFill>
                  <a:srgbClr val="000000"/>
                </a:solidFill>
                <a:latin typeface="Anton"/>
                <a:ea typeface="Anton"/>
                <a:cs typeface="Anton"/>
                <a:sym typeface="Anton"/>
              </a:rPr>
              <a:t>INDIAN INSTITUTE OF SCIENCE EDUCATION AND RESEARCH, BHOPAL</a:t>
            </a:r>
            <a:endParaRPr/>
          </a:p>
        </p:txBody>
      </p:sp>
      <p:sp>
        <p:nvSpPr>
          <p:cNvPr id="87" name="Google Shape;87;p1"/>
          <p:cNvSpPr txBox="1"/>
          <p:nvPr/>
        </p:nvSpPr>
        <p:spPr>
          <a:xfrm>
            <a:off x="2501231" y="4018349"/>
            <a:ext cx="13092480" cy="566488"/>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3197" u="none" cap="none" strike="noStrike">
                <a:solidFill>
                  <a:srgbClr val="000000"/>
                </a:solidFill>
                <a:latin typeface="Poppins"/>
                <a:ea typeface="Poppins"/>
                <a:cs typeface="Poppins"/>
                <a:sym typeface="Poppins"/>
              </a:rPr>
              <a:t>Department Of Electrical Engineering and Computer Sciene</a:t>
            </a:r>
            <a:endParaRPr/>
          </a:p>
        </p:txBody>
      </p:sp>
      <p:sp>
        <p:nvSpPr>
          <p:cNvPr id="88" name="Google Shape;88;p1"/>
          <p:cNvSpPr txBox="1"/>
          <p:nvPr/>
        </p:nvSpPr>
        <p:spPr>
          <a:xfrm>
            <a:off x="5596606" y="5350652"/>
            <a:ext cx="6536293" cy="566488"/>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3197" u="none" cap="none" strike="noStrike">
                <a:solidFill>
                  <a:srgbClr val="000000"/>
                </a:solidFill>
                <a:latin typeface="Poppins"/>
                <a:ea typeface="Poppins"/>
                <a:cs typeface="Poppins"/>
                <a:sym typeface="Poppins"/>
              </a:rPr>
              <a:t>Signals and Systems- </a:t>
            </a:r>
            <a:r>
              <a:rPr b="1" i="0" lang="en-US" sz="3197" u="none" cap="none" strike="noStrike">
                <a:solidFill>
                  <a:srgbClr val="000000"/>
                </a:solidFill>
                <a:latin typeface="Poppins"/>
                <a:ea typeface="Poppins"/>
                <a:cs typeface="Poppins"/>
                <a:sym typeface="Poppins"/>
              </a:rPr>
              <a:t>MODULE  1</a:t>
            </a:r>
            <a:endParaRPr/>
          </a:p>
        </p:txBody>
      </p:sp>
      <p:sp>
        <p:nvSpPr>
          <p:cNvPr id="89" name="Google Shape;89;p1"/>
          <p:cNvSpPr txBox="1"/>
          <p:nvPr/>
        </p:nvSpPr>
        <p:spPr>
          <a:xfrm>
            <a:off x="332447" y="9659000"/>
            <a:ext cx="2286600" cy="392100"/>
          </a:xfrm>
          <a:prstGeom prst="rect">
            <a:avLst/>
          </a:prstGeom>
          <a:noFill/>
          <a:ln>
            <a:noFill/>
          </a:ln>
        </p:spPr>
        <p:txBody>
          <a:bodyPr anchorCtr="0" anchor="t" bIns="0" lIns="0" spcFirstLastPara="1" rIns="0" wrap="square" tIns="0">
            <a:spAutoFit/>
          </a:bodyPr>
          <a:lstStyle/>
          <a:p>
            <a:pPr indent="0" lvl="0" marL="0" marR="0" rtl="0" algn="ctr">
              <a:lnSpc>
                <a:spcPct val="139968"/>
              </a:lnSpc>
              <a:spcBef>
                <a:spcPts val="0"/>
              </a:spcBef>
              <a:spcAft>
                <a:spcPts val="0"/>
              </a:spcAft>
              <a:buNone/>
            </a:pPr>
            <a:r>
              <a:rPr b="0" i="0" lang="en-US" sz="2547" u="none" cap="none" strike="noStrike">
                <a:solidFill>
                  <a:srgbClr val="000000"/>
                </a:solidFill>
                <a:latin typeface="Arial"/>
                <a:ea typeface="Arial"/>
                <a:cs typeface="Arial"/>
                <a:sym typeface="Arial"/>
              </a:rPr>
              <a:t>Prepared By-</a:t>
            </a:r>
            <a:endParaRPr/>
          </a:p>
        </p:txBody>
      </p:sp>
      <p:sp>
        <p:nvSpPr>
          <p:cNvPr id="90" name="Google Shape;90;p1"/>
          <p:cNvSpPr txBox="1"/>
          <p:nvPr/>
        </p:nvSpPr>
        <p:spPr>
          <a:xfrm>
            <a:off x="2277300" y="9659000"/>
            <a:ext cx="8523000" cy="392100"/>
          </a:xfrm>
          <a:prstGeom prst="rect">
            <a:avLst/>
          </a:prstGeom>
          <a:noFill/>
          <a:ln>
            <a:noFill/>
          </a:ln>
        </p:spPr>
        <p:txBody>
          <a:bodyPr anchorCtr="0" anchor="t" bIns="0" lIns="0" spcFirstLastPara="1" rIns="0" wrap="square" tIns="0">
            <a:spAutoFit/>
          </a:bodyPr>
          <a:lstStyle/>
          <a:p>
            <a:pPr indent="0" lvl="0" marL="0" marR="0" rtl="0" algn="ctr">
              <a:lnSpc>
                <a:spcPct val="139968"/>
              </a:lnSpc>
              <a:spcBef>
                <a:spcPts val="0"/>
              </a:spcBef>
              <a:spcAft>
                <a:spcPts val="0"/>
              </a:spcAft>
              <a:buNone/>
            </a:pPr>
            <a:r>
              <a:rPr b="0" i="0" lang="en-US" sz="2547" u="none" cap="none" strike="noStrike">
                <a:solidFill>
                  <a:srgbClr val="000000"/>
                </a:solidFill>
                <a:latin typeface="Arial"/>
                <a:ea typeface="Arial"/>
                <a:cs typeface="Arial"/>
                <a:sym typeface="Arial"/>
              </a:rPr>
              <a:t>Amay Singh , Piyush Rai , Disha Mahato , Srasti Bijwani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96" name="Google Shape;96;p2"/>
          <p:cNvSpPr txBox="1"/>
          <p:nvPr/>
        </p:nvSpPr>
        <p:spPr>
          <a:xfrm>
            <a:off x="2612086" y="592069"/>
            <a:ext cx="11699869" cy="787537"/>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4619" u="none" cap="none" strike="noStrike">
                <a:solidFill>
                  <a:srgbClr val="000000"/>
                </a:solidFill>
                <a:latin typeface="Anton"/>
                <a:ea typeface="Anton"/>
                <a:cs typeface="Anton"/>
                <a:sym typeface="Anton"/>
              </a:rPr>
              <a:t>MODULE 1 : SIGNAL AND SYSTEM</a:t>
            </a:r>
            <a:endParaRPr/>
          </a:p>
        </p:txBody>
      </p:sp>
      <p:sp>
        <p:nvSpPr>
          <p:cNvPr id="97" name="Google Shape;97;p2"/>
          <p:cNvSpPr txBox="1"/>
          <p:nvPr/>
        </p:nvSpPr>
        <p:spPr>
          <a:xfrm>
            <a:off x="335275" y="1210175"/>
            <a:ext cx="16923900" cy="9678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200" u="none" cap="none" strike="noStrike">
                <a:solidFill>
                  <a:srgbClr val="000000"/>
                </a:solidFill>
                <a:latin typeface="Poppins"/>
                <a:ea typeface="Poppins"/>
                <a:cs typeface="Poppins"/>
                <a:sym typeface="Poppins"/>
              </a:rPr>
              <a:t>CONTENT </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INTRODUCTION</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CONTINOUS TIME AND DISCRETE TIME SIGNALS</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SIGNAL ENERGY AND POWER </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TRANSFORMATION OF INDEPENDENT VARIABLE</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PERIODIC SIGNALS</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EVEN AND ODD SIGNALS</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EXPONENTIAL AND SINUSOIDAL SIGNALS</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UNIT IMPULSE AND UNIT STEP FUCTIONS</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CONTINUOUS AND DISCRETE TIME SYSTEMS</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INTERCONNECTION OF SYSTEMS</a:t>
            </a:r>
            <a:endParaRPr sz="3800"/>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BASIC SYSTEM PROPERTIES</a:t>
            </a:r>
            <a:endParaRPr sz="3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03" name="Google Shape;103;p3"/>
          <p:cNvSpPr txBox="1"/>
          <p:nvPr/>
        </p:nvSpPr>
        <p:spPr>
          <a:xfrm>
            <a:off x="1508634" y="163582"/>
            <a:ext cx="1493575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INTRODUCTION</a:t>
            </a:r>
            <a:endParaRPr/>
          </a:p>
        </p:txBody>
      </p:sp>
      <p:sp>
        <p:nvSpPr>
          <p:cNvPr id="104" name="Google Shape;104;p3"/>
          <p:cNvSpPr txBox="1"/>
          <p:nvPr/>
        </p:nvSpPr>
        <p:spPr>
          <a:xfrm>
            <a:off x="706650" y="2047352"/>
            <a:ext cx="16923900" cy="6926700"/>
          </a:xfrm>
          <a:prstGeom prst="rect">
            <a:avLst/>
          </a:prstGeom>
          <a:noFill/>
          <a:ln>
            <a:noFill/>
          </a:ln>
        </p:spPr>
        <p:txBody>
          <a:bodyPr anchorCtr="0" anchor="t" bIns="0" lIns="0" spcFirstLastPara="1" rIns="0" wrap="square" tIns="0">
            <a:spAutoFit/>
          </a:bodyPr>
          <a:lstStyle/>
          <a:p>
            <a:pPr indent="-323854" lvl="1" marL="647708" marR="0" rtl="0" algn="l">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Poppins"/>
                <a:ea typeface="Poppins"/>
                <a:cs typeface="Poppins"/>
                <a:sym typeface="Poppins"/>
              </a:rPr>
              <a:t>The concepts of signals and systems arise in a wide variety of fields, and the ideas and techniques associated with these concepts play an important role in such diverse areas of science and technology as communications, aeronautics and astronautics, circuit design, acoustics, seismology, biomedical engineering, energy generation and distribution systems, chemical process control, and speech processing.</a:t>
            </a:r>
            <a:endParaRPr/>
          </a:p>
          <a:p>
            <a:pPr indent="0" lvl="0" marL="0" marR="0" rtl="0" algn="l">
              <a:lnSpc>
                <a:spcPct val="140000"/>
              </a:lnSpc>
              <a:spcBef>
                <a:spcPts val="0"/>
              </a:spcBef>
              <a:spcAft>
                <a:spcPts val="0"/>
              </a:spcAft>
              <a:buNone/>
            </a:pPr>
            <a:r>
              <a:t/>
            </a:r>
            <a:endParaRPr b="0" i="0" sz="3000" u="none" cap="none" strike="noStrike">
              <a:solidFill>
                <a:srgbClr val="000000"/>
              </a:solidFill>
              <a:latin typeface="Poppins"/>
              <a:ea typeface="Poppins"/>
              <a:cs typeface="Poppins"/>
              <a:sym typeface="Poppins"/>
            </a:endParaRPr>
          </a:p>
          <a:p>
            <a:pPr indent="-323854" lvl="1" marL="647708" marR="0" rtl="0" algn="l">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Poppins"/>
                <a:ea typeface="Poppins"/>
                <a:cs typeface="Poppins"/>
                <a:sym typeface="Poppins"/>
              </a:rPr>
              <a:t>Signals are represented mathematically as functions of one or more independent variables. For example, a speech signal can be represented mathematically by acoustic pressure as a function of time, and a picture can be represented by brightness as a function of two spatial variables.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10" name="Google Shape;110;p4"/>
          <p:cNvSpPr/>
          <p:nvPr/>
        </p:nvSpPr>
        <p:spPr>
          <a:xfrm>
            <a:off x="495015" y="5774876"/>
            <a:ext cx="7257815" cy="3002311"/>
          </a:xfrm>
          <a:custGeom>
            <a:rect b="b" l="l" r="r" t="t"/>
            <a:pathLst>
              <a:path extrusionOk="0" h="3002311" w="7257815">
                <a:moveTo>
                  <a:pt x="0" y="0"/>
                </a:moveTo>
                <a:lnTo>
                  <a:pt x="7257815" y="0"/>
                </a:lnTo>
                <a:lnTo>
                  <a:pt x="7257815" y="3002310"/>
                </a:lnTo>
                <a:lnTo>
                  <a:pt x="0" y="3002310"/>
                </a:lnTo>
                <a:lnTo>
                  <a:pt x="0" y="0"/>
                </a:lnTo>
                <a:close/>
              </a:path>
            </a:pathLst>
          </a:custGeom>
          <a:blipFill rotWithShape="1">
            <a:blip r:embed="rId4">
              <a:alphaModFix/>
            </a:blip>
            <a:stretch>
              <a:fillRect b="0" l="0" r="-1270" t="0"/>
            </a:stretch>
          </a:blipFill>
          <a:ln>
            <a:noFill/>
          </a:ln>
        </p:spPr>
      </p:sp>
      <p:sp>
        <p:nvSpPr>
          <p:cNvPr id="111" name="Google Shape;111;p4"/>
          <p:cNvSpPr/>
          <p:nvPr/>
        </p:nvSpPr>
        <p:spPr>
          <a:xfrm>
            <a:off x="9758038" y="5692266"/>
            <a:ext cx="8053127" cy="3167563"/>
          </a:xfrm>
          <a:custGeom>
            <a:rect b="b" l="l" r="r" t="t"/>
            <a:pathLst>
              <a:path extrusionOk="0" h="3167563" w="8053127">
                <a:moveTo>
                  <a:pt x="0" y="0"/>
                </a:moveTo>
                <a:lnTo>
                  <a:pt x="8053127" y="0"/>
                </a:lnTo>
                <a:lnTo>
                  <a:pt x="8053127" y="3167563"/>
                </a:lnTo>
                <a:lnTo>
                  <a:pt x="0" y="3167563"/>
                </a:lnTo>
                <a:lnTo>
                  <a:pt x="0" y="0"/>
                </a:lnTo>
                <a:close/>
              </a:path>
            </a:pathLst>
          </a:custGeom>
          <a:blipFill rotWithShape="1">
            <a:blip r:embed="rId5">
              <a:alphaModFix/>
            </a:blip>
            <a:stretch>
              <a:fillRect b="0" l="0" r="0" t="0"/>
            </a:stretch>
          </a:blipFill>
          <a:ln>
            <a:noFill/>
          </a:ln>
        </p:spPr>
      </p:sp>
      <p:sp>
        <p:nvSpPr>
          <p:cNvPr id="112" name="Google Shape;112;p4"/>
          <p:cNvSpPr txBox="1"/>
          <p:nvPr/>
        </p:nvSpPr>
        <p:spPr>
          <a:xfrm>
            <a:off x="1508634" y="163582"/>
            <a:ext cx="1493575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TYPES OF SIGNALS</a:t>
            </a:r>
            <a:endParaRPr/>
          </a:p>
        </p:txBody>
      </p:sp>
      <p:sp>
        <p:nvSpPr>
          <p:cNvPr id="113" name="Google Shape;113;p4"/>
          <p:cNvSpPr txBox="1"/>
          <p:nvPr/>
        </p:nvSpPr>
        <p:spPr>
          <a:xfrm>
            <a:off x="6356648" y="1356263"/>
            <a:ext cx="5239725" cy="54292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sng" cap="none" strike="noStrike">
                <a:solidFill>
                  <a:srgbClr val="000000"/>
                </a:solidFill>
                <a:latin typeface="Poppins"/>
                <a:ea typeface="Poppins"/>
                <a:cs typeface="Poppins"/>
                <a:sym typeface="Poppins"/>
              </a:rPr>
              <a:t>TWO BASIC TYPES </a:t>
            </a:r>
            <a:endParaRPr/>
          </a:p>
        </p:txBody>
      </p:sp>
      <p:sp>
        <p:nvSpPr>
          <p:cNvPr id="114" name="Google Shape;114;p4"/>
          <p:cNvSpPr txBox="1"/>
          <p:nvPr/>
        </p:nvSpPr>
        <p:spPr>
          <a:xfrm>
            <a:off x="0" y="2169822"/>
            <a:ext cx="8822923" cy="3258219"/>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2697" u="none" cap="none" strike="noStrike">
                <a:solidFill>
                  <a:srgbClr val="000000"/>
                </a:solidFill>
                <a:latin typeface="Poppins"/>
                <a:ea typeface="Poppins"/>
                <a:cs typeface="Poppins"/>
                <a:sym typeface="Poppins"/>
              </a:rPr>
              <a:t>Continuous Time Signal:                                                   </a:t>
            </a:r>
            <a:endParaRPr/>
          </a:p>
          <a:p>
            <a:pPr indent="0" lvl="0" marL="0" marR="0" rtl="0" algn="ctr">
              <a:lnSpc>
                <a:spcPct val="140006"/>
              </a:lnSpc>
              <a:spcBef>
                <a:spcPts val="0"/>
              </a:spcBef>
              <a:spcAft>
                <a:spcPts val="0"/>
              </a:spcAft>
              <a:buNone/>
            </a:pPr>
            <a:r>
              <a:rPr b="0" i="0" lang="en-US" sz="3297" u="none" cap="none" strike="noStrike">
                <a:solidFill>
                  <a:srgbClr val="000000"/>
                </a:solidFill>
                <a:latin typeface="Poppins"/>
                <a:ea typeface="Poppins"/>
                <a:cs typeface="Poppins"/>
                <a:sym typeface="Poppins"/>
              </a:rPr>
              <a:t>                              </a:t>
            </a:r>
            <a:endParaRPr/>
          </a:p>
          <a:p>
            <a:pPr indent="0" lvl="0" marL="0" marR="0" rtl="0" algn="l">
              <a:lnSpc>
                <a:spcPct val="140000"/>
              </a:lnSpc>
              <a:spcBef>
                <a:spcPts val="0"/>
              </a:spcBef>
              <a:spcAft>
                <a:spcPts val="0"/>
              </a:spcAft>
              <a:buNone/>
            </a:pPr>
            <a:r>
              <a:rPr b="0" i="0" lang="en-US" sz="2500" u="none" cap="none" strike="noStrike">
                <a:solidFill>
                  <a:srgbClr val="000000"/>
                </a:solidFill>
                <a:latin typeface="Poppins"/>
                <a:ea typeface="Poppins"/>
                <a:cs typeface="Poppins"/>
                <a:sym typeface="Poppins"/>
              </a:rPr>
              <a:t>It is a signal in which independent variable is continuous. We will use the symbol t to denote the continuous-time independent variable. For continuous-time signals we will enclose the independent variable in parentheses (·)</a:t>
            </a:r>
            <a:endParaRPr/>
          </a:p>
        </p:txBody>
      </p:sp>
      <p:sp>
        <p:nvSpPr>
          <p:cNvPr id="115" name="Google Shape;115;p4"/>
          <p:cNvSpPr txBox="1"/>
          <p:nvPr/>
        </p:nvSpPr>
        <p:spPr>
          <a:xfrm>
            <a:off x="9540383" y="2169822"/>
            <a:ext cx="8747617" cy="3153478"/>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2697" u="none" cap="none" strike="noStrike">
                <a:solidFill>
                  <a:srgbClr val="000000"/>
                </a:solidFill>
                <a:latin typeface="Poppins"/>
                <a:ea typeface="Poppins"/>
                <a:cs typeface="Poppins"/>
                <a:sym typeface="Poppins"/>
              </a:rPr>
              <a:t>Discrete Time Signal:                                                        </a:t>
            </a:r>
            <a:endParaRPr/>
          </a:p>
          <a:p>
            <a:pPr indent="0" lvl="0" marL="0" marR="0" rtl="0" algn="ctr">
              <a:lnSpc>
                <a:spcPct val="140007"/>
              </a:lnSpc>
              <a:spcBef>
                <a:spcPts val="0"/>
              </a:spcBef>
              <a:spcAft>
                <a:spcPts val="0"/>
              </a:spcAft>
              <a:buNone/>
            </a:pPr>
            <a:r>
              <a:t/>
            </a:r>
            <a:endParaRPr b="0" i="0" sz="2697" u="none" cap="none" strike="noStrike">
              <a:solidFill>
                <a:srgbClr val="000000"/>
              </a:solidFill>
              <a:latin typeface="Poppins"/>
              <a:ea typeface="Poppins"/>
              <a:cs typeface="Poppins"/>
              <a:sym typeface="Poppins"/>
            </a:endParaRPr>
          </a:p>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For these signals, the independent variable takes on only a discrete set of values. We will use n to denote the discrete time independent variable. For discrete-time signals we will use brackets [ · ] to enclose the independent variable.</a:t>
            </a:r>
            <a:endParaRPr/>
          </a:p>
        </p:txBody>
      </p:sp>
      <p:sp>
        <p:nvSpPr>
          <p:cNvPr id="116" name="Google Shape;116;p4"/>
          <p:cNvSpPr txBox="1"/>
          <p:nvPr/>
        </p:nvSpPr>
        <p:spPr>
          <a:xfrm>
            <a:off x="3659596" y="9202729"/>
            <a:ext cx="10633829"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Graphical representations of (a) continuous-time and (b) discrete time signals.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22" name="Google Shape;122;p5"/>
          <p:cNvSpPr txBox="1"/>
          <p:nvPr/>
        </p:nvSpPr>
        <p:spPr>
          <a:xfrm>
            <a:off x="1508634" y="163582"/>
            <a:ext cx="1493575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SIGNAL ENERGY AND POWER </a:t>
            </a:r>
            <a:endParaRPr/>
          </a:p>
        </p:txBody>
      </p:sp>
      <p:sp>
        <p:nvSpPr>
          <p:cNvPr id="123" name="Google Shape;123;p5"/>
          <p:cNvSpPr txBox="1"/>
          <p:nvPr/>
        </p:nvSpPr>
        <p:spPr>
          <a:xfrm>
            <a:off x="154987" y="1391764"/>
            <a:ext cx="14657904" cy="4413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The total energy over the time interval t1 ≤ t ≤ t2 in a continuous-time signal x(t) is defined as </a:t>
            </a:r>
            <a:endParaRPr/>
          </a:p>
        </p:txBody>
      </p:sp>
      <p:sp>
        <p:nvSpPr>
          <p:cNvPr id="124" name="Google Shape;124;p5"/>
          <p:cNvSpPr txBox="1"/>
          <p:nvPr/>
        </p:nvSpPr>
        <p:spPr>
          <a:xfrm>
            <a:off x="348198" y="1963355"/>
            <a:ext cx="17591604" cy="62554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97" u="none" cap="none" strike="noStrike">
                <a:solidFill>
                  <a:srgbClr val="000000"/>
                </a:solidFill>
                <a:latin typeface="Poppins"/>
                <a:ea typeface="Poppins"/>
                <a:cs typeface="Poppins"/>
                <a:sym typeface="Poppins"/>
              </a:rPr>
              <a:t>∫t1t2|x(t)|² dt</a:t>
            </a:r>
            <a:endParaRPr/>
          </a:p>
        </p:txBody>
      </p:sp>
      <p:sp>
        <p:nvSpPr>
          <p:cNvPr id="125" name="Google Shape;125;p5"/>
          <p:cNvSpPr txBox="1"/>
          <p:nvPr/>
        </p:nvSpPr>
        <p:spPr>
          <a:xfrm>
            <a:off x="96529" y="2745743"/>
            <a:ext cx="16432292" cy="4413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 Similarly, the total energy in a discrete-time signal x[n] over the time interval n1 ≤ n  ≤ n2 is  defined as    </a:t>
            </a:r>
            <a:endParaRPr/>
          </a:p>
        </p:txBody>
      </p:sp>
      <p:sp>
        <p:nvSpPr>
          <p:cNvPr id="126" name="Google Shape;126;p5"/>
          <p:cNvSpPr txBox="1"/>
          <p:nvPr/>
        </p:nvSpPr>
        <p:spPr>
          <a:xfrm>
            <a:off x="7483939" y="3355343"/>
            <a:ext cx="2985144" cy="62554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97" u="none" cap="none" strike="noStrike">
                <a:solidFill>
                  <a:srgbClr val="000000"/>
                </a:solidFill>
                <a:latin typeface="Poppins"/>
                <a:ea typeface="Poppins"/>
                <a:cs typeface="Poppins"/>
                <a:sym typeface="Poppins"/>
              </a:rPr>
              <a:t>∑ₙ₌ₙ₁ⁿ² |x[n]|²</a:t>
            </a:r>
            <a:endParaRPr/>
          </a:p>
        </p:txBody>
      </p:sp>
      <p:sp>
        <p:nvSpPr>
          <p:cNvPr id="127" name="Google Shape;127;p5"/>
          <p:cNvSpPr txBox="1"/>
          <p:nvPr/>
        </p:nvSpPr>
        <p:spPr>
          <a:xfrm>
            <a:off x="96529" y="4175831"/>
            <a:ext cx="18191471" cy="87954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 In many systems we will be interested in examining power and energy in signals over an infinite time interval, i.e., for -∞ &lt; t &lt; +∞ or for -∞ &lt; n &lt; +∞. In these cases, we define the total energy, in continuous time,</a:t>
            </a:r>
            <a:endParaRPr/>
          </a:p>
        </p:txBody>
      </p:sp>
      <p:sp>
        <p:nvSpPr>
          <p:cNvPr id="128" name="Google Shape;128;p5"/>
          <p:cNvSpPr txBox="1"/>
          <p:nvPr/>
        </p:nvSpPr>
        <p:spPr>
          <a:xfrm>
            <a:off x="4660582" y="5161349"/>
            <a:ext cx="8966835" cy="62554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97" u="none" cap="none" strike="noStrike">
                <a:solidFill>
                  <a:srgbClr val="000000"/>
                </a:solidFill>
                <a:latin typeface="Poppins"/>
                <a:ea typeface="Poppins"/>
                <a:cs typeface="Poppins"/>
                <a:sym typeface="Poppins"/>
              </a:rPr>
              <a:t>E∞ ≜ lim₍T→∞₎ ∫₋Tᵀ |x(t)|² dt = ∫₋∞∞ |x(t)|² dt</a:t>
            </a:r>
            <a:endParaRPr/>
          </a:p>
        </p:txBody>
      </p:sp>
      <p:sp>
        <p:nvSpPr>
          <p:cNvPr id="129" name="Google Shape;129;p5"/>
          <p:cNvSpPr txBox="1"/>
          <p:nvPr/>
        </p:nvSpPr>
        <p:spPr>
          <a:xfrm>
            <a:off x="96529" y="5921443"/>
            <a:ext cx="8966835" cy="44132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000000"/>
                </a:solidFill>
                <a:latin typeface="Poppins"/>
                <a:ea typeface="Poppins"/>
                <a:cs typeface="Poppins"/>
                <a:sym typeface="Poppins"/>
              </a:rPr>
              <a:t>and in discrete time, </a:t>
            </a:r>
            <a:endParaRPr/>
          </a:p>
        </p:txBody>
      </p:sp>
      <p:sp>
        <p:nvSpPr>
          <p:cNvPr id="130" name="Google Shape;130;p5"/>
          <p:cNvSpPr txBox="1"/>
          <p:nvPr/>
        </p:nvSpPr>
        <p:spPr>
          <a:xfrm>
            <a:off x="4579947" y="6438968"/>
            <a:ext cx="8966835" cy="62554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97" u="none" cap="none" strike="noStrike">
                <a:solidFill>
                  <a:srgbClr val="000000"/>
                </a:solidFill>
                <a:latin typeface="Poppins"/>
                <a:ea typeface="Poppins"/>
                <a:cs typeface="Poppins"/>
                <a:sym typeface="Poppins"/>
              </a:rPr>
              <a:t>E∞ ≜ lim₍N→∞₎ ∑ₙ₌₋ᴺᴺ |x[n]|² = ∑ₙ₌₋∞∞ |x[n]|²</a:t>
            </a:r>
            <a:endParaRPr/>
          </a:p>
        </p:txBody>
      </p:sp>
      <p:sp>
        <p:nvSpPr>
          <p:cNvPr id="131" name="Google Shape;131;p5"/>
          <p:cNvSpPr txBox="1"/>
          <p:nvPr/>
        </p:nvSpPr>
        <p:spPr>
          <a:xfrm>
            <a:off x="0" y="7255011"/>
            <a:ext cx="14998541" cy="44132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000000"/>
                </a:solidFill>
                <a:latin typeface="Poppins"/>
                <a:ea typeface="Poppins"/>
                <a:cs typeface="Poppins"/>
                <a:sym typeface="Poppins"/>
              </a:rPr>
              <a:t>We can define the time-averaged power over an infinite interval as for continuous time signal, </a:t>
            </a:r>
            <a:endParaRPr/>
          </a:p>
        </p:txBody>
      </p:sp>
      <p:sp>
        <p:nvSpPr>
          <p:cNvPr id="132" name="Google Shape;132;p5"/>
          <p:cNvSpPr txBox="1"/>
          <p:nvPr/>
        </p:nvSpPr>
        <p:spPr>
          <a:xfrm>
            <a:off x="5440650" y="7915411"/>
            <a:ext cx="7245429" cy="62554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97" u="none" cap="none" strike="noStrike">
                <a:solidFill>
                  <a:srgbClr val="000000"/>
                </a:solidFill>
                <a:latin typeface="Poppins"/>
                <a:ea typeface="Poppins"/>
                <a:cs typeface="Poppins"/>
                <a:sym typeface="Poppins"/>
              </a:rPr>
              <a:t>P∞ ≜ lim(T→∞) 1/(2T) ∫₋Tᵀ |x(t)|² dt</a:t>
            </a:r>
            <a:endParaRPr/>
          </a:p>
        </p:txBody>
      </p:sp>
      <p:sp>
        <p:nvSpPr>
          <p:cNvPr id="133" name="Google Shape;133;p5"/>
          <p:cNvSpPr txBox="1"/>
          <p:nvPr/>
        </p:nvSpPr>
        <p:spPr>
          <a:xfrm>
            <a:off x="5283709" y="9163050"/>
            <a:ext cx="8263073" cy="62554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97" u="none" cap="none" strike="noStrike">
                <a:solidFill>
                  <a:srgbClr val="000000"/>
                </a:solidFill>
                <a:latin typeface="Poppins"/>
                <a:ea typeface="Poppins"/>
                <a:cs typeface="Poppins"/>
                <a:sym typeface="Poppins"/>
              </a:rPr>
              <a:t>P∞ ≜ lim(N→∞) 1/(2N+1) ∑ₙ₌₋ᴺᴺ |x[n]|²</a:t>
            </a:r>
            <a:endParaRPr/>
          </a:p>
        </p:txBody>
      </p:sp>
      <p:sp>
        <p:nvSpPr>
          <p:cNvPr id="134" name="Google Shape;134;p5"/>
          <p:cNvSpPr txBox="1"/>
          <p:nvPr/>
        </p:nvSpPr>
        <p:spPr>
          <a:xfrm>
            <a:off x="0" y="8645730"/>
            <a:ext cx="14998541" cy="4413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and for discrete time signal,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40" name="Google Shape;140;p6"/>
          <p:cNvSpPr txBox="1"/>
          <p:nvPr/>
        </p:nvSpPr>
        <p:spPr>
          <a:xfrm>
            <a:off x="1508634" y="163582"/>
            <a:ext cx="1493575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SIGNAL ENERGY AND POWER </a:t>
            </a:r>
            <a:endParaRPr/>
          </a:p>
        </p:txBody>
      </p:sp>
      <p:sp>
        <p:nvSpPr>
          <p:cNvPr id="141" name="Google Shape;141;p6"/>
          <p:cNvSpPr txBox="1"/>
          <p:nvPr/>
        </p:nvSpPr>
        <p:spPr>
          <a:xfrm>
            <a:off x="266864" y="1635057"/>
            <a:ext cx="17947329" cy="350844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With these definitions, we can identify three important classes of signals : </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 The first of these is the class of signals with finite total energy, i.e., those signals for which E∞ &lt; ∞ . Such signals must have zero average power.</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A second class of signals are those with finite average power P∞ .</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There are  signals for which neither P∞  nor E∞ are finite.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47" name="Google Shape;147;p7"/>
          <p:cNvSpPr/>
          <p:nvPr/>
        </p:nvSpPr>
        <p:spPr>
          <a:xfrm>
            <a:off x="857584" y="1787594"/>
            <a:ext cx="5635226" cy="5845134"/>
          </a:xfrm>
          <a:custGeom>
            <a:rect b="b" l="l" r="r" t="t"/>
            <a:pathLst>
              <a:path extrusionOk="0" h="5845134" w="5635226">
                <a:moveTo>
                  <a:pt x="0" y="0"/>
                </a:moveTo>
                <a:lnTo>
                  <a:pt x="5635226" y="0"/>
                </a:lnTo>
                <a:lnTo>
                  <a:pt x="5635226" y="5845134"/>
                </a:lnTo>
                <a:lnTo>
                  <a:pt x="0" y="5845134"/>
                </a:lnTo>
                <a:lnTo>
                  <a:pt x="0" y="0"/>
                </a:lnTo>
                <a:close/>
              </a:path>
            </a:pathLst>
          </a:custGeom>
          <a:blipFill rotWithShape="1">
            <a:blip r:embed="rId4">
              <a:alphaModFix/>
            </a:blip>
            <a:stretch>
              <a:fillRect b="0" l="0" r="0" t="0"/>
            </a:stretch>
          </a:blipFill>
          <a:ln>
            <a:noFill/>
          </a:ln>
        </p:spPr>
      </p:sp>
      <p:sp>
        <p:nvSpPr>
          <p:cNvPr id="148" name="Google Shape;148;p7"/>
          <p:cNvSpPr/>
          <p:nvPr/>
        </p:nvSpPr>
        <p:spPr>
          <a:xfrm>
            <a:off x="9759584" y="1785573"/>
            <a:ext cx="5635494" cy="5847155"/>
          </a:xfrm>
          <a:custGeom>
            <a:rect b="b" l="l" r="r" t="t"/>
            <a:pathLst>
              <a:path extrusionOk="0" h="5847155" w="5635494">
                <a:moveTo>
                  <a:pt x="0" y="0"/>
                </a:moveTo>
                <a:lnTo>
                  <a:pt x="5635494" y="0"/>
                </a:lnTo>
                <a:lnTo>
                  <a:pt x="5635494" y="5847155"/>
                </a:lnTo>
                <a:lnTo>
                  <a:pt x="0" y="5847155"/>
                </a:lnTo>
                <a:lnTo>
                  <a:pt x="0" y="0"/>
                </a:lnTo>
                <a:close/>
              </a:path>
            </a:pathLst>
          </a:custGeom>
          <a:blipFill rotWithShape="1">
            <a:blip r:embed="rId5">
              <a:alphaModFix/>
            </a:blip>
            <a:stretch>
              <a:fillRect b="0" l="0" r="0" t="0"/>
            </a:stretch>
          </a:blipFill>
          <a:ln>
            <a:noFill/>
          </a:ln>
        </p:spPr>
      </p:sp>
      <p:sp>
        <p:nvSpPr>
          <p:cNvPr id="149" name="Google Shape;149;p7"/>
          <p:cNvSpPr txBox="1"/>
          <p:nvPr/>
        </p:nvSpPr>
        <p:spPr>
          <a:xfrm>
            <a:off x="857584" y="-40710"/>
            <a:ext cx="1657283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TRANSFORMATION OF INDEPENDENT VARIABLE</a:t>
            </a:r>
            <a:endParaRPr/>
          </a:p>
        </p:txBody>
      </p:sp>
      <p:sp>
        <p:nvSpPr>
          <p:cNvPr id="150" name="Google Shape;150;p7"/>
          <p:cNvSpPr txBox="1"/>
          <p:nvPr/>
        </p:nvSpPr>
        <p:spPr>
          <a:xfrm>
            <a:off x="1028700" y="1275600"/>
            <a:ext cx="2183844" cy="509973"/>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2797" u="none" cap="none" strike="noStrike">
                <a:solidFill>
                  <a:srgbClr val="000000"/>
                </a:solidFill>
                <a:latin typeface="Poppins"/>
                <a:ea typeface="Poppins"/>
                <a:cs typeface="Poppins"/>
                <a:sym typeface="Poppins"/>
              </a:rPr>
              <a:t>1.Time Shift : </a:t>
            </a:r>
            <a:endParaRPr/>
          </a:p>
        </p:txBody>
      </p:sp>
      <p:sp>
        <p:nvSpPr>
          <p:cNvPr id="151" name="Google Shape;151;p7"/>
          <p:cNvSpPr txBox="1"/>
          <p:nvPr/>
        </p:nvSpPr>
        <p:spPr>
          <a:xfrm>
            <a:off x="857584" y="8337578"/>
            <a:ext cx="6570763" cy="1416117"/>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Continuous-time signals related by a time shift. In this figure t0 &lt; 0, so that x(t - to) is an advanced version of x(t) (i.e., each point in x(t) occurs at an earlier time in x(t - to)). </a:t>
            </a:r>
            <a:endParaRPr/>
          </a:p>
        </p:txBody>
      </p:sp>
      <p:sp>
        <p:nvSpPr>
          <p:cNvPr id="152" name="Google Shape;152;p7"/>
          <p:cNvSpPr txBox="1"/>
          <p:nvPr/>
        </p:nvSpPr>
        <p:spPr>
          <a:xfrm>
            <a:off x="9759584" y="8337578"/>
            <a:ext cx="6570763" cy="1416117"/>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Discrete-time signals related by a time shift. In this figure n0 &gt; 0, so that x[n- n0] is a delayed version of x[n] (i.e., each point in x[n] occurs later in x[n- n0]).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p:nvPr/>
        </p:nvSpPr>
        <p:spPr>
          <a:xfrm>
            <a:off x="-193058" y="-141822"/>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58" name="Google Shape;158;p8"/>
          <p:cNvSpPr/>
          <p:nvPr/>
        </p:nvSpPr>
        <p:spPr>
          <a:xfrm>
            <a:off x="10632391" y="2204888"/>
            <a:ext cx="5913990" cy="5886986"/>
          </a:xfrm>
          <a:custGeom>
            <a:rect b="b" l="l" r="r" t="t"/>
            <a:pathLst>
              <a:path extrusionOk="0" h="5886986" w="5913990">
                <a:moveTo>
                  <a:pt x="0" y="0"/>
                </a:moveTo>
                <a:lnTo>
                  <a:pt x="5913990" y="0"/>
                </a:lnTo>
                <a:lnTo>
                  <a:pt x="5913990" y="5886985"/>
                </a:lnTo>
                <a:lnTo>
                  <a:pt x="0" y="5886985"/>
                </a:lnTo>
                <a:lnTo>
                  <a:pt x="0" y="0"/>
                </a:lnTo>
                <a:close/>
              </a:path>
            </a:pathLst>
          </a:custGeom>
          <a:blipFill rotWithShape="1">
            <a:blip r:embed="rId4">
              <a:alphaModFix/>
            </a:blip>
            <a:stretch>
              <a:fillRect b="0" l="0" r="0" t="0"/>
            </a:stretch>
          </a:blipFill>
          <a:ln>
            <a:noFill/>
          </a:ln>
        </p:spPr>
      </p:sp>
      <p:sp>
        <p:nvSpPr>
          <p:cNvPr id="159" name="Google Shape;159;p8"/>
          <p:cNvSpPr/>
          <p:nvPr/>
        </p:nvSpPr>
        <p:spPr>
          <a:xfrm>
            <a:off x="1582270" y="2079214"/>
            <a:ext cx="5615019" cy="6138334"/>
          </a:xfrm>
          <a:custGeom>
            <a:rect b="b" l="l" r="r" t="t"/>
            <a:pathLst>
              <a:path extrusionOk="0" h="6138334" w="5615019">
                <a:moveTo>
                  <a:pt x="0" y="0"/>
                </a:moveTo>
                <a:lnTo>
                  <a:pt x="5615020" y="0"/>
                </a:lnTo>
                <a:lnTo>
                  <a:pt x="5615020" y="6138334"/>
                </a:lnTo>
                <a:lnTo>
                  <a:pt x="0" y="6138334"/>
                </a:lnTo>
                <a:lnTo>
                  <a:pt x="0" y="0"/>
                </a:lnTo>
                <a:close/>
              </a:path>
            </a:pathLst>
          </a:custGeom>
          <a:blipFill rotWithShape="1">
            <a:blip r:embed="rId5">
              <a:alphaModFix/>
            </a:blip>
            <a:stretch>
              <a:fillRect b="0" l="0" r="0" t="0"/>
            </a:stretch>
          </a:blipFill>
          <a:ln>
            <a:noFill/>
          </a:ln>
        </p:spPr>
      </p:sp>
      <p:sp>
        <p:nvSpPr>
          <p:cNvPr id="160" name="Google Shape;160;p8"/>
          <p:cNvSpPr txBox="1"/>
          <p:nvPr/>
        </p:nvSpPr>
        <p:spPr>
          <a:xfrm>
            <a:off x="1028700" y="1180508"/>
            <a:ext cx="3205520" cy="509973"/>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US" sz="2797" u="none" cap="none" strike="noStrike">
                <a:solidFill>
                  <a:srgbClr val="000000"/>
                </a:solidFill>
                <a:latin typeface="Poppins"/>
                <a:ea typeface="Poppins"/>
                <a:cs typeface="Poppins"/>
                <a:sym typeface="Poppins"/>
              </a:rPr>
              <a:t>2.Time Reversval : </a:t>
            </a:r>
            <a:endParaRPr/>
          </a:p>
        </p:txBody>
      </p:sp>
      <p:sp>
        <p:nvSpPr>
          <p:cNvPr id="161" name="Google Shape;161;p8"/>
          <p:cNvSpPr txBox="1"/>
          <p:nvPr/>
        </p:nvSpPr>
        <p:spPr>
          <a:xfrm>
            <a:off x="9139238" y="4608795"/>
            <a:ext cx="9525" cy="509973"/>
          </a:xfrm>
          <a:prstGeom prst="rect">
            <a:avLst/>
          </a:prstGeom>
          <a:noFill/>
          <a:ln>
            <a:noFill/>
          </a:ln>
        </p:spPr>
        <p:txBody>
          <a:bodyPr anchorCtr="0" anchor="t" bIns="0" lIns="0" spcFirstLastPara="1" rIns="0" wrap="square" tIns="0">
            <a:spAutoFit/>
          </a:bodyPr>
          <a:lstStyle/>
          <a:p>
            <a:pPr indent="0" lvl="0" marL="0" marR="0" rtl="0" algn="ctr">
              <a:lnSpc>
                <a:spcPct val="217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8"/>
          <p:cNvSpPr txBox="1"/>
          <p:nvPr/>
        </p:nvSpPr>
        <p:spPr>
          <a:xfrm>
            <a:off x="1823784" y="8397807"/>
            <a:ext cx="5131992" cy="711267"/>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(a) A continuous-time signal x(t); (b) its reflection x( - t) about t = 0. </a:t>
            </a:r>
            <a:endParaRPr/>
          </a:p>
        </p:txBody>
      </p:sp>
      <p:sp>
        <p:nvSpPr>
          <p:cNvPr id="163" name="Google Shape;163;p8"/>
          <p:cNvSpPr txBox="1"/>
          <p:nvPr/>
        </p:nvSpPr>
        <p:spPr>
          <a:xfrm>
            <a:off x="11230274" y="8397807"/>
            <a:ext cx="4718224" cy="711267"/>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(a) A discrete-time signal x[n]; (b) its reflection x[-n] about n = 0.</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69" name="Google Shape;169;p9"/>
          <p:cNvSpPr/>
          <p:nvPr/>
        </p:nvSpPr>
        <p:spPr>
          <a:xfrm>
            <a:off x="6235874" y="1787594"/>
            <a:ext cx="5092646" cy="6764159"/>
          </a:xfrm>
          <a:custGeom>
            <a:rect b="b" l="l" r="r" t="t"/>
            <a:pathLst>
              <a:path extrusionOk="0" h="6764159" w="5092646">
                <a:moveTo>
                  <a:pt x="0" y="0"/>
                </a:moveTo>
                <a:lnTo>
                  <a:pt x="5092646" y="0"/>
                </a:lnTo>
                <a:lnTo>
                  <a:pt x="5092646" y="6764159"/>
                </a:lnTo>
                <a:lnTo>
                  <a:pt x="0" y="6764159"/>
                </a:lnTo>
                <a:lnTo>
                  <a:pt x="0" y="0"/>
                </a:lnTo>
                <a:close/>
              </a:path>
            </a:pathLst>
          </a:custGeom>
          <a:blipFill rotWithShape="1">
            <a:blip r:embed="rId4">
              <a:alphaModFix/>
            </a:blip>
            <a:stretch>
              <a:fillRect b="0" l="0" r="0" t="0"/>
            </a:stretch>
          </a:blipFill>
          <a:ln>
            <a:noFill/>
          </a:ln>
        </p:spPr>
      </p:sp>
      <p:sp>
        <p:nvSpPr>
          <p:cNvPr id="170" name="Google Shape;170;p9"/>
          <p:cNvSpPr txBox="1"/>
          <p:nvPr/>
        </p:nvSpPr>
        <p:spPr>
          <a:xfrm>
            <a:off x="857584" y="-40710"/>
            <a:ext cx="1657283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TRANSFORMATION OF INDEPENDENT VARIABLE</a:t>
            </a:r>
            <a:endParaRPr/>
          </a:p>
        </p:txBody>
      </p:sp>
      <p:sp>
        <p:nvSpPr>
          <p:cNvPr id="171" name="Google Shape;171;p9"/>
          <p:cNvSpPr txBox="1"/>
          <p:nvPr/>
        </p:nvSpPr>
        <p:spPr>
          <a:xfrm>
            <a:off x="1181462" y="1489745"/>
            <a:ext cx="2721650" cy="509973"/>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US" sz="2797" u="none" cap="none" strike="noStrike">
                <a:solidFill>
                  <a:srgbClr val="000000"/>
                </a:solidFill>
                <a:latin typeface="Poppins"/>
                <a:ea typeface="Poppins"/>
                <a:cs typeface="Poppins"/>
                <a:sym typeface="Poppins"/>
              </a:rPr>
              <a:t>3.Time Scaling: </a:t>
            </a:r>
            <a:endParaRPr/>
          </a:p>
        </p:txBody>
      </p:sp>
      <p:sp>
        <p:nvSpPr>
          <p:cNvPr id="172" name="Google Shape;172;p9"/>
          <p:cNvSpPr txBox="1"/>
          <p:nvPr/>
        </p:nvSpPr>
        <p:spPr>
          <a:xfrm>
            <a:off x="9139238" y="4608795"/>
            <a:ext cx="9525" cy="509973"/>
          </a:xfrm>
          <a:prstGeom prst="rect">
            <a:avLst/>
          </a:prstGeom>
          <a:noFill/>
          <a:ln>
            <a:noFill/>
          </a:ln>
        </p:spPr>
        <p:txBody>
          <a:bodyPr anchorCtr="0" anchor="t" bIns="0" lIns="0" spcFirstLastPara="1" rIns="0" wrap="square" tIns="0">
            <a:spAutoFit/>
          </a:bodyPr>
          <a:lstStyle/>
          <a:p>
            <a:pPr indent="0" lvl="0" marL="0" marR="0" rtl="0" algn="ctr">
              <a:lnSpc>
                <a:spcPct val="217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9"/>
          <p:cNvSpPr txBox="1"/>
          <p:nvPr/>
        </p:nvSpPr>
        <p:spPr>
          <a:xfrm>
            <a:off x="5457793" y="8776902"/>
            <a:ext cx="6648808"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Continuous-time signals related by time scaling.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p:nvPr/>
        </p:nvSpPr>
        <p:spPr>
          <a:xfrm>
            <a:off x="-193058"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79" name="Google Shape;179;p10"/>
          <p:cNvSpPr txBox="1"/>
          <p:nvPr/>
        </p:nvSpPr>
        <p:spPr>
          <a:xfrm>
            <a:off x="857584" y="-40710"/>
            <a:ext cx="1657283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PERIODIC SIGNALS </a:t>
            </a:r>
            <a:endParaRPr/>
          </a:p>
        </p:txBody>
      </p:sp>
      <p:sp>
        <p:nvSpPr>
          <p:cNvPr id="180" name="Google Shape;180;p10"/>
          <p:cNvSpPr txBox="1"/>
          <p:nvPr/>
        </p:nvSpPr>
        <p:spPr>
          <a:xfrm>
            <a:off x="857584" y="1200414"/>
            <a:ext cx="5258634" cy="52394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Continuous Periodic Signal :</a:t>
            </a:r>
            <a:endParaRPr/>
          </a:p>
        </p:txBody>
      </p:sp>
      <p:sp>
        <p:nvSpPr>
          <p:cNvPr id="181" name="Google Shape;181;p10"/>
          <p:cNvSpPr txBox="1"/>
          <p:nvPr/>
        </p:nvSpPr>
        <p:spPr>
          <a:xfrm>
            <a:off x="9139238" y="4608795"/>
            <a:ext cx="9525" cy="509973"/>
          </a:xfrm>
          <a:prstGeom prst="rect">
            <a:avLst/>
          </a:prstGeom>
          <a:noFill/>
          <a:ln>
            <a:noFill/>
          </a:ln>
        </p:spPr>
        <p:txBody>
          <a:bodyPr anchorCtr="0" anchor="t" bIns="0" lIns="0" spcFirstLastPara="1" rIns="0" wrap="square" tIns="0">
            <a:spAutoFit/>
          </a:bodyPr>
          <a:lstStyle/>
          <a:p>
            <a:pPr indent="0" lvl="0" marL="0" marR="0" rtl="0" algn="ctr">
              <a:lnSpc>
                <a:spcPct val="217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10"/>
          <p:cNvSpPr/>
          <p:nvPr/>
        </p:nvSpPr>
        <p:spPr>
          <a:xfrm>
            <a:off x="1028700" y="6537989"/>
            <a:ext cx="10523771" cy="3690628"/>
          </a:xfrm>
          <a:custGeom>
            <a:rect b="b" l="l" r="r" t="t"/>
            <a:pathLst>
              <a:path extrusionOk="0" h="3690628" w="10523771">
                <a:moveTo>
                  <a:pt x="0" y="0"/>
                </a:moveTo>
                <a:lnTo>
                  <a:pt x="10523771" y="0"/>
                </a:lnTo>
                <a:lnTo>
                  <a:pt x="10523771" y="3690628"/>
                </a:lnTo>
                <a:lnTo>
                  <a:pt x="0" y="3690628"/>
                </a:lnTo>
                <a:lnTo>
                  <a:pt x="0" y="0"/>
                </a:lnTo>
                <a:close/>
              </a:path>
            </a:pathLst>
          </a:custGeom>
          <a:blipFill rotWithShape="1">
            <a:blip r:embed="rId4">
              <a:alphaModFix/>
            </a:blip>
            <a:stretch>
              <a:fillRect b="0" l="0" r="0" t="0"/>
            </a:stretch>
          </a:blipFill>
          <a:ln>
            <a:noFill/>
          </a:ln>
        </p:spPr>
      </p:sp>
      <p:sp>
        <p:nvSpPr>
          <p:cNvPr id="183" name="Google Shape;183;p10"/>
          <p:cNvSpPr txBox="1"/>
          <p:nvPr/>
        </p:nvSpPr>
        <p:spPr>
          <a:xfrm>
            <a:off x="857584" y="1905332"/>
            <a:ext cx="17430416" cy="4384743"/>
          </a:xfrm>
          <a:prstGeom prst="rect">
            <a:avLst/>
          </a:prstGeom>
          <a:noFill/>
          <a:ln>
            <a:noFill/>
          </a:ln>
        </p:spPr>
        <p:txBody>
          <a:bodyPr anchorCtr="0" anchor="t" bIns="0" lIns="0" spcFirstLastPara="1" rIns="0" wrap="square" tIns="0">
            <a:spAutoFit/>
          </a:bodyPr>
          <a:lstStyle/>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 A periodic continuous-time signal x(t) has the property that there is a positive value of T for which x(t) = x(t + T) for all values oft. In other words, a periodic signal has the property that it is unchanged by a time shift of T.</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The fundamental period To of x(t) is the smallest positive value of T.</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 If x(t) is a constant. In this case the fundamental period is undefined, since x(t) is periodic for any choice of T (so there is no smallest positive value). </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A signal x(t) that is not periodic will be referred to as an aperiodic signal. </a:t>
            </a:r>
            <a:endParaRPr/>
          </a:p>
        </p:txBody>
      </p:sp>
      <p:sp>
        <p:nvSpPr>
          <p:cNvPr id="184" name="Google Shape;184;p10"/>
          <p:cNvSpPr txBox="1"/>
          <p:nvPr/>
        </p:nvSpPr>
        <p:spPr>
          <a:xfrm>
            <a:off x="11963909" y="9191625"/>
            <a:ext cx="5295391" cy="368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000000"/>
                </a:solidFill>
                <a:latin typeface="Poppins"/>
                <a:ea typeface="Poppins"/>
                <a:cs typeface="Poppins"/>
                <a:sym typeface="Poppins"/>
              </a:rPr>
              <a:t>Fig. A continuous periodic signal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p:nvPr/>
        </p:nvSpPr>
        <p:spPr>
          <a:xfrm>
            <a:off x="-193058"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90" name="Google Shape;190;p11"/>
          <p:cNvSpPr/>
          <p:nvPr/>
        </p:nvSpPr>
        <p:spPr>
          <a:xfrm>
            <a:off x="4171415" y="5290203"/>
            <a:ext cx="9945171" cy="3964319"/>
          </a:xfrm>
          <a:custGeom>
            <a:rect b="b" l="l" r="r" t="t"/>
            <a:pathLst>
              <a:path extrusionOk="0" h="3964319" w="9945171">
                <a:moveTo>
                  <a:pt x="0" y="0"/>
                </a:moveTo>
                <a:lnTo>
                  <a:pt x="9945170" y="0"/>
                </a:lnTo>
                <a:lnTo>
                  <a:pt x="9945170" y="3964319"/>
                </a:lnTo>
                <a:lnTo>
                  <a:pt x="0" y="3964319"/>
                </a:lnTo>
                <a:lnTo>
                  <a:pt x="0" y="0"/>
                </a:lnTo>
                <a:close/>
              </a:path>
            </a:pathLst>
          </a:custGeom>
          <a:blipFill rotWithShape="1">
            <a:blip r:embed="rId4">
              <a:alphaModFix/>
            </a:blip>
            <a:stretch>
              <a:fillRect b="0" l="0" r="0" t="0"/>
            </a:stretch>
          </a:blipFill>
          <a:ln>
            <a:noFill/>
          </a:ln>
        </p:spPr>
      </p:sp>
      <p:sp>
        <p:nvSpPr>
          <p:cNvPr id="191" name="Google Shape;191;p11"/>
          <p:cNvSpPr txBox="1"/>
          <p:nvPr/>
        </p:nvSpPr>
        <p:spPr>
          <a:xfrm>
            <a:off x="857584" y="-40710"/>
            <a:ext cx="1657283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PERIODIC SIGNALS </a:t>
            </a:r>
            <a:endParaRPr/>
          </a:p>
        </p:txBody>
      </p:sp>
      <p:sp>
        <p:nvSpPr>
          <p:cNvPr id="192" name="Google Shape;192;p11"/>
          <p:cNvSpPr txBox="1"/>
          <p:nvPr/>
        </p:nvSpPr>
        <p:spPr>
          <a:xfrm>
            <a:off x="857584" y="1396772"/>
            <a:ext cx="4617363" cy="52394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Discrete Periodic Signal :</a:t>
            </a:r>
            <a:endParaRPr/>
          </a:p>
        </p:txBody>
      </p:sp>
      <p:sp>
        <p:nvSpPr>
          <p:cNvPr id="193" name="Google Shape;193;p11"/>
          <p:cNvSpPr txBox="1"/>
          <p:nvPr/>
        </p:nvSpPr>
        <p:spPr>
          <a:xfrm>
            <a:off x="9139238" y="4608795"/>
            <a:ext cx="9525" cy="509973"/>
          </a:xfrm>
          <a:prstGeom prst="rect">
            <a:avLst/>
          </a:prstGeom>
          <a:noFill/>
          <a:ln>
            <a:noFill/>
          </a:ln>
        </p:spPr>
        <p:txBody>
          <a:bodyPr anchorCtr="0" anchor="t" bIns="0" lIns="0" spcFirstLastPara="1" rIns="0" wrap="square" tIns="0">
            <a:spAutoFit/>
          </a:bodyPr>
          <a:lstStyle/>
          <a:p>
            <a:pPr indent="0" lvl="0" marL="0" marR="0" rtl="0" algn="ctr">
              <a:lnSpc>
                <a:spcPct val="217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11"/>
          <p:cNvSpPr txBox="1"/>
          <p:nvPr/>
        </p:nvSpPr>
        <p:spPr>
          <a:xfrm>
            <a:off x="1028700" y="2298312"/>
            <a:ext cx="17259300" cy="1755843"/>
          </a:xfrm>
          <a:prstGeom prst="rect">
            <a:avLst/>
          </a:prstGeom>
          <a:noFill/>
          <a:ln>
            <a:noFill/>
          </a:ln>
        </p:spPr>
        <p:txBody>
          <a:bodyPr anchorCtr="0" anchor="t" bIns="0" lIns="0" spcFirstLastPara="1" rIns="0" wrap="square" tIns="0">
            <a:spAutoFit/>
          </a:bodyPr>
          <a:lstStyle/>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A discrete time signal x[n] is periodic with period N, where N is a positive integer, if it is unchanged by a time shift of N, i.e., if x[n] = x[n + N] for all values of n. </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The fundamental period N0 is the smallest positive value of N.</a:t>
            </a:r>
            <a:endParaRPr/>
          </a:p>
        </p:txBody>
      </p:sp>
      <p:sp>
        <p:nvSpPr>
          <p:cNvPr id="195" name="Google Shape;195;p11"/>
          <p:cNvSpPr txBox="1"/>
          <p:nvPr/>
        </p:nvSpPr>
        <p:spPr>
          <a:xfrm>
            <a:off x="4074885" y="9480273"/>
            <a:ext cx="9945171"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A discrete-time periodic signal with fundamental period No= 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p:nvPr/>
        </p:nvSpPr>
        <p:spPr>
          <a:xfrm>
            <a:off x="-193058"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01" name="Google Shape;201;p12"/>
          <p:cNvSpPr/>
          <p:nvPr/>
        </p:nvSpPr>
        <p:spPr>
          <a:xfrm>
            <a:off x="1350351" y="3302074"/>
            <a:ext cx="4838810" cy="5734455"/>
          </a:xfrm>
          <a:custGeom>
            <a:rect b="b" l="l" r="r" t="t"/>
            <a:pathLst>
              <a:path extrusionOk="0" h="5734455" w="4838810">
                <a:moveTo>
                  <a:pt x="0" y="0"/>
                </a:moveTo>
                <a:lnTo>
                  <a:pt x="4838810" y="0"/>
                </a:lnTo>
                <a:lnTo>
                  <a:pt x="4838810" y="5734455"/>
                </a:lnTo>
                <a:lnTo>
                  <a:pt x="0" y="5734455"/>
                </a:lnTo>
                <a:lnTo>
                  <a:pt x="0" y="0"/>
                </a:lnTo>
                <a:close/>
              </a:path>
            </a:pathLst>
          </a:custGeom>
          <a:blipFill rotWithShape="1">
            <a:blip r:embed="rId4">
              <a:alphaModFix/>
            </a:blip>
            <a:stretch>
              <a:fillRect b="0" l="0" r="0" t="0"/>
            </a:stretch>
          </a:blipFill>
          <a:ln>
            <a:noFill/>
          </a:ln>
        </p:spPr>
      </p:sp>
      <p:sp>
        <p:nvSpPr>
          <p:cNvPr id="202" name="Google Shape;202;p12"/>
          <p:cNvSpPr/>
          <p:nvPr/>
        </p:nvSpPr>
        <p:spPr>
          <a:xfrm>
            <a:off x="11527644" y="3120461"/>
            <a:ext cx="3997574" cy="6097682"/>
          </a:xfrm>
          <a:custGeom>
            <a:rect b="b" l="l" r="r" t="t"/>
            <a:pathLst>
              <a:path extrusionOk="0" h="6097682" w="3997574">
                <a:moveTo>
                  <a:pt x="0" y="0"/>
                </a:moveTo>
                <a:lnTo>
                  <a:pt x="3997574" y="0"/>
                </a:lnTo>
                <a:lnTo>
                  <a:pt x="3997574" y="6097681"/>
                </a:lnTo>
                <a:lnTo>
                  <a:pt x="0" y="6097681"/>
                </a:lnTo>
                <a:lnTo>
                  <a:pt x="0" y="0"/>
                </a:lnTo>
                <a:close/>
              </a:path>
            </a:pathLst>
          </a:custGeom>
          <a:blipFill rotWithShape="1">
            <a:blip r:embed="rId5">
              <a:alphaModFix/>
            </a:blip>
            <a:stretch>
              <a:fillRect b="0" l="0" r="0" t="0"/>
            </a:stretch>
          </a:blipFill>
          <a:ln>
            <a:noFill/>
          </a:ln>
        </p:spPr>
      </p:sp>
      <p:sp>
        <p:nvSpPr>
          <p:cNvPr id="203" name="Google Shape;203;p12"/>
          <p:cNvSpPr txBox="1"/>
          <p:nvPr/>
        </p:nvSpPr>
        <p:spPr>
          <a:xfrm>
            <a:off x="857584" y="-40710"/>
            <a:ext cx="1657283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EVEN AND ODD SIGNALS </a:t>
            </a:r>
            <a:endParaRPr/>
          </a:p>
        </p:txBody>
      </p:sp>
      <p:sp>
        <p:nvSpPr>
          <p:cNvPr id="204" name="Google Shape;204;p12"/>
          <p:cNvSpPr txBox="1"/>
          <p:nvPr/>
        </p:nvSpPr>
        <p:spPr>
          <a:xfrm>
            <a:off x="9139238" y="4608795"/>
            <a:ext cx="9525" cy="509973"/>
          </a:xfrm>
          <a:prstGeom prst="rect">
            <a:avLst/>
          </a:prstGeom>
          <a:noFill/>
          <a:ln>
            <a:noFill/>
          </a:ln>
        </p:spPr>
        <p:txBody>
          <a:bodyPr anchorCtr="0" anchor="t" bIns="0" lIns="0" spcFirstLastPara="1" rIns="0" wrap="square" tIns="0">
            <a:spAutoFit/>
          </a:bodyPr>
          <a:lstStyle/>
          <a:p>
            <a:pPr indent="0" lvl="0" marL="0" marR="0" rtl="0" algn="ctr">
              <a:lnSpc>
                <a:spcPct val="217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12"/>
          <p:cNvSpPr txBox="1"/>
          <p:nvPr/>
        </p:nvSpPr>
        <p:spPr>
          <a:xfrm>
            <a:off x="493338" y="1364618"/>
            <a:ext cx="18288000" cy="1755843"/>
          </a:xfrm>
          <a:prstGeom prst="rect">
            <a:avLst/>
          </a:prstGeom>
          <a:noFill/>
          <a:ln>
            <a:noFill/>
          </a:ln>
        </p:spPr>
        <p:txBody>
          <a:bodyPr anchorCtr="0" anchor="t" bIns="0" lIns="0" spcFirstLastPara="1" rIns="0" wrap="square" tIns="0">
            <a:spAutoFit/>
          </a:bodyPr>
          <a:lstStyle/>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A signal x(t) or x[n] is referred to as an even signal if it is identical to its time-reversed counterpart, i.e., with its reflection about the origin. </a:t>
            </a:r>
            <a:endParaRPr/>
          </a:p>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 In continuous time a signal is even if x(-t) = x(t), while a discrete-time signal is even if x[-n] = x[n]. </a:t>
            </a:r>
            <a:endParaRPr/>
          </a:p>
          <a:p>
            <a:pPr indent="-269588" lvl="1" marL="539176" marR="0" rtl="0" algn="l">
              <a:lnSpc>
                <a:spcPct val="140008"/>
              </a:lnSpc>
              <a:spcBef>
                <a:spcPts val="0"/>
              </a:spcBef>
              <a:spcAft>
                <a:spcPts val="0"/>
              </a:spcAft>
              <a:buClr>
                <a:srgbClr val="000000"/>
              </a:buClr>
              <a:buSzPts val="2497"/>
              <a:buFont typeface="Arial"/>
              <a:buChar char="•"/>
            </a:pPr>
            <a:r>
              <a:rPr b="0" i="0" lang="en-US" sz="2497" u="none" cap="none" strike="noStrike">
                <a:solidFill>
                  <a:srgbClr val="000000"/>
                </a:solidFill>
                <a:latin typeface="Poppins"/>
                <a:ea typeface="Poppins"/>
                <a:cs typeface="Poppins"/>
                <a:sym typeface="Poppins"/>
              </a:rPr>
              <a:t>A signal is referred to as odd if x( -t) = - x(t), x[-n] = -x[n].</a:t>
            </a:r>
            <a:endParaRPr/>
          </a:p>
        </p:txBody>
      </p:sp>
      <p:sp>
        <p:nvSpPr>
          <p:cNvPr id="206" name="Google Shape;206;p12"/>
          <p:cNvSpPr txBox="1"/>
          <p:nvPr/>
        </p:nvSpPr>
        <p:spPr>
          <a:xfrm>
            <a:off x="1350351" y="9188291"/>
            <a:ext cx="6089273" cy="7207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000000"/>
                </a:solidFill>
                <a:latin typeface="Poppins"/>
                <a:ea typeface="Poppins"/>
                <a:cs typeface="Poppins"/>
                <a:sym typeface="Poppins"/>
              </a:rPr>
              <a:t>Fig. (a) An even continuous-time signal; (b) an odd continuous-time signal. </a:t>
            </a:r>
            <a:endParaRPr/>
          </a:p>
        </p:txBody>
      </p:sp>
      <p:sp>
        <p:nvSpPr>
          <p:cNvPr id="207" name="Google Shape;207;p12"/>
          <p:cNvSpPr txBox="1"/>
          <p:nvPr/>
        </p:nvSpPr>
        <p:spPr>
          <a:xfrm>
            <a:off x="10005326" y="9296879"/>
            <a:ext cx="7913627" cy="7207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000000"/>
                </a:solidFill>
                <a:latin typeface="Poppins"/>
                <a:ea typeface="Poppins"/>
                <a:cs typeface="Poppins"/>
                <a:sym typeface="Poppins"/>
              </a:rPr>
              <a:t>Fig. Example of the even odd decomposition of a discrete-time signal.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3"/>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13" name="Google Shape;213;p13"/>
          <p:cNvSpPr/>
          <p:nvPr/>
        </p:nvSpPr>
        <p:spPr>
          <a:xfrm>
            <a:off x="1028700" y="4780886"/>
            <a:ext cx="6760017" cy="4477414"/>
          </a:xfrm>
          <a:custGeom>
            <a:rect b="b" l="l" r="r" t="t"/>
            <a:pathLst>
              <a:path extrusionOk="0" h="4477414" w="6760017">
                <a:moveTo>
                  <a:pt x="0" y="0"/>
                </a:moveTo>
                <a:lnTo>
                  <a:pt x="6760017" y="0"/>
                </a:lnTo>
                <a:lnTo>
                  <a:pt x="6760017" y="4477414"/>
                </a:lnTo>
                <a:lnTo>
                  <a:pt x="0" y="4477414"/>
                </a:lnTo>
                <a:lnTo>
                  <a:pt x="0" y="0"/>
                </a:lnTo>
                <a:close/>
              </a:path>
            </a:pathLst>
          </a:custGeom>
          <a:blipFill rotWithShape="1">
            <a:blip r:embed="rId4">
              <a:alphaModFix/>
            </a:blip>
            <a:stretch>
              <a:fillRect b="0" l="0" r="0" t="0"/>
            </a:stretch>
          </a:blipFill>
          <a:ln>
            <a:noFill/>
          </a:ln>
        </p:spPr>
      </p:sp>
      <p:sp>
        <p:nvSpPr>
          <p:cNvPr id="214" name="Google Shape;214;p13"/>
          <p:cNvSpPr/>
          <p:nvPr/>
        </p:nvSpPr>
        <p:spPr>
          <a:xfrm>
            <a:off x="11390789" y="4780886"/>
            <a:ext cx="6039626" cy="4477414"/>
          </a:xfrm>
          <a:custGeom>
            <a:rect b="b" l="l" r="r" t="t"/>
            <a:pathLst>
              <a:path extrusionOk="0" h="4477414" w="6039626">
                <a:moveTo>
                  <a:pt x="0" y="0"/>
                </a:moveTo>
                <a:lnTo>
                  <a:pt x="6039627" y="0"/>
                </a:lnTo>
                <a:lnTo>
                  <a:pt x="6039627" y="4477414"/>
                </a:lnTo>
                <a:lnTo>
                  <a:pt x="0" y="4477414"/>
                </a:lnTo>
                <a:lnTo>
                  <a:pt x="0" y="0"/>
                </a:lnTo>
                <a:close/>
              </a:path>
            </a:pathLst>
          </a:custGeom>
          <a:blipFill rotWithShape="1">
            <a:blip r:embed="rId5">
              <a:alphaModFix/>
            </a:blip>
            <a:stretch>
              <a:fillRect b="0" l="0" r="0" t="0"/>
            </a:stretch>
          </a:blipFill>
          <a:ln>
            <a:noFill/>
          </a:ln>
        </p:spPr>
      </p:sp>
      <p:sp>
        <p:nvSpPr>
          <p:cNvPr id="215" name="Google Shape;215;p13"/>
          <p:cNvSpPr txBox="1"/>
          <p:nvPr/>
        </p:nvSpPr>
        <p:spPr>
          <a:xfrm>
            <a:off x="857584" y="-40710"/>
            <a:ext cx="16572832"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EXPONENTIAL AND SINUSOIDAL SIGNALS</a:t>
            </a:r>
            <a:endParaRPr/>
          </a:p>
        </p:txBody>
      </p:sp>
      <p:sp>
        <p:nvSpPr>
          <p:cNvPr id="216" name="Google Shape;216;p13"/>
          <p:cNvSpPr txBox="1"/>
          <p:nvPr/>
        </p:nvSpPr>
        <p:spPr>
          <a:xfrm>
            <a:off x="205232" y="1368006"/>
            <a:ext cx="11950912" cy="52394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Continuous-Time Complex Exponential and Sinusoidal Signals </a:t>
            </a:r>
            <a:endParaRPr/>
          </a:p>
        </p:txBody>
      </p:sp>
      <p:sp>
        <p:nvSpPr>
          <p:cNvPr id="217" name="Google Shape;217;p13"/>
          <p:cNvSpPr txBox="1"/>
          <p:nvPr/>
        </p:nvSpPr>
        <p:spPr>
          <a:xfrm>
            <a:off x="437187" y="2347462"/>
            <a:ext cx="16521507" cy="1317693"/>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The continuous-time complex exponential signal is of the form</a:t>
            </a:r>
            <a:r>
              <a:rPr b="1" i="0" lang="en-US" sz="2497" u="none" cap="none" strike="noStrike">
                <a:solidFill>
                  <a:srgbClr val="000000"/>
                </a:solidFill>
                <a:latin typeface="Poppins"/>
                <a:ea typeface="Poppins"/>
                <a:cs typeface="Poppins"/>
                <a:sym typeface="Poppins"/>
              </a:rPr>
              <a:t> x (t) = Ceat  </a:t>
            </a:r>
            <a:r>
              <a:rPr b="0" i="0" lang="en-US" sz="2497" u="none" cap="none" strike="noStrike">
                <a:solidFill>
                  <a:srgbClr val="000000"/>
                </a:solidFill>
                <a:latin typeface="Poppins"/>
                <a:ea typeface="Poppins"/>
                <a:cs typeface="Poppins"/>
                <a:sym typeface="Poppins"/>
              </a:rPr>
              <a:t>where C and a are, in general, complex numbers. Depending upon the values of these parameters, the complex exponential can exhibit several different characteristics. </a:t>
            </a:r>
            <a:endParaRPr/>
          </a:p>
        </p:txBody>
      </p:sp>
      <p:sp>
        <p:nvSpPr>
          <p:cNvPr id="218" name="Google Shape;218;p13"/>
          <p:cNvSpPr txBox="1"/>
          <p:nvPr/>
        </p:nvSpPr>
        <p:spPr>
          <a:xfrm>
            <a:off x="2384646" y="4120669"/>
            <a:ext cx="4048125"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Real Exponential Signals : </a:t>
            </a:r>
            <a:endParaRPr/>
          </a:p>
        </p:txBody>
      </p:sp>
      <p:sp>
        <p:nvSpPr>
          <p:cNvPr id="219" name="Google Shape;219;p13"/>
          <p:cNvSpPr txBox="1"/>
          <p:nvPr/>
        </p:nvSpPr>
        <p:spPr>
          <a:xfrm>
            <a:off x="6659431" y="4120669"/>
            <a:ext cx="10299263"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if C and a are real [in which case x(t) is called a real exponential]</a:t>
            </a:r>
            <a:endParaRPr/>
          </a:p>
        </p:txBody>
      </p:sp>
      <p:sp>
        <p:nvSpPr>
          <p:cNvPr id="220" name="Google Shape;220;p13"/>
          <p:cNvSpPr txBox="1"/>
          <p:nvPr/>
        </p:nvSpPr>
        <p:spPr>
          <a:xfrm>
            <a:off x="5780609" y="9352335"/>
            <a:ext cx="7224832" cy="368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000000"/>
                </a:solidFill>
                <a:latin typeface="Poppins"/>
                <a:ea typeface="Poppins"/>
                <a:cs typeface="Poppins"/>
                <a:sym typeface="Poppins"/>
              </a:rPr>
              <a:t>Fig. Continuous-time real exponential : (a) a &gt; 0; (b) a&lt; 0.</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4"/>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26" name="Google Shape;226;p14"/>
          <p:cNvSpPr/>
          <p:nvPr/>
        </p:nvSpPr>
        <p:spPr>
          <a:xfrm>
            <a:off x="5643113" y="3901450"/>
            <a:ext cx="7194831" cy="5356850"/>
          </a:xfrm>
          <a:custGeom>
            <a:rect b="b" l="l" r="r" t="t"/>
            <a:pathLst>
              <a:path extrusionOk="0" h="5356850" w="7194831">
                <a:moveTo>
                  <a:pt x="0" y="0"/>
                </a:moveTo>
                <a:lnTo>
                  <a:pt x="7194832" y="0"/>
                </a:lnTo>
                <a:lnTo>
                  <a:pt x="7194832" y="5356850"/>
                </a:lnTo>
                <a:lnTo>
                  <a:pt x="0" y="5356850"/>
                </a:lnTo>
                <a:lnTo>
                  <a:pt x="0" y="0"/>
                </a:lnTo>
                <a:close/>
              </a:path>
            </a:pathLst>
          </a:custGeom>
          <a:blipFill rotWithShape="1">
            <a:blip r:embed="rId4">
              <a:alphaModFix/>
            </a:blip>
            <a:stretch>
              <a:fillRect b="0" l="0" r="0" t="0"/>
            </a:stretch>
          </a:blipFill>
          <a:ln>
            <a:noFill/>
          </a:ln>
        </p:spPr>
      </p:sp>
      <p:sp>
        <p:nvSpPr>
          <p:cNvPr id="227" name="Google Shape;227;p14"/>
          <p:cNvSpPr txBox="1"/>
          <p:nvPr/>
        </p:nvSpPr>
        <p:spPr>
          <a:xfrm>
            <a:off x="370040" y="467910"/>
            <a:ext cx="10267712" cy="52394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Periodic Complex Exponential and Sinusoidal Signals : </a:t>
            </a:r>
            <a:endParaRPr/>
          </a:p>
        </p:txBody>
      </p:sp>
      <p:sp>
        <p:nvSpPr>
          <p:cNvPr id="228" name="Google Shape;228;p14"/>
          <p:cNvSpPr txBox="1"/>
          <p:nvPr/>
        </p:nvSpPr>
        <p:spPr>
          <a:xfrm>
            <a:off x="370040" y="1353803"/>
            <a:ext cx="18111018" cy="13176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A second important class of complex exponentials is obtained by constraining a to be purely imaginary. Specifically, consider    </a:t>
            </a:r>
            <a:r>
              <a:rPr b="1" i="0" lang="en-US" sz="2497" u="none" cap="none" strike="noStrike">
                <a:solidFill>
                  <a:srgbClr val="000000"/>
                </a:solidFill>
                <a:latin typeface="Poppins"/>
                <a:ea typeface="Poppins"/>
                <a:cs typeface="Poppins"/>
                <a:sym typeface="Poppins"/>
              </a:rPr>
              <a:t>x(t) = ejw0t </a:t>
            </a:r>
            <a:r>
              <a:rPr b="0" i="0" lang="en-US" sz="2497" u="none" cap="none" strike="noStrike">
                <a:solidFill>
                  <a:srgbClr val="000000"/>
                </a:solidFill>
                <a:latin typeface="Poppins"/>
                <a:ea typeface="Poppins"/>
                <a:cs typeface="Poppins"/>
                <a:sym typeface="Poppins"/>
              </a:rPr>
              <a:t>             </a:t>
            </a:r>
            <a:endParaRPr/>
          </a:p>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 An important property of this signal is that it is periodic. </a:t>
            </a:r>
            <a:endParaRPr/>
          </a:p>
        </p:txBody>
      </p:sp>
      <p:sp>
        <p:nvSpPr>
          <p:cNvPr id="229" name="Google Shape;229;p14"/>
          <p:cNvSpPr txBox="1"/>
          <p:nvPr/>
        </p:nvSpPr>
        <p:spPr>
          <a:xfrm>
            <a:off x="370040" y="3033446"/>
            <a:ext cx="18111018" cy="4413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A signal closely related to the periodic complex exponential is the sinusoidal signal </a:t>
            </a:r>
            <a:r>
              <a:rPr b="1" i="0" lang="en-US" sz="2497" u="none" cap="none" strike="noStrike">
                <a:solidFill>
                  <a:srgbClr val="000000"/>
                </a:solidFill>
                <a:latin typeface="Poppins"/>
                <a:ea typeface="Poppins"/>
                <a:cs typeface="Poppins"/>
                <a:sym typeface="Poppins"/>
              </a:rPr>
              <a:t> x(t) =A cos (w0t +φ)</a:t>
            </a:r>
            <a:endParaRPr/>
          </a:p>
        </p:txBody>
      </p:sp>
      <p:sp>
        <p:nvSpPr>
          <p:cNvPr id="230" name="Google Shape;230;p14"/>
          <p:cNvSpPr txBox="1"/>
          <p:nvPr/>
        </p:nvSpPr>
        <p:spPr>
          <a:xfrm>
            <a:off x="5643113" y="9329841"/>
            <a:ext cx="7194831"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Continuous-time sinusoidal signal.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5"/>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36" name="Google Shape;236;p15"/>
          <p:cNvSpPr/>
          <p:nvPr/>
        </p:nvSpPr>
        <p:spPr>
          <a:xfrm>
            <a:off x="382548" y="4834671"/>
            <a:ext cx="7495721" cy="3968323"/>
          </a:xfrm>
          <a:custGeom>
            <a:rect b="b" l="l" r="r" t="t"/>
            <a:pathLst>
              <a:path extrusionOk="0" h="3968323" w="7495721">
                <a:moveTo>
                  <a:pt x="0" y="0"/>
                </a:moveTo>
                <a:lnTo>
                  <a:pt x="7495721" y="0"/>
                </a:lnTo>
                <a:lnTo>
                  <a:pt x="7495721" y="3968323"/>
                </a:lnTo>
                <a:lnTo>
                  <a:pt x="0" y="3968323"/>
                </a:lnTo>
                <a:lnTo>
                  <a:pt x="0" y="0"/>
                </a:lnTo>
                <a:close/>
              </a:path>
            </a:pathLst>
          </a:custGeom>
          <a:blipFill rotWithShape="1">
            <a:blip r:embed="rId4">
              <a:alphaModFix/>
            </a:blip>
            <a:stretch>
              <a:fillRect b="0" l="0" r="0" t="0"/>
            </a:stretch>
          </a:blipFill>
          <a:ln>
            <a:noFill/>
          </a:ln>
        </p:spPr>
      </p:sp>
      <p:sp>
        <p:nvSpPr>
          <p:cNvPr id="237" name="Google Shape;237;p15"/>
          <p:cNvSpPr/>
          <p:nvPr/>
        </p:nvSpPr>
        <p:spPr>
          <a:xfrm>
            <a:off x="9763579" y="4873051"/>
            <a:ext cx="7495721" cy="3929943"/>
          </a:xfrm>
          <a:custGeom>
            <a:rect b="b" l="l" r="r" t="t"/>
            <a:pathLst>
              <a:path extrusionOk="0" h="3929943" w="7495721">
                <a:moveTo>
                  <a:pt x="0" y="0"/>
                </a:moveTo>
                <a:lnTo>
                  <a:pt x="7495721" y="0"/>
                </a:lnTo>
                <a:lnTo>
                  <a:pt x="7495721" y="3929943"/>
                </a:lnTo>
                <a:lnTo>
                  <a:pt x="0" y="3929943"/>
                </a:lnTo>
                <a:lnTo>
                  <a:pt x="0" y="0"/>
                </a:lnTo>
                <a:close/>
              </a:path>
            </a:pathLst>
          </a:custGeom>
          <a:blipFill rotWithShape="1">
            <a:blip r:embed="rId5">
              <a:alphaModFix/>
            </a:blip>
            <a:stretch>
              <a:fillRect b="0" l="0" r="0" t="0"/>
            </a:stretch>
          </a:blipFill>
          <a:ln>
            <a:noFill/>
          </a:ln>
        </p:spPr>
      </p:sp>
      <p:sp>
        <p:nvSpPr>
          <p:cNvPr id="238" name="Google Shape;238;p15"/>
          <p:cNvSpPr txBox="1"/>
          <p:nvPr/>
        </p:nvSpPr>
        <p:spPr>
          <a:xfrm>
            <a:off x="884064" y="1098527"/>
            <a:ext cx="15643622"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A complex exponential C eat, where C is expressed in polar form and a in rectangular form. That is, </a:t>
            </a:r>
            <a:endParaRPr/>
          </a:p>
        </p:txBody>
      </p:sp>
      <p:sp>
        <p:nvSpPr>
          <p:cNvPr id="239" name="Google Shape;239;p15"/>
          <p:cNvSpPr txBox="1"/>
          <p:nvPr/>
        </p:nvSpPr>
        <p:spPr>
          <a:xfrm>
            <a:off x="457925" y="273594"/>
            <a:ext cx="7344966" cy="52394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General Complex Exponential Signals : </a:t>
            </a:r>
            <a:endParaRPr/>
          </a:p>
        </p:txBody>
      </p:sp>
      <p:sp>
        <p:nvSpPr>
          <p:cNvPr id="240" name="Google Shape;240;p15"/>
          <p:cNvSpPr txBox="1"/>
          <p:nvPr/>
        </p:nvSpPr>
        <p:spPr>
          <a:xfrm>
            <a:off x="382548" y="2495111"/>
            <a:ext cx="17846123" cy="13176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For r = 0, the real and imaginary parts of a complex exponential are sinusoidal. For r &gt; 0 they correspond to sinusoidal signals multiplied by a growing exponential, and for r &lt; 0 they correspond to sinusoidal signals multiplied by a decaying exponential. </a:t>
            </a:r>
            <a:endParaRPr/>
          </a:p>
        </p:txBody>
      </p:sp>
      <p:sp>
        <p:nvSpPr>
          <p:cNvPr id="241" name="Google Shape;241;p15"/>
          <p:cNvSpPr txBox="1"/>
          <p:nvPr/>
        </p:nvSpPr>
        <p:spPr>
          <a:xfrm>
            <a:off x="275570" y="9201150"/>
            <a:ext cx="7834551"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(a) Growing sinusoidal signal </a:t>
            </a:r>
            <a:endParaRPr/>
          </a:p>
        </p:txBody>
      </p:sp>
      <p:sp>
        <p:nvSpPr>
          <p:cNvPr id="242" name="Google Shape;242;p15"/>
          <p:cNvSpPr txBox="1"/>
          <p:nvPr/>
        </p:nvSpPr>
        <p:spPr>
          <a:xfrm>
            <a:off x="9594164" y="9201150"/>
            <a:ext cx="7834551"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(b) decaying sinusoid </a:t>
            </a:r>
            <a:endParaRPr/>
          </a:p>
        </p:txBody>
      </p:sp>
      <p:sp>
        <p:nvSpPr>
          <p:cNvPr id="243" name="Google Shape;243;p15"/>
          <p:cNvSpPr txBox="1"/>
          <p:nvPr/>
        </p:nvSpPr>
        <p:spPr>
          <a:xfrm>
            <a:off x="5125427" y="1844719"/>
            <a:ext cx="7160895"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2497" u="none" cap="none" strike="noStrike">
                <a:solidFill>
                  <a:srgbClr val="000000"/>
                </a:solidFill>
                <a:latin typeface="Poppins"/>
                <a:ea typeface="Poppins"/>
                <a:cs typeface="Poppins"/>
                <a:sym typeface="Poppins"/>
              </a:rPr>
              <a:t>C eat = |C| ert cos (w0t+θ)+j|C|eRT sin(w0t+θ) .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49" name="Google Shape;249;p16"/>
          <p:cNvSpPr/>
          <p:nvPr/>
        </p:nvSpPr>
        <p:spPr>
          <a:xfrm>
            <a:off x="547569" y="3051556"/>
            <a:ext cx="6423872" cy="5782609"/>
          </a:xfrm>
          <a:custGeom>
            <a:rect b="b" l="l" r="r" t="t"/>
            <a:pathLst>
              <a:path extrusionOk="0" h="5782609" w="6423872">
                <a:moveTo>
                  <a:pt x="0" y="0"/>
                </a:moveTo>
                <a:lnTo>
                  <a:pt x="6423871" y="0"/>
                </a:lnTo>
                <a:lnTo>
                  <a:pt x="6423871" y="5782609"/>
                </a:lnTo>
                <a:lnTo>
                  <a:pt x="0" y="5782609"/>
                </a:lnTo>
                <a:lnTo>
                  <a:pt x="0" y="0"/>
                </a:lnTo>
                <a:close/>
              </a:path>
            </a:pathLst>
          </a:custGeom>
          <a:blipFill rotWithShape="1">
            <a:blip r:embed="rId4">
              <a:alphaModFix/>
            </a:blip>
            <a:stretch>
              <a:fillRect b="0" l="0" r="0" t="0"/>
            </a:stretch>
          </a:blipFill>
          <a:ln>
            <a:noFill/>
          </a:ln>
        </p:spPr>
      </p:sp>
      <p:sp>
        <p:nvSpPr>
          <p:cNvPr id="250" name="Google Shape;250;p16"/>
          <p:cNvSpPr/>
          <p:nvPr/>
        </p:nvSpPr>
        <p:spPr>
          <a:xfrm>
            <a:off x="10757581" y="3051556"/>
            <a:ext cx="5671992" cy="5854268"/>
          </a:xfrm>
          <a:custGeom>
            <a:rect b="b" l="l" r="r" t="t"/>
            <a:pathLst>
              <a:path extrusionOk="0" h="5854268" w="5671992">
                <a:moveTo>
                  <a:pt x="0" y="0"/>
                </a:moveTo>
                <a:lnTo>
                  <a:pt x="5671992" y="0"/>
                </a:lnTo>
                <a:lnTo>
                  <a:pt x="5671992" y="5854268"/>
                </a:lnTo>
                <a:lnTo>
                  <a:pt x="0" y="5854268"/>
                </a:lnTo>
                <a:lnTo>
                  <a:pt x="0" y="0"/>
                </a:lnTo>
                <a:close/>
              </a:path>
            </a:pathLst>
          </a:custGeom>
          <a:blipFill rotWithShape="1">
            <a:blip r:embed="rId5">
              <a:alphaModFix/>
            </a:blip>
            <a:stretch>
              <a:fillRect b="0" l="0" r="0" t="0"/>
            </a:stretch>
          </a:blipFill>
          <a:ln>
            <a:noFill/>
          </a:ln>
        </p:spPr>
      </p:sp>
      <p:sp>
        <p:nvSpPr>
          <p:cNvPr id="251" name="Google Shape;251;p16"/>
          <p:cNvSpPr txBox="1"/>
          <p:nvPr/>
        </p:nvSpPr>
        <p:spPr>
          <a:xfrm>
            <a:off x="357247" y="275680"/>
            <a:ext cx="11351419" cy="52394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 Discrete-Time Complex Exponential and Sinusoidal Signals </a:t>
            </a:r>
            <a:endParaRPr/>
          </a:p>
        </p:txBody>
      </p:sp>
      <p:sp>
        <p:nvSpPr>
          <p:cNvPr id="252" name="Google Shape;252;p16"/>
          <p:cNvSpPr txBox="1"/>
          <p:nvPr/>
        </p:nvSpPr>
        <p:spPr>
          <a:xfrm>
            <a:off x="357247" y="1161573"/>
            <a:ext cx="17207824" cy="4413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 In discrete time , the complex exponential signal or sequence, is defined by x[n]=Can</a:t>
            </a:r>
            <a:endParaRPr/>
          </a:p>
        </p:txBody>
      </p:sp>
      <p:sp>
        <p:nvSpPr>
          <p:cNvPr id="253" name="Google Shape;253;p16"/>
          <p:cNvSpPr txBox="1"/>
          <p:nvPr/>
        </p:nvSpPr>
        <p:spPr>
          <a:xfrm>
            <a:off x="357247" y="1646550"/>
            <a:ext cx="7757398"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where C and a are, in general, complex numbers.</a:t>
            </a:r>
            <a:endParaRPr/>
          </a:p>
        </p:txBody>
      </p:sp>
      <p:sp>
        <p:nvSpPr>
          <p:cNvPr id="254" name="Google Shape;254;p16"/>
          <p:cNvSpPr txBox="1"/>
          <p:nvPr/>
        </p:nvSpPr>
        <p:spPr>
          <a:xfrm>
            <a:off x="2129610" y="2316543"/>
            <a:ext cx="5404197" cy="4413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Real Exponential Signals : </a:t>
            </a:r>
            <a:endParaRPr/>
          </a:p>
        </p:txBody>
      </p:sp>
      <p:sp>
        <p:nvSpPr>
          <p:cNvPr id="255" name="Google Shape;255;p16"/>
          <p:cNvSpPr txBox="1"/>
          <p:nvPr/>
        </p:nvSpPr>
        <p:spPr>
          <a:xfrm>
            <a:off x="6223278" y="2316543"/>
            <a:ext cx="10157579"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If C and a are real, we can have one of several types of behavior</a:t>
            </a:r>
            <a:endParaRPr/>
          </a:p>
        </p:txBody>
      </p:sp>
      <p:sp>
        <p:nvSpPr>
          <p:cNvPr id="256" name="Google Shape;256;p16"/>
          <p:cNvSpPr txBox="1"/>
          <p:nvPr/>
        </p:nvSpPr>
        <p:spPr>
          <a:xfrm>
            <a:off x="2745027" y="9201150"/>
            <a:ext cx="17114081" cy="358842"/>
          </a:xfrm>
          <a:prstGeom prst="rect">
            <a:avLst/>
          </a:prstGeom>
          <a:noFill/>
          <a:ln>
            <a:noFill/>
          </a:ln>
        </p:spPr>
        <p:txBody>
          <a:bodyPr anchorCtr="0" anchor="t" bIns="0" lIns="0" spcFirstLastPara="1" rIns="0" wrap="square" tIns="0">
            <a:spAutoFit/>
          </a:bodyPr>
          <a:lstStyle/>
          <a:p>
            <a:pPr indent="0" lvl="0" marL="0" marR="0" rtl="0" algn="l">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Fig. The real exponential signal x[n] = Can: (a) a &gt; 1; (b) 0 &lt; a &lt; 1; (c) -1 &lt; a &lt; 0; (d) a &lt; -1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62" name="Google Shape;262;p17"/>
          <p:cNvSpPr/>
          <p:nvPr/>
        </p:nvSpPr>
        <p:spPr>
          <a:xfrm>
            <a:off x="427872" y="1416531"/>
            <a:ext cx="8531629" cy="3860244"/>
          </a:xfrm>
          <a:custGeom>
            <a:rect b="b" l="l" r="r" t="t"/>
            <a:pathLst>
              <a:path extrusionOk="0" h="3860244" w="8531629">
                <a:moveTo>
                  <a:pt x="0" y="0"/>
                </a:moveTo>
                <a:lnTo>
                  <a:pt x="8531629" y="0"/>
                </a:lnTo>
                <a:lnTo>
                  <a:pt x="8531629" y="3860244"/>
                </a:lnTo>
                <a:lnTo>
                  <a:pt x="0" y="3860244"/>
                </a:lnTo>
                <a:lnTo>
                  <a:pt x="0" y="0"/>
                </a:lnTo>
                <a:close/>
              </a:path>
            </a:pathLst>
          </a:custGeom>
          <a:blipFill rotWithShape="1">
            <a:blip r:embed="rId4">
              <a:alphaModFix/>
            </a:blip>
            <a:stretch>
              <a:fillRect b="0" l="0" r="0" t="0"/>
            </a:stretch>
          </a:blipFill>
          <a:ln>
            <a:noFill/>
          </a:ln>
        </p:spPr>
      </p:sp>
      <p:sp>
        <p:nvSpPr>
          <p:cNvPr id="263" name="Google Shape;263;p17"/>
          <p:cNvSpPr/>
          <p:nvPr/>
        </p:nvSpPr>
        <p:spPr>
          <a:xfrm>
            <a:off x="9240529" y="1362605"/>
            <a:ext cx="8793882" cy="3968097"/>
          </a:xfrm>
          <a:custGeom>
            <a:rect b="b" l="l" r="r" t="t"/>
            <a:pathLst>
              <a:path extrusionOk="0" h="3968097" w="8793882">
                <a:moveTo>
                  <a:pt x="0" y="0"/>
                </a:moveTo>
                <a:lnTo>
                  <a:pt x="8793882" y="0"/>
                </a:lnTo>
                <a:lnTo>
                  <a:pt x="8793882" y="3968097"/>
                </a:lnTo>
                <a:lnTo>
                  <a:pt x="0" y="3968097"/>
                </a:lnTo>
                <a:lnTo>
                  <a:pt x="0" y="0"/>
                </a:lnTo>
                <a:close/>
              </a:path>
            </a:pathLst>
          </a:custGeom>
          <a:blipFill rotWithShape="1">
            <a:blip r:embed="rId5">
              <a:alphaModFix/>
            </a:blip>
            <a:stretch>
              <a:fillRect b="0" l="0" r="0" t="0"/>
            </a:stretch>
          </a:blipFill>
          <a:ln>
            <a:noFill/>
          </a:ln>
        </p:spPr>
      </p:sp>
      <p:sp>
        <p:nvSpPr>
          <p:cNvPr id="264" name="Google Shape;264;p17"/>
          <p:cNvSpPr/>
          <p:nvPr/>
        </p:nvSpPr>
        <p:spPr>
          <a:xfrm>
            <a:off x="4467755" y="5514353"/>
            <a:ext cx="8983493" cy="3743947"/>
          </a:xfrm>
          <a:custGeom>
            <a:rect b="b" l="l" r="r" t="t"/>
            <a:pathLst>
              <a:path extrusionOk="0" h="3743947" w="8983493">
                <a:moveTo>
                  <a:pt x="0" y="0"/>
                </a:moveTo>
                <a:lnTo>
                  <a:pt x="8983493" y="0"/>
                </a:lnTo>
                <a:lnTo>
                  <a:pt x="8983493" y="3743947"/>
                </a:lnTo>
                <a:lnTo>
                  <a:pt x="0" y="3743947"/>
                </a:lnTo>
                <a:lnTo>
                  <a:pt x="0" y="0"/>
                </a:lnTo>
                <a:close/>
              </a:path>
            </a:pathLst>
          </a:custGeom>
          <a:blipFill rotWithShape="1">
            <a:blip r:embed="rId6">
              <a:alphaModFix/>
            </a:blip>
            <a:stretch>
              <a:fillRect b="0" l="0" r="0" t="0"/>
            </a:stretch>
          </a:blipFill>
          <a:ln>
            <a:noFill/>
          </a:ln>
        </p:spPr>
      </p:sp>
      <p:sp>
        <p:nvSpPr>
          <p:cNvPr id="265" name="Google Shape;265;p17"/>
          <p:cNvSpPr txBox="1"/>
          <p:nvPr/>
        </p:nvSpPr>
        <p:spPr>
          <a:xfrm>
            <a:off x="427872" y="172574"/>
            <a:ext cx="3503295" cy="52394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Sinusoidal Signal : </a:t>
            </a:r>
            <a:endParaRPr/>
          </a:p>
        </p:txBody>
      </p:sp>
      <p:sp>
        <p:nvSpPr>
          <p:cNvPr id="266" name="Google Shape;266;p17"/>
          <p:cNvSpPr txBox="1"/>
          <p:nvPr/>
        </p:nvSpPr>
        <p:spPr>
          <a:xfrm>
            <a:off x="6616882" y="9439275"/>
            <a:ext cx="4107299"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Discrete-time sinusoidal signals.</a:t>
            </a:r>
            <a:endParaRPr/>
          </a:p>
        </p:txBody>
      </p:sp>
      <p:sp>
        <p:nvSpPr>
          <p:cNvPr id="267" name="Google Shape;267;p17"/>
          <p:cNvSpPr txBox="1"/>
          <p:nvPr/>
        </p:nvSpPr>
        <p:spPr>
          <a:xfrm>
            <a:off x="3931168" y="255124"/>
            <a:ext cx="3193375"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x[n] = Acos(w0n+φ)</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73" name="Google Shape;273;p18"/>
          <p:cNvSpPr/>
          <p:nvPr/>
        </p:nvSpPr>
        <p:spPr>
          <a:xfrm>
            <a:off x="3756184" y="2063202"/>
            <a:ext cx="9123803" cy="7195098"/>
          </a:xfrm>
          <a:custGeom>
            <a:rect b="b" l="l" r="r" t="t"/>
            <a:pathLst>
              <a:path extrusionOk="0" h="7195098" w="9123803">
                <a:moveTo>
                  <a:pt x="0" y="0"/>
                </a:moveTo>
                <a:lnTo>
                  <a:pt x="9123802" y="0"/>
                </a:lnTo>
                <a:lnTo>
                  <a:pt x="9123802" y="7195098"/>
                </a:lnTo>
                <a:lnTo>
                  <a:pt x="0" y="7195098"/>
                </a:lnTo>
                <a:lnTo>
                  <a:pt x="0" y="0"/>
                </a:lnTo>
                <a:close/>
              </a:path>
            </a:pathLst>
          </a:custGeom>
          <a:blipFill rotWithShape="1">
            <a:blip r:embed="rId4">
              <a:alphaModFix/>
            </a:blip>
            <a:stretch>
              <a:fillRect b="0" l="0" r="-3632" t="0"/>
            </a:stretch>
          </a:blipFill>
          <a:ln>
            <a:noFill/>
          </a:ln>
        </p:spPr>
      </p:sp>
      <p:sp>
        <p:nvSpPr>
          <p:cNvPr id="274" name="Google Shape;274;p18"/>
          <p:cNvSpPr txBox="1"/>
          <p:nvPr/>
        </p:nvSpPr>
        <p:spPr>
          <a:xfrm>
            <a:off x="356622" y="215932"/>
            <a:ext cx="7243286" cy="52394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General Complex Exponential Signals :</a:t>
            </a:r>
            <a:endParaRPr/>
          </a:p>
        </p:txBody>
      </p:sp>
      <p:sp>
        <p:nvSpPr>
          <p:cNvPr id="275" name="Google Shape;275;p18"/>
          <p:cNvSpPr txBox="1"/>
          <p:nvPr/>
        </p:nvSpPr>
        <p:spPr>
          <a:xfrm>
            <a:off x="3716101" y="9458325"/>
            <a:ext cx="10477024"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(a) Growing discrete-time sinusoidal signals; (b) decaying discrete-time sinusoid. </a:t>
            </a:r>
            <a:endParaRPr/>
          </a:p>
        </p:txBody>
      </p:sp>
      <p:sp>
        <p:nvSpPr>
          <p:cNvPr id="276" name="Google Shape;276;p18"/>
          <p:cNvSpPr txBox="1"/>
          <p:nvPr/>
        </p:nvSpPr>
        <p:spPr>
          <a:xfrm>
            <a:off x="4971726" y="1147504"/>
            <a:ext cx="7700010"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2497" u="none" cap="none" strike="noStrike">
                <a:solidFill>
                  <a:srgbClr val="000000"/>
                </a:solidFill>
                <a:latin typeface="Poppins"/>
                <a:ea typeface="Poppins"/>
                <a:cs typeface="Poppins"/>
                <a:sym typeface="Poppins"/>
              </a:rPr>
              <a:t>C αn</a:t>
            </a:r>
            <a:r>
              <a:rPr b="0" i="0" lang="en-US" sz="2497" u="none" cap="none" strike="noStrike">
                <a:solidFill>
                  <a:srgbClr val="000000"/>
                </a:solidFill>
                <a:latin typeface="Poppins"/>
                <a:ea typeface="Poppins"/>
                <a:cs typeface="Poppins"/>
                <a:sym typeface="Poppins"/>
              </a:rPr>
              <a:t> </a:t>
            </a:r>
            <a:r>
              <a:rPr b="1" i="0" lang="en-US" sz="2497" u="none" cap="none" strike="noStrike">
                <a:solidFill>
                  <a:srgbClr val="000000"/>
                </a:solidFill>
                <a:latin typeface="Poppins"/>
                <a:ea typeface="Poppins"/>
                <a:cs typeface="Poppins"/>
                <a:sym typeface="Poppins"/>
              </a:rPr>
              <a:t> = |C||α|n</a:t>
            </a:r>
            <a:r>
              <a:rPr b="0" i="0" lang="en-US" sz="2497" u="none" cap="none" strike="noStrike">
                <a:solidFill>
                  <a:srgbClr val="000000"/>
                </a:solidFill>
                <a:latin typeface="Poppins"/>
                <a:ea typeface="Poppins"/>
                <a:cs typeface="Poppins"/>
                <a:sym typeface="Poppins"/>
              </a:rPr>
              <a:t> </a:t>
            </a:r>
            <a:r>
              <a:rPr b="1" i="0" lang="en-US" sz="2497" u="none" cap="none" strike="noStrike">
                <a:solidFill>
                  <a:srgbClr val="000000"/>
                </a:solidFill>
                <a:latin typeface="Poppins"/>
                <a:ea typeface="Poppins"/>
                <a:cs typeface="Poppins"/>
                <a:sym typeface="Poppins"/>
              </a:rPr>
              <a:t> cos (w0n+θ)+j|C||α|n</a:t>
            </a:r>
            <a:r>
              <a:rPr b="0" i="0" lang="en-US" sz="2497" u="none" cap="none" strike="noStrike">
                <a:solidFill>
                  <a:srgbClr val="000000"/>
                </a:solidFill>
                <a:latin typeface="Poppins"/>
                <a:ea typeface="Poppins"/>
                <a:cs typeface="Poppins"/>
                <a:sym typeface="Poppins"/>
              </a:rPr>
              <a:t> </a:t>
            </a:r>
            <a:r>
              <a:rPr b="1" i="0" lang="en-US" sz="2497" u="none" cap="none" strike="noStrike">
                <a:solidFill>
                  <a:srgbClr val="000000"/>
                </a:solidFill>
                <a:latin typeface="Poppins"/>
                <a:ea typeface="Poppins"/>
                <a:cs typeface="Poppins"/>
                <a:sym typeface="Poppins"/>
              </a:rPr>
              <a:t> sin(w0n+θ) .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9"/>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82" name="Google Shape;282;p19"/>
          <p:cNvSpPr/>
          <p:nvPr/>
        </p:nvSpPr>
        <p:spPr>
          <a:xfrm>
            <a:off x="1255104" y="3498683"/>
            <a:ext cx="3732013" cy="1332862"/>
          </a:xfrm>
          <a:custGeom>
            <a:rect b="b" l="l" r="r" t="t"/>
            <a:pathLst>
              <a:path extrusionOk="0" h="1332862" w="3732013">
                <a:moveTo>
                  <a:pt x="0" y="0"/>
                </a:moveTo>
                <a:lnTo>
                  <a:pt x="3732013" y="0"/>
                </a:lnTo>
                <a:lnTo>
                  <a:pt x="3732013" y="1332862"/>
                </a:lnTo>
                <a:lnTo>
                  <a:pt x="0" y="1332862"/>
                </a:lnTo>
                <a:lnTo>
                  <a:pt x="0" y="0"/>
                </a:lnTo>
                <a:close/>
              </a:path>
            </a:pathLst>
          </a:custGeom>
          <a:blipFill rotWithShape="1">
            <a:blip r:embed="rId4">
              <a:alphaModFix/>
            </a:blip>
            <a:stretch>
              <a:fillRect b="0" l="0" r="0" t="0"/>
            </a:stretch>
          </a:blipFill>
          <a:ln>
            <a:noFill/>
          </a:ln>
        </p:spPr>
      </p:sp>
      <p:sp>
        <p:nvSpPr>
          <p:cNvPr id="283" name="Google Shape;283;p19"/>
          <p:cNvSpPr/>
          <p:nvPr/>
        </p:nvSpPr>
        <p:spPr>
          <a:xfrm>
            <a:off x="7251931" y="2860112"/>
            <a:ext cx="9487285" cy="2447720"/>
          </a:xfrm>
          <a:custGeom>
            <a:rect b="b" l="l" r="r" t="t"/>
            <a:pathLst>
              <a:path extrusionOk="0" h="2447720" w="9487285">
                <a:moveTo>
                  <a:pt x="0" y="0"/>
                </a:moveTo>
                <a:lnTo>
                  <a:pt x="9487285" y="0"/>
                </a:lnTo>
                <a:lnTo>
                  <a:pt x="9487285" y="2447719"/>
                </a:lnTo>
                <a:lnTo>
                  <a:pt x="0" y="2447719"/>
                </a:lnTo>
                <a:lnTo>
                  <a:pt x="0" y="0"/>
                </a:lnTo>
                <a:close/>
              </a:path>
            </a:pathLst>
          </a:custGeom>
          <a:blipFill rotWithShape="1">
            <a:blip r:embed="rId5">
              <a:alphaModFix/>
            </a:blip>
            <a:stretch>
              <a:fillRect b="0" l="0" r="0" t="0"/>
            </a:stretch>
          </a:blipFill>
          <a:ln>
            <a:noFill/>
          </a:ln>
        </p:spPr>
      </p:sp>
      <p:sp>
        <p:nvSpPr>
          <p:cNvPr id="284" name="Google Shape;284;p19"/>
          <p:cNvSpPr/>
          <p:nvPr/>
        </p:nvSpPr>
        <p:spPr>
          <a:xfrm>
            <a:off x="815104" y="7268930"/>
            <a:ext cx="5350840" cy="1511117"/>
          </a:xfrm>
          <a:custGeom>
            <a:rect b="b" l="l" r="r" t="t"/>
            <a:pathLst>
              <a:path extrusionOk="0" h="1511117" w="5350840">
                <a:moveTo>
                  <a:pt x="0" y="0"/>
                </a:moveTo>
                <a:lnTo>
                  <a:pt x="5350840" y="0"/>
                </a:lnTo>
                <a:lnTo>
                  <a:pt x="5350840" y="1511117"/>
                </a:lnTo>
                <a:lnTo>
                  <a:pt x="0" y="1511117"/>
                </a:lnTo>
                <a:lnTo>
                  <a:pt x="0" y="0"/>
                </a:lnTo>
                <a:close/>
              </a:path>
            </a:pathLst>
          </a:custGeom>
          <a:blipFill rotWithShape="1">
            <a:blip r:embed="rId6">
              <a:alphaModFix/>
            </a:blip>
            <a:stretch>
              <a:fillRect b="0" l="0" r="0" t="0"/>
            </a:stretch>
          </a:blipFill>
          <a:ln>
            <a:noFill/>
          </a:ln>
        </p:spPr>
      </p:sp>
      <p:sp>
        <p:nvSpPr>
          <p:cNvPr id="285" name="Google Shape;285;p19"/>
          <p:cNvSpPr/>
          <p:nvPr/>
        </p:nvSpPr>
        <p:spPr>
          <a:xfrm>
            <a:off x="7251931" y="7268930"/>
            <a:ext cx="10231474" cy="2425389"/>
          </a:xfrm>
          <a:custGeom>
            <a:rect b="b" l="l" r="r" t="t"/>
            <a:pathLst>
              <a:path extrusionOk="0" h="2425389" w="10231474">
                <a:moveTo>
                  <a:pt x="0" y="0"/>
                </a:moveTo>
                <a:lnTo>
                  <a:pt x="10231474" y="0"/>
                </a:lnTo>
                <a:lnTo>
                  <a:pt x="10231474" y="2425389"/>
                </a:lnTo>
                <a:lnTo>
                  <a:pt x="0" y="2425389"/>
                </a:lnTo>
                <a:lnTo>
                  <a:pt x="0" y="0"/>
                </a:lnTo>
                <a:close/>
              </a:path>
            </a:pathLst>
          </a:custGeom>
          <a:blipFill rotWithShape="1">
            <a:blip r:embed="rId7">
              <a:alphaModFix/>
            </a:blip>
            <a:stretch>
              <a:fillRect b="0" l="0" r="0" t="0"/>
            </a:stretch>
          </a:blipFill>
          <a:ln>
            <a:noFill/>
          </a:ln>
        </p:spPr>
      </p:sp>
      <p:sp>
        <p:nvSpPr>
          <p:cNvPr id="286" name="Google Shape;286;p19"/>
          <p:cNvSpPr txBox="1"/>
          <p:nvPr/>
        </p:nvSpPr>
        <p:spPr>
          <a:xfrm>
            <a:off x="-4" y="153500"/>
            <a:ext cx="18974400" cy="9078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UNIT STEP AND UNIT IMPULSE FUNCTION</a:t>
            </a:r>
            <a:endParaRPr/>
          </a:p>
        </p:txBody>
      </p:sp>
      <p:sp>
        <p:nvSpPr>
          <p:cNvPr id="287" name="Google Shape;287;p19"/>
          <p:cNvSpPr txBox="1"/>
          <p:nvPr/>
        </p:nvSpPr>
        <p:spPr>
          <a:xfrm>
            <a:off x="675079" y="1302718"/>
            <a:ext cx="10981730" cy="52394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 The Discrete-Time Unit Impulse and Unit Step Sequences </a:t>
            </a:r>
            <a:endParaRPr/>
          </a:p>
        </p:txBody>
      </p:sp>
      <p:sp>
        <p:nvSpPr>
          <p:cNvPr id="288" name="Google Shape;288;p19"/>
          <p:cNvSpPr txBox="1"/>
          <p:nvPr/>
        </p:nvSpPr>
        <p:spPr>
          <a:xfrm>
            <a:off x="675079" y="2210960"/>
            <a:ext cx="12338090" cy="4413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 Discrete-time signals is the unit impulse (or unit sample), which is defined as </a:t>
            </a:r>
            <a:endParaRPr/>
          </a:p>
        </p:txBody>
      </p:sp>
      <p:sp>
        <p:nvSpPr>
          <p:cNvPr id="289" name="Google Shape;289;p19"/>
          <p:cNvSpPr txBox="1"/>
          <p:nvPr/>
        </p:nvSpPr>
        <p:spPr>
          <a:xfrm>
            <a:off x="715579" y="5796204"/>
            <a:ext cx="13072706"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Discrete-time signal is the discrete-time unit step, denoted by u[n] and defined by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0"/>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95" name="Google Shape;295;p20"/>
          <p:cNvSpPr/>
          <p:nvPr/>
        </p:nvSpPr>
        <p:spPr>
          <a:xfrm>
            <a:off x="1743140" y="2605618"/>
            <a:ext cx="4609234" cy="1262280"/>
          </a:xfrm>
          <a:custGeom>
            <a:rect b="b" l="l" r="r" t="t"/>
            <a:pathLst>
              <a:path extrusionOk="0" h="1262280" w="4609234">
                <a:moveTo>
                  <a:pt x="0" y="0"/>
                </a:moveTo>
                <a:lnTo>
                  <a:pt x="4609234" y="0"/>
                </a:lnTo>
                <a:lnTo>
                  <a:pt x="4609234" y="1262280"/>
                </a:lnTo>
                <a:lnTo>
                  <a:pt x="0" y="1262280"/>
                </a:lnTo>
                <a:lnTo>
                  <a:pt x="0" y="0"/>
                </a:lnTo>
                <a:close/>
              </a:path>
            </a:pathLst>
          </a:custGeom>
          <a:blipFill rotWithShape="1">
            <a:blip r:embed="rId4">
              <a:alphaModFix/>
            </a:blip>
            <a:stretch>
              <a:fillRect b="0" l="0" r="0" t="0"/>
            </a:stretch>
          </a:blipFill>
          <a:ln>
            <a:noFill/>
          </a:ln>
        </p:spPr>
      </p:sp>
      <p:sp>
        <p:nvSpPr>
          <p:cNvPr id="296" name="Google Shape;296;p20"/>
          <p:cNvSpPr/>
          <p:nvPr/>
        </p:nvSpPr>
        <p:spPr>
          <a:xfrm>
            <a:off x="9741270" y="1948248"/>
            <a:ext cx="5480526" cy="3229595"/>
          </a:xfrm>
          <a:custGeom>
            <a:rect b="b" l="l" r="r" t="t"/>
            <a:pathLst>
              <a:path extrusionOk="0" h="3229595" w="5480526">
                <a:moveTo>
                  <a:pt x="0" y="0"/>
                </a:moveTo>
                <a:lnTo>
                  <a:pt x="5480525" y="0"/>
                </a:lnTo>
                <a:lnTo>
                  <a:pt x="5480525" y="3229595"/>
                </a:lnTo>
                <a:lnTo>
                  <a:pt x="0" y="3229595"/>
                </a:lnTo>
                <a:lnTo>
                  <a:pt x="0" y="0"/>
                </a:lnTo>
                <a:close/>
              </a:path>
            </a:pathLst>
          </a:custGeom>
          <a:blipFill rotWithShape="1">
            <a:blip r:embed="rId5">
              <a:alphaModFix/>
            </a:blip>
            <a:stretch>
              <a:fillRect b="0" l="0" r="0" t="0"/>
            </a:stretch>
          </a:blipFill>
          <a:ln>
            <a:noFill/>
          </a:ln>
        </p:spPr>
      </p:sp>
      <p:sp>
        <p:nvSpPr>
          <p:cNvPr id="297" name="Google Shape;297;p20"/>
          <p:cNvSpPr/>
          <p:nvPr/>
        </p:nvSpPr>
        <p:spPr>
          <a:xfrm>
            <a:off x="1221880" y="6652902"/>
            <a:ext cx="6341749" cy="2181025"/>
          </a:xfrm>
          <a:custGeom>
            <a:rect b="b" l="l" r="r" t="t"/>
            <a:pathLst>
              <a:path extrusionOk="0" h="2181025" w="6341749">
                <a:moveTo>
                  <a:pt x="0" y="0"/>
                </a:moveTo>
                <a:lnTo>
                  <a:pt x="6341749" y="0"/>
                </a:lnTo>
                <a:lnTo>
                  <a:pt x="6341749" y="2181025"/>
                </a:lnTo>
                <a:lnTo>
                  <a:pt x="0" y="2181025"/>
                </a:lnTo>
                <a:lnTo>
                  <a:pt x="0" y="0"/>
                </a:lnTo>
                <a:close/>
              </a:path>
            </a:pathLst>
          </a:custGeom>
          <a:blipFill rotWithShape="1">
            <a:blip r:embed="rId6">
              <a:alphaModFix/>
            </a:blip>
            <a:stretch>
              <a:fillRect b="0" l="0" r="0" t="0"/>
            </a:stretch>
          </a:blipFill>
          <a:ln>
            <a:noFill/>
          </a:ln>
        </p:spPr>
      </p:sp>
      <p:sp>
        <p:nvSpPr>
          <p:cNvPr id="298" name="Google Shape;298;p20"/>
          <p:cNvSpPr/>
          <p:nvPr/>
        </p:nvSpPr>
        <p:spPr>
          <a:xfrm>
            <a:off x="9741270" y="6104047"/>
            <a:ext cx="5607560" cy="3154253"/>
          </a:xfrm>
          <a:custGeom>
            <a:rect b="b" l="l" r="r" t="t"/>
            <a:pathLst>
              <a:path extrusionOk="0" h="3154253" w="5607560">
                <a:moveTo>
                  <a:pt x="0" y="0"/>
                </a:moveTo>
                <a:lnTo>
                  <a:pt x="5607560" y="0"/>
                </a:lnTo>
                <a:lnTo>
                  <a:pt x="5607560" y="3154253"/>
                </a:lnTo>
                <a:lnTo>
                  <a:pt x="0" y="3154253"/>
                </a:lnTo>
                <a:lnTo>
                  <a:pt x="0" y="0"/>
                </a:lnTo>
                <a:close/>
              </a:path>
            </a:pathLst>
          </a:custGeom>
          <a:blipFill rotWithShape="1">
            <a:blip r:embed="rId7">
              <a:alphaModFix/>
            </a:blip>
            <a:stretch>
              <a:fillRect b="0" l="0" r="0" t="0"/>
            </a:stretch>
          </a:blipFill>
          <a:ln>
            <a:noFill/>
          </a:ln>
        </p:spPr>
      </p:sp>
      <p:sp>
        <p:nvSpPr>
          <p:cNvPr id="299" name="Google Shape;299;p20"/>
          <p:cNvSpPr txBox="1"/>
          <p:nvPr/>
        </p:nvSpPr>
        <p:spPr>
          <a:xfrm>
            <a:off x="225397" y="114232"/>
            <a:ext cx="11244024" cy="52394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The Continuous-Time Unit Step and Unit Impulse Functions </a:t>
            </a:r>
            <a:endParaRPr/>
          </a:p>
        </p:txBody>
      </p:sp>
      <p:sp>
        <p:nvSpPr>
          <p:cNvPr id="300" name="Google Shape;300;p20"/>
          <p:cNvSpPr txBox="1"/>
          <p:nvPr/>
        </p:nvSpPr>
        <p:spPr>
          <a:xfrm>
            <a:off x="225397" y="962025"/>
            <a:ext cx="17837207" cy="87954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The continuous-time unit step function u(t) is defined in a manner similar to its discrete time counterpart. Specifically, </a:t>
            </a:r>
            <a:endParaRPr/>
          </a:p>
        </p:txBody>
      </p:sp>
      <p:sp>
        <p:nvSpPr>
          <p:cNvPr id="301" name="Google Shape;301;p20"/>
          <p:cNvSpPr txBox="1"/>
          <p:nvPr/>
        </p:nvSpPr>
        <p:spPr>
          <a:xfrm>
            <a:off x="407328" y="5215943"/>
            <a:ext cx="11423095"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The continuous-time unit step is the running integral of the unit impulse </a:t>
            </a:r>
            <a:endParaRPr/>
          </a:p>
        </p:txBody>
      </p:sp>
      <p:sp>
        <p:nvSpPr>
          <p:cNvPr id="302" name="Google Shape;302;p20"/>
          <p:cNvSpPr txBox="1"/>
          <p:nvPr/>
        </p:nvSpPr>
        <p:spPr>
          <a:xfrm>
            <a:off x="10434310" y="9582150"/>
            <a:ext cx="4805482" cy="441393"/>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Continuous time unit impulse.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1"/>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308" name="Google Shape;308;p21"/>
          <p:cNvSpPr/>
          <p:nvPr/>
        </p:nvSpPr>
        <p:spPr>
          <a:xfrm>
            <a:off x="4728179" y="3038526"/>
            <a:ext cx="7612812" cy="2251677"/>
          </a:xfrm>
          <a:custGeom>
            <a:rect b="b" l="l" r="r" t="t"/>
            <a:pathLst>
              <a:path extrusionOk="0" h="2251677" w="7612812">
                <a:moveTo>
                  <a:pt x="0" y="0"/>
                </a:moveTo>
                <a:lnTo>
                  <a:pt x="7612812" y="0"/>
                </a:lnTo>
                <a:lnTo>
                  <a:pt x="7612812" y="2251677"/>
                </a:lnTo>
                <a:lnTo>
                  <a:pt x="0" y="2251677"/>
                </a:lnTo>
                <a:lnTo>
                  <a:pt x="0" y="0"/>
                </a:lnTo>
                <a:close/>
              </a:path>
            </a:pathLst>
          </a:custGeom>
          <a:blipFill rotWithShape="1">
            <a:blip r:embed="rId4">
              <a:alphaModFix/>
            </a:blip>
            <a:stretch>
              <a:fillRect b="0" l="0" r="0" t="0"/>
            </a:stretch>
          </a:blipFill>
          <a:ln>
            <a:noFill/>
          </a:ln>
        </p:spPr>
      </p:sp>
      <p:sp>
        <p:nvSpPr>
          <p:cNvPr id="309" name="Google Shape;309;p21"/>
          <p:cNvSpPr/>
          <p:nvPr/>
        </p:nvSpPr>
        <p:spPr>
          <a:xfrm>
            <a:off x="4728179" y="7224594"/>
            <a:ext cx="7105223" cy="2808554"/>
          </a:xfrm>
          <a:custGeom>
            <a:rect b="b" l="l" r="r" t="t"/>
            <a:pathLst>
              <a:path extrusionOk="0" h="2808554" w="7105223">
                <a:moveTo>
                  <a:pt x="0" y="0"/>
                </a:moveTo>
                <a:lnTo>
                  <a:pt x="7105223" y="0"/>
                </a:lnTo>
                <a:lnTo>
                  <a:pt x="7105223" y="2808554"/>
                </a:lnTo>
                <a:lnTo>
                  <a:pt x="0" y="2808554"/>
                </a:lnTo>
                <a:lnTo>
                  <a:pt x="0" y="0"/>
                </a:lnTo>
                <a:close/>
              </a:path>
            </a:pathLst>
          </a:custGeom>
          <a:blipFill rotWithShape="1">
            <a:blip r:embed="rId5">
              <a:alphaModFix/>
            </a:blip>
            <a:stretch>
              <a:fillRect b="0" l="0" r="0" t="0"/>
            </a:stretch>
          </a:blipFill>
          <a:ln>
            <a:noFill/>
          </a:ln>
        </p:spPr>
      </p:sp>
      <p:sp>
        <p:nvSpPr>
          <p:cNvPr id="310" name="Google Shape;310;p21"/>
          <p:cNvSpPr txBox="1"/>
          <p:nvPr/>
        </p:nvSpPr>
        <p:spPr>
          <a:xfrm>
            <a:off x="1451579" y="-47695"/>
            <a:ext cx="15577899"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CONTINUOUS AND DISCRETE TIME SYSTEMS </a:t>
            </a:r>
            <a:endParaRPr/>
          </a:p>
        </p:txBody>
      </p:sp>
      <p:sp>
        <p:nvSpPr>
          <p:cNvPr id="311" name="Google Shape;311;p21"/>
          <p:cNvSpPr txBox="1"/>
          <p:nvPr/>
        </p:nvSpPr>
        <p:spPr>
          <a:xfrm>
            <a:off x="419712" y="1102126"/>
            <a:ext cx="15842456" cy="52394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Continuous Time System :</a:t>
            </a:r>
            <a:endParaRPr/>
          </a:p>
        </p:txBody>
      </p:sp>
      <p:sp>
        <p:nvSpPr>
          <p:cNvPr id="312" name="Google Shape;312;p21"/>
          <p:cNvSpPr txBox="1"/>
          <p:nvPr/>
        </p:nvSpPr>
        <p:spPr>
          <a:xfrm>
            <a:off x="578242" y="1645118"/>
            <a:ext cx="16583515" cy="131769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A continuous-time system is a system in which continuous-time input signals are applied and result in continuous-time output signals. We will often represent the input-output relation of a continuous-time system by the notation x(t) → y(t). </a:t>
            </a:r>
            <a:endParaRPr/>
          </a:p>
        </p:txBody>
      </p:sp>
      <p:sp>
        <p:nvSpPr>
          <p:cNvPr id="313" name="Google Shape;313;p21"/>
          <p:cNvSpPr txBox="1"/>
          <p:nvPr/>
        </p:nvSpPr>
        <p:spPr>
          <a:xfrm>
            <a:off x="419712" y="5582984"/>
            <a:ext cx="15842456" cy="52394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97" u="none" cap="none" strike="noStrike">
                <a:solidFill>
                  <a:srgbClr val="000000"/>
                </a:solidFill>
                <a:latin typeface="Poppins"/>
                <a:ea typeface="Poppins"/>
                <a:cs typeface="Poppins"/>
                <a:sym typeface="Poppins"/>
              </a:rPr>
              <a:t>Discrete Time System : </a:t>
            </a:r>
            <a:endParaRPr/>
          </a:p>
        </p:txBody>
      </p:sp>
      <p:sp>
        <p:nvSpPr>
          <p:cNvPr id="314" name="Google Shape;314;p21"/>
          <p:cNvSpPr txBox="1"/>
          <p:nvPr/>
        </p:nvSpPr>
        <p:spPr>
          <a:xfrm>
            <a:off x="578242" y="6192652"/>
            <a:ext cx="16583515" cy="879543"/>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A system that transforms discrete-time inputs into discrete-time output  and will sometimes be represented symbolically as x[n]  → y[n].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2"/>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320" name="Google Shape;320;p22"/>
          <p:cNvSpPr/>
          <p:nvPr/>
        </p:nvSpPr>
        <p:spPr>
          <a:xfrm>
            <a:off x="151080" y="1762502"/>
            <a:ext cx="7967593" cy="2037169"/>
          </a:xfrm>
          <a:custGeom>
            <a:rect b="b" l="l" r="r" t="t"/>
            <a:pathLst>
              <a:path extrusionOk="0" h="2037169" w="7967593">
                <a:moveTo>
                  <a:pt x="0" y="0"/>
                </a:moveTo>
                <a:lnTo>
                  <a:pt x="7967593" y="0"/>
                </a:lnTo>
                <a:lnTo>
                  <a:pt x="7967593" y="2037169"/>
                </a:lnTo>
                <a:lnTo>
                  <a:pt x="0" y="2037169"/>
                </a:lnTo>
                <a:lnTo>
                  <a:pt x="0" y="0"/>
                </a:lnTo>
                <a:close/>
              </a:path>
            </a:pathLst>
          </a:custGeom>
          <a:blipFill rotWithShape="1">
            <a:blip r:embed="rId4">
              <a:alphaModFix/>
            </a:blip>
            <a:stretch>
              <a:fillRect b="0" l="0" r="0" t="0"/>
            </a:stretch>
          </a:blipFill>
          <a:ln>
            <a:noFill/>
          </a:ln>
        </p:spPr>
      </p:sp>
      <p:sp>
        <p:nvSpPr>
          <p:cNvPr id="321" name="Google Shape;321;p22"/>
          <p:cNvSpPr/>
          <p:nvPr/>
        </p:nvSpPr>
        <p:spPr>
          <a:xfrm>
            <a:off x="9263873" y="1346289"/>
            <a:ext cx="7786024" cy="3797211"/>
          </a:xfrm>
          <a:custGeom>
            <a:rect b="b" l="l" r="r" t="t"/>
            <a:pathLst>
              <a:path extrusionOk="0" h="3797211" w="7786024">
                <a:moveTo>
                  <a:pt x="0" y="0"/>
                </a:moveTo>
                <a:lnTo>
                  <a:pt x="7786024" y="0"/>
                </a:lnTo>
                <a:lnTo>
                  <a:pt x="7786024" y="3797211"/>
                </a:lnTo>
                <a:lnTo>
                  <a:pt x="0" y="3797211"/>
                </a:lnTo>
                <a:lnTo>
                  <a:pt x="0" y="0"/>
                </a:lnTo>
                <a:close/>
              </a:path>
            </a:pathLst>
          </a:custGeom>
          <a:blipFill rotWithShape="1">
            <a:blip r:embed="rId5">
              <a:alphaModFix/>
            </a:blip>
            <a:stretch>
              <a:fillRect b="0" l="0" r="0" t="0"/>
            </a:stretch>
          </a:blipFill>
          <a:ln>
            <a:noFill/>
          </a:ln>
        </p:spPr>
      </p:sp>
      <p:sp>
        <p:nvSpPr>
          <p:cNvPr id="322" name="Google Shape;322;p22"/>
          <p:cNvSpPr/>
          <p:nvPr/>
        </p:nvSpPr>
        <p:spPr>
          <a:xfrm>
            <a:off x="360409" y="6215682"/>
            <a:ext cx="7548934" cy="2083149"/>
          </a:xfrm>
          <a:custGeom>
            <a:rect b="b" l="l" r="r" t="t"/>
            <a:pathLst>
              <a:path extrusionOk="0" h="2083149" w="7548934">
                <a:moveTo>
                  <a:pt x="0" y="0"/>
                </a:moveTo>
                <a:lnTo>
                  <a:pt x="7548935" y="0"/>
                </a:lnTo>
                <a:lnTo>
                  <a:pt x="7548935" y="2083148"/>
                </a:lnTo>
                <a:lnTo>
                  <a:pt x="0" y="2083148"/>
                </a:lnTo>
                <a:lnTo>
                  <a:pt x="0" y="0"/>
                </a:lnTo>
                <a:close/>
              </a:path>
            </a:pathLst>
          </a:custGeom>
          <a:blipFill rotWithShape="1">
            <a:blip r:embed="rId6">
              <a:alphaModFix/>
            </a:blip>
            <a:stretch>
              <a:fillRect b="0" l="0" r="0" t="0"/>
            </a:stretch>
          </a:blipFill>
          <a:ln>
            <a:noFill/>
          </a:ln>
        </p:spPr>
      </p:sp>
      <p:sp>
        <p:nvSpPr>
          <p:cNvPr id="323" name="Google Shape;323;p22"/>
          <p:cNvSpPr/>
          <p:nvPr/>
        </p:nvSpPr>
        <p:spPr>
          <a:xfrm>
            <a:off x="8730522" y="6215682"/>
            <a:ext cx="8852725" cy="3042618"/>
          </a:xfrm>
          <a:custGeom>
            <a:rect b="b" l="l" r="r" t="t"/>
            <a:pathLst>
              <a:path extrusionOk="0" h="3042618" w="8852725">
                <a:moveTo>
                  <a:pt x="0" y="0"/>
                </a:moveTo>
                <a:lnTo>
                  <a:pt x="8852725" y="0"/>
                </a:lnTo>
                <a:lnTo>
                  <a:pt x="8852725" y="3042618"/>
                </a:lnTo>
                <a:lnTo>
                  <a:pt x="0" y="3042618"/>
                </a:lnTo>
                <a:lnTo>
                  <a:pt x="0" y="0"/>
                </a:lnTo>
                <a:close/>
              </a:path>
            </a:pathLst>
          </a:custGeom>
          <a:blipFill rotWithShape="1">
            <a:blip r:embed="rId7">
              <a:alphaModFix/>
            </a:blip>
            <a:stretch>
              <a:fillRect b="0" l="0" r="0" t="0"/>
            </a:stretch>
          </a:blipFill>
          <a:ln>
            <a:noFill/>
          </a:ln>
        </p:spPr>
      </p:sp>
      <p:sp>
        <p:nvSpPr>
          <p:cNvPr id="324" name="Google Shape;324;p22"/>
          <p:cNvSpPr txBox="1"/>
          <p:nvPr/>
        </p:nvSpPr>
        <p:spPr>
          <a:xfrm>
            <a:off x="3441412" y="-47695"/>
            <a:ext cx="11598235"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INTERCONNECTION OF SYSTEMS </a:t>
            </a:r>
            <a:endParaRPr/>
          </a:p>
        </p:txBody>
      </p:sp>
      <p:sp>
        <p:nvSpPr>
          <p:cNvPr id="325" name="Google Shape;325;p22"/>
          <p:cNvSpPr txBox="1"/>
          <p:nvPr/>
        </p:nvSpPr>
        <p:spPr>
          <a:xfrm>
            <a:off x="9263873" y="5400675"/>
            <a:ext cx="7786024"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(b) Parallel Interconnection</a:t>
            </a:r>
            <a:endParaRPr/>
          </a:p>
        </p:txBody>
      </p:sp>
      <p:sp>
        <p:nvSpPr>
          <p:cNvPr id="326" name="Google Shape;326;p22"/>
          <p:cNvSpPr txBox="1"/>
          <p:nvPr/>
        </p:nvSpPr>
        <p:spPr>
          <a:xfrm>
            <a:off x="9144000" y="9413274"/>
            <a:ext cx="7786024"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(d) Feedback interconnection</a:t>
            </a:r>
            <a:endParaRPr/>
          </a:p>
        </p:txBody>
      </p:sp>
      <p:sp>
        <p:nvSpPr>
          <p:cNvPr id="327" name="Google Shape;327;p22"/>
          <p:cNvSpPr txBox="1"/>
          <p:nvPr/>
        </p:nvSpPr>
        <p:spPr>
          <a:xfrm>
            <a:off x="151080" y="9201150"/>
            <a:ext cx="7786024"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 c ) Series-Parallel Interconnection</a:t>
            </a:r>
            <a:endParaRPr/>
          </a:p>
        </p:txBody>
      </p:sp>
      <p:sp>
        <p:nvSpPr>
          <p:cNvPr id="328" name="Google Shape;328;p22"/>
          <p:cNvSpPr txBox="1"/>
          <p:nvPr/>
        </p:nvSpPr>
        <p:spPr>
          <a:xfrm>
            <a:off x="241864" y="4475946"/>
            <a:ext cx="7786024" cy="35884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Poppins"/>
                <a:ea typeface="Poppins"/>
                <a:cs typeface="Poppins"/>
                <a:sym typeface="Poppins"/>
              </a:rPr>
              <a:t>(a) Series Interconnection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3"/>
          <p:cNvSpPr/>
          <p:nvPr/>
        </p:nvSpPr>
        <p:spPr>
          <a:xfrm>
            <a:off x="-96525"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334" name="Google Shape;334;p23"/>
          <p:cNvSpPr txBox="1"/>
          <p:nvPr/>
        </p:nvSpPr>
        <p:spPr>
          <a:xfrm>
            <a:off x="4430240" y="-171450"/>
            <a:ext cx="8480584" cy="106941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PROPERTIES OF SYSTEM </a:t>
            </a:r>
            <a:endParaRPr/>
          </a:p>
        </p:txBody>
      </p:sp>
      <p:sp>
        <p:nvSpPr>
          <p:cNvPr id="335" name="Google Shape;335;p23"/>
          <p:cNvSpPr txBox="1"/>
          <p:nvPr/>
        </p:nvSpPr>
        <p:spPr>
          <a:xfrm>
            <a:off x="0" y="754500"/>
            <a:ext cx="17541900" cy="9532500"/>
          </a:xfrm>
          <a:prstGeom prst="rect">
            <a:avLst/>
          </a:prstGeom>
          <a:noFill/>
          <a:ln>
            <a:noFill/>
          </a:ln>
        </p:spPr>
        <p:txBody>
          <a:bodyPr anchorCtr="0" anchor="t" bIns="0" lIns="0" spcFirstLastPara="1" rIns="0" wrap="square" tIns="0">
            <a:spAutoFit/>
          </a:bodyPr>
          <a:lstStyle/>
          <a:p>
            <a:pPr indent="-269588" lvl="1" marL="539176" marR="0" rtl="0" algn="l">
              <a:lnSpc>
                <a:spcPct val="140008"/>
              </a:lnSpc>
              <a:spcBef>
                <a:spcPts val="0"/>
              </a:spcBef>
              <a:spcAft>
                <a:spcPts val="0"/>
              </a:spcAft>
              <a:buClr>
                <a:srgbClr val="000000"/>
              </a:buClr>
              <a:buSzPts val="2497"/>
              <a:buFont typeface="Arial"/>
              <a:buChar char="•"/>
            </a:pPr>
            <a:r>
              <a:rPr b="1" i="0" lang="en-US" sz="2497" u="none" cap="none" strike="noStrike">
                <a:solidFill>
                  <a:srgbClr val="000000"/>
                </a:solidFill>
                <a:latin typeface="Poppins"/>
                <a:ea typeface="Poppins"/>
                <a:cs typeface="Poppins"/>
                <a:sym typeface="Poppins"/>
              </a:rPr>
              <a:t>Systems with and without Memory</a:t>
            </a:r>
            <a:r>
              <a:rPr b="0" i="0" lang="en-US" sz="2497" u="none" cap="none" strike="noStrike">
                <a:solidFill>
                  <a:srgbClr val="000000"/>
                </a:solidFill>
                <a:latin typeface="Poppins"/>
                <a:ea typeface="Poppins"/>
                <a:cs typeface="Poppins"/>
                <a:sym typeface="Poppins"/>
              </a:rPr>
              <a:t> : A system is said to be memory less if its output for each value of the independent variable at a given time is dependent only on the input at that same time.</a:t>
            </a:r>
            <a:endParaRPr/>
          </a:p>
          <a:p>
            <a:pPr indent="0" lvl="0" marL="0" marR="0" rtl="0" algn="l">
              <a:lnSpc>
                <a:spcPct val="140008"/>
              </a:lnSpc>
              <a:spcBef>
                <a:spcPts val="0"/>
              </a:spcBef>
              <a:spcAft>
                <a:spcPts val="0"/>
              </a:spcAft>
              <a:buNone/>
            </a:pPr>
            <a:r>
              <a:rPr b="0" i="0" lang="en-US" sz="2497" u="none" cap="none" strike="noStrike">
                <a:solidFill>
                  <a:srgbClr val="000000"/>
                </a:solidFill>
                <a:latin typeface="Poppins"/>
                <a:ea typeface="Poppins"/>
                <a:cs typeface="Poppins"/>
                <a:sym typeface="Poppins"/>
              </a:rPr>
              <a:t> </a:t>
            </a:r>
            <a:endParaRPr/>
          </a:p>
          <a:p>
            <a:pPr indent="-269588" lvl="1" marL="539176" marR="0" rtl="0" algn="l">
              <a:lnSpc>
                <a:spcPct val="140008"/>
              </a:lnSpc>
              <a:spcBef>
                <a:spcPts val="0"/>
              </a:spcBef>
              <a:spcAft>
                <a:spcPts val="0"/>
              </a:spcAft>
              <a:buClr>
                <a:srgbClr val="000000"/>
              </a:buClr>
              <a:buSzPts val="2497"/>
              <a:buFont typeface="Arial"/>
              <a:buChar char="•"/>
            </a:pPr>
            <a:r>
              <a:rPr b="1" i="0" lang="en-US" sz="2497" u="none" cap="none" strike="noStrike">
                <a:solidFill>
                  <a:srgbClr val="000000"/>
                </a:solidFill>
                <a:latin typeface="Poppins"/>
                <a:ea typeface="Poppins"/>
                <a:cs typeface="Poppins"/>
                <a:sym typeface="Poppins"/>
              </a:rPr>
              <a:t>lnvertibility and Inverse Systems</a:t>
            </a:r>
            <a:r>
              <a:rPr b="0" i="0" lang="en-US" sz="2497" u="none" cap="none" strike="noStrike">
                <a:solidFill>
                  <a:srgbClr val="000000"/>
                </a:solidFill>
                <a:latin typeface="Poppins"/>
                <a:ea typeface="Poppins"/>
                <a:cs typeface="Poppins"/>
                <a:sym typeface="Poppins"/>
              </a:rPr>
              <a:t> : A system is said to be invertible if distinct inputs lead to distinct outputs. </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1" i="0" lang="en-US" sz="2497" u="none" cap="none" strike="noStrike">
                <a:solidFill>
                  <a:srgbClr val="000000"/>
                </a:solidFill>
                <a:latin typeface="Poppins"/>
                <a:ea typeface="Poppins"/>
                <a:cs typeface="Poppins"/>
                <a:sym typeface="Poppins"/>
              </a:rPr>
              <a:t>Causality</a:t>
            </a:r>
            <a:r>
              <a:rPr b="0" i="0" lang="en-US" sz="2497" u="none" cap="none" strike="noStrike">
                <a:solidFill>
                  <a:srgbClr val="000000"/>
                </a:solidFill>
                <a:latin typeface="Poppins"/>
                <a:ea typeface="Poppins"/>
                <a:cs typeface="Poppins"/>
                <a:sym typeface="Poppins"/>
              </a:rPr>
              <a:t> : A system is causal if the output at any time depends only on values of the input at the present time and in the past. Such a system is often referred to as being nonanticipative, as the system output does not anticipate future values of the input.</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1" i="0" lang="en-US" sz="2497" u="none" cap="none" strike="noStrike">
                <a:solidFill>
                  <a:srgbClr val="000000"/>
                </a:solidFill>
                <a:latin typeface="Poppins"/>
                <a:ea typeface="Poppins"/>
                <a:cs typeface="Poppins"/>
                <a:sym typeface="Poppins"/>
              </a:rPr>
              <a:t>Stability</a:t>
            </a:r>
            <a:r>
              <a:rPr b="0" i="0" lang="en-US" sz="2497" u="none" cap="none" strike="noStrike">
                <a:solidFill>
                  <a:srgbClr val="000000"/>
                </a:solidFill>
                <a:latin typeface="Poppins"/>
                <a:ea typeface="Poppins"/>
                <a:cs typeface="Poppins"/>
                <a:sym typeface="Poppins"/>
              </a:rPr>
              <a:t> : Stability is another important system property. Informally, a stable system is one in which small inputs lead to responses that do not diverge. </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1" i="0" lang="en-US" sz="2497" u="none" cap="none" strike="noStrike">
                <a:solidFill>
                  <a:srgbClr val="000000"/>
                </a:solidFill>
                <a:latin typeface="Poppins"/>
                <a:ea typeface="Poppins"/>
                <a:cs typeface="Poppins"/>
                <a:sym typeface="Poppins"/>
              </a:rPr>
              <a:t>Time lnvariance</a:t>
            </a:r>
            <a:r>
              <a:rPr b="0" i="0" lang="en-US" sz="2497" u="none" cap="none" strike="noStrike">
                <a:solidFill>
                  <a:srgbClr val="000000"/>
                </a:solidFill>
                <a:latin typeface="Poppins"/>
                <a:ea typeface="Poppins"/>
                <a:cs typeface="Poppins"/>
                <a:sym typeface="Poppins"/>
              </a:rPr>
              <a:t> : Conceptually, a system is time invariant if the behavior and characteristics of the system are fixed over time. </a:t>
            </a:r>
            <a:endParaRPr/>
          </a:p>
          <a:p>
            <a:pPr indent="0" lvl="0" marL="0" marR="0" rtl="0" algn="l">
              <a:lnSpc>
                <a:spcPct val="140008"/>
              </a:lnSpc>
              <a:spcBef>
                <a:spcPts val="0"/>
              </a:spcBef>
              <a:spcAft>
                <a:spcPts val="0"/>
              </a:spcAft>
              <a:buNone/>
            </a:pPr>
            <a:r>
              <a:t/>
            </a:r>
            <a:endParaRPr b="0" i="0" sz="2497" u="none" cap="none" strike="noStrike">
              <a:solidFill>
                <a:srgbClr val="000000"/>
              </a:solidFill>
              <a:latin typeface="Poppins"/>
              <a:ea typeface="Poppins"/>
              <a:cs typeface="Poppins"/>
              <a:sym typeface="Poppins"/>
            </a:endParaRPr>
          </a:p>
          <a:p>
            <a:pPr indent="-269588" lvl="1" marL="539176" marR="0" rtl="0" algn="l">
              <a:lnSpc>
                <a:spcPct val="140008"/>
              </a:lnSpc>
              <a:spcBef>
                <a:spcPts val="0"/>
              </a:spcBef>
              <a:spcAft>
                <a:spcPts val="0"/>
              </a:spcAft>
              <a:buClr>
                <a:srgbClr val="000000"/>
              </a:buClr>
              <a:buSzPts val="2497"/>
              <a:buFont typeface="Arial"/>
              <a:buChar char="•"/>
            </a:pPr>
            <a:r>
              <a:rPr b="1" i="0" lang="en-US" sz="2497" u="none" cap="none" strike="noStrike">
                <a:solidFill>
                  <a:srgbClr val="000000"/>
                </a:solidFill>
                <a:latin typeface="Poppins"/>
                <a:ea typeface="Poppins"/>
                <a:cs typeface="Poppins"/>
                <a:sym typeface="Poppins"/>
              </a:rPr>
              <a:t>Linearity</a:t>
            </a:r>
            <a:r>
              <a:rPr b="0" i="0" lang="en-US" sz="2497" u="none" cap="none" strike="noStrike">
                <a:solidFill>
                  <a:srgbClr val="000000"/>
                </a:solidFill>
                <a:latin typeface="Poppins"/>
                <a:ea typeface="Poppins"/>
                <a:cs typeface="Poppins"/>
                <a:sym typeface="Poppins"/>
              </a:rPr>
              <a:t> : A linear system, in continuous time or discrete time, is a system that possesses the impor tant property of superposition: If an input consists of the weighted sum of several signals, then the output is the superposition-that is, the weighted sum-of the responses of the system to each of those signals.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4"/>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341" name="Google Shape;341;p24"/>
          <p:cNvSpPr txBox="1"/>
          <p:nvPr/>
        </p:nvSpPr>
        <p:spPr>
          <a:xfrm>
            <a:off x="5052000" y="3608250"/>
            <a:ext cx="8184000" cy="30705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Module - 1</a:t>
            </a:r>
            <a:endParaRPr/>
          </a:p>
          <a:p>
            <a:pPr indent="0" lvl="0" marL="0" marR="0" rtl="0" algn="ctr">
              <a:lnSpc>
                <a:spcPct val="71154"/>
              </a:lnSpc>
              <a:spcBef>
                <a:spcPts val="0"/>
              </a:spcBef>
              <a:spcAft>
                <a:spcPts val="0"/>
              </a:spcAft>
              <a:buNone/>
            </a:pPr>
            <a:r>
              <a:t/>
            </a:r>
            <a:endParaRPr b="0" i="0" sz="5897" u="none" cap="none" strike="noStrike">
              <a:solidFill>
                <a:srgbClr val="000000"/>
              </a:solidFill>
              <a:latin typeface="Poppins"/>
              <a:ea typeface="Poppins"/>
              <a:cs typeface="Poppins"/>
              <a:sym typeface="Poppins"/>
            </a:endParaRPr>
          </a:p>
          <a:p>
            <a:pPr indent="0" lvl="0" marL="0" marR="0" rtl="0" algn="ctr">
              <a:lnSpc>
                <a:spcPct val="140002"/>
              </a:lnSpc>
              <a:spcBef>
                <a:spcPts val="0"/>
              </a:spcBef>
              <a:spcAft>
                <a:spcPts val="0"/>
              </a:spcAft>
              <a:buNone/>
            </a:pPr>
            <a:r>
              <a:rPr b="0" i="0" lang="en-US" sz="7497" u="none" cap="none" strike="noStrike">
                <a:solidFill>
                  <a:srgbClr val="000000"/>
                </a:solidFill>
                <a:latin typeface="Poppins"/>
                <a:ea typeface="Poppins"/>
                <a:cs typeface="Poppins"/>
                <a:sym typeface="Poppins"/>
              </a:rPr>
              <a:t>Completed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