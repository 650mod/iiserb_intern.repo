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10287000" cx="18288000"/>
  <p:notesSz cx="6858000" cy="9144000"/>
  <p:embeddedFontLst>
    <p:embeddedFont>
      <p:font typeface="Anton"/>
      <p:regular r:id="rId19"/>
    </p:embeddedFont>
    <p:embeddedFont>
      <p:font typeface="Poppins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g+mR50CrfhVOh0fdW+UdNU15FU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Poppi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nton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481058" cy="10580406"/>
          </a:xfrm>
          <a:custGeom>
            <a:rect b="b" l="l" r="r" t="t"/>
            <a:pathLst>
              <a:path extrusionOk="0" h="10580406" w="18481058">
                <a:moveTo>
                  <a:pt x="0" y="0"/>
                </a:moveTo>
                <a:lnTo>
                  <a:pt x="18481058" y="0"/>
                </a:lnTo>
                <a:lnTo>
                  <a:pt x="18481058" y="10580406"/>
                </a:lnTo>
                <a:lnTo>
                  <a:pt x="0" y="10580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8169686" y="305306"/>
            <a:ext cx="1755570" cy="1755570"/>
          </a:xfrm>
          <a:custGeom>
            <a:rect b="b" l="l" r="r" t="t"/>
            <a:pathLst>
              <a:path extrusionOk="0" h="1755570" w="1755570">
                <a:moveTo>
                  <a:pt x="0" y="0"/>
                </a:moveTo>
                <a:lnTo>
                  <a:pt x="1755570" y="0"/>
                </a:lnTo>
                <a:lnTo>
                  <a:pt x="1755570" y="1755570"/>
                </a:lnTo>
                <a:lnTo>
                  <a:pt x="0" y="1755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 txBox="1"/>
          <p:nvPr/>
        </p:nvSpPr>
        <p:spPr>
          <a:xfrm>
            <a:off x="1347028" y="2507464"/>
            <a:ext cx="15912272" cy="8863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27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INDIAN INSTITUTE OF SCIENCE EDUCATION AND RESEARCH, BHOPAL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2501231" y="4018349"/>
            <a:ext cx="13092480" cy="566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9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 Of Electrical Engineering and Computer Sciene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4304064" y="5350652"/>
            <a:ext cx="9121378" cy="566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9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MODULE  2 </a:t>
            </a:r>
            <a:r>
              <a:rPr b="0" i="0" lang="en-US" sz="319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- LINEAR TIME-INVARIANT SYSTEMS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0"/>
            <a:ext cx="18481058" cy="10580406"/>
          </a:xfrm>
          <a:custGeom>
            <a:rect b="b" l="l" r="r" t="t"/>
            <a:pathLst>
              <a:path extrusionOk="0" h="10580406" w="18481058">
                <a:moveTo>
                  <a:pt x="0" y="0"/>
                </a:moveTo>
                <a:lnTo>
                  <a:pt x="18481058" y="0"/>
                </a:lnTo>
                <a:lnTo>
                  <a:pt x="18481058" y="10580406"/>
                </a:lnTo>
                <a:lnTo>
                  <a:pt x="0" y="10580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2"/>
          <p:cNvSpPr txBox="1"/>
          <p:nvPr/>
        </p:nvSpPr>
        <p:spPr>
          <a:xfrm>
            <a:off x="2612086" y="582544"/>
            <a:ext cx="11699869" cy="854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99" u="none" cap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MODULE 2 : LINEAR TIME-INVARIANT SYSTEMS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335259" y="1758950"/>
            <a:ext cx="16924041" cy="67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CONTENT </a:t>
            </a:r>
            <a:endParaRPr/>
          </a:p>
          <a:p>
            <a:pPr indent="-410212" lvl="1" marL="82042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/>
          </a:p>
          <a:p>
            <a:pPr indent="-410212" lvl="1" marL="82042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LINEAR TIME-INVARIANT(LTI) SYSTEMS – DEFINITION</a:t>
            </a:r>
            <a:endParaRPr/>
          </a:p>
          <a:p>
            <a:pPr indent="-410212" lvl="1" marL="82042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DISCRETE-TIME LTI SYSTEMS : THE CONVOLUTION SUM</a:t>
            </a:r>
            <a:endParaRPr/>
          </a:p>
          <a:p>
            <a:pPr indent="-410212" lvl="1" marL="82042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CONTINUOUS-TIME LTI SYSTEMS : THE CONVOLUTION INTEGRAL</a:t>
            </a:r>
            <a:endParaRPr/>
          </a:p>
          <a:p>
            <a:pPr indent="-410212" lvl="1" marL="82042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PROPERTIES OF LINEAR TIME-INVARIANT SYSTEMS</a:t>
            </a:r>
            <a:endParaRPr/>
          </a:p>
          <a:p>
            <a:pPr indent="-410212" lvl="1" marL="82042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LTI SYSTEMS: DIFFERENTIAL &amp; DIFFERENCE EQUATIONS</a:t>
            </a:r>
            <a:endParaRPr/>
          </a:p>
          <a:p>
            <a:pPr indent="-410212" lvl="1" marL="82042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DIFFERENTIAL &amp; DIFFERENCE EQUATIONS : BLOCK DIAGRAM REPRESENTATION OF FIRST ORDER SYSTEMS</a:t>
            </a:r>
            <a:endParaRPr/>
          </a:p>
          <a:p>
            <a:pPr indent="-410212" lvl="1" marL="82042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SINGULARITY FUNCTIONS — IMPULSE, STEP &amp; RAMP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/>
          <p:nvPr/>
        </p:nvSpPr>
        <p:spPr>
          <a:xfrm>
            <a:off x="0" y="0"/>
            <a:ext cx="18481058" cy="10580406"/>
          </a:xfrm>
          <a:custGeom>
            <a:rect b="b" l="l" r="r" t="t"/>
            <a:pathLst>
              <a:path extrusionOk="0" h="10580406" w="18481058">
                <a:moveTo>
                  <a:pt x="0" y="0"/>
                </a:moveTo>
                <a:lnTo>
                  <a:pt x="18481058" y="0"/>
                </a:lnTo>
                <a:lnTo>
                  <a:pt x="18481058" y="10580406"/>
                </a:lnTo>
                <a:lnTo>
                  <a:pt x="0" y="10580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3"/>
          <p:cNvSpPr txBox="1"/>
          <p:nvPr/>
        </p:nvSpPr>
        <p:spPr>
          <a:xfrm>
            <a:off x="1508634" y="230257"/>
            <a:ext cx="14935752" cy="863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97" u="none" cap="none" strike="noStrik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INTRODUCTION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706646" y="2047341"/>
            <a:ext cx="16924041" cy="6410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4" lvl="1" marL="64770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Linearity and time invariance - two of the number of basis system properties.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4" lvl="1" marL="64770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These properties play a fundamental role in signal and system analysis for two major reasons.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4" lvl="1" marL="64770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First, many physical processes possess these properties and thus can be modeled as linear time-invariant (LTI) systems. 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4" lvl="1" marL="64770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LTI systems can be analyzed in considerable detail, providing both insight into their properties and a set of powerful tools that form the core of signal and system analysis. 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/>
          <p:nvPr/>
        </p:nvSpPr>
        <p:spPr>
          <a:xfrm>
            <a:off x="0" y="0"/>
            <a:ext cx="18481058" cy="10580406"/>
          </a:xfrm>
          <a:custGeom>
            <a:rect b="b" l="l" r="r" t="t"/>
            <a:pathLst>
              <a:path extrusionOk="0" h="10580406" w="18481058">
                <a:moveTo>
                  <a:pt x="0" y="0"/>
                </a:moveTo>
                <a:lnTo>
                  <a:pt x="18481058" y="0"/>
                </a:lnTo>
                <a:lnTo>
                  <a:pt x="18481058" y="10580406"/>
                </a:lnTo>
                <a:lnTo>
                  <a:pt x="0" y="10580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4"/>
          <p:cNvSpPr txBox="1"/>
          <p:nvPr/>
        </p:nvSpPr>
        <p:spPr>
          <a:xfrm>
            <a:off x="0" y="230257"/>
            <a:ext cx="18288000" cy="863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97" u="none" cap="none" strike="noStrik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Linear Time-Invariant (LTI) Systems — Definition</a:t>
            </a:r>
            <a:endParaRPr/>
          </a:p>
        </p:txBody>
      </p:sp>
      <p:sp>
        <p:nvSpPr>
          <p:cNvPr id="109" name="Google Shape;109;p4"/>
          <p:cNvSpPr txBox="1"/>
          <p:nvPr/>
        </p:nvSpPr>
        <p:spPr>
          <a:xfrm>
            <a:off x="0" y="3809331"/>
            <a:ext cx="8822923" cy="5448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Linearity:                                                   </a:t>
            </a:r>
            <a:endParaRPr/>
          </a:p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9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system is linear if it follows the superposition principle, which consists of: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(a) Additivity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 x1(t)→y1(t)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and x2(t)→y2(t)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then x1(t)+x2(t)→y1(t)+y2(t)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(b) Homogeneity (Scaling)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 x(t)→y(t)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then a x(t)→a y(t) a is any constant.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Combining both, a1x1(t)+a2x2(t)→a1y1(t)+a2y2(t)</a:t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9144000" y="3809331"/>
            <a:ext cx="8747617" cy="3591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Time Invariance :                                                        </a:t>
            </a:r>
            <a:endParaRPr/>
          </a:p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97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system is time-invariant if a shift in the input causes the same shift in the output.</a:t>
            </a:r>
            <a:endParaRPr/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 x(t)→y(t)</a:t>
            </a:r>
            <a:endParaRPr/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then for any delay t0 x(t−t0)→y(t−t0)</a:t>
            </a:r>
            <a:endParaRPr/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system's characteristics do not change with time.</a:t>
            </a:r>
            <a:endParaRPr/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7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75306" y="2179347"/>
            <a:ext cx="18405752" cy="879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Linear Time-Invariant (LTI) system is a system that satisfies both the linearity property and the time-invariance property.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/>
          <p:nvPr/>
        </p:nvSpPr>
        <p:spPr>
          <a:xfrm>
            <a:off x="0" y="0"/>
            <a:ext cx="18481058" cy="10580406"/>
          </a:xfrm>
          <a:custGeom>
            <a:rect b="b" l="l" r="r" t="t"/>
            <a:pathLst>
              <a:path extrusionOk="0" h="10580406" w="18481058">
                <a:moveTo>
                  <a:pt x="0" y="0"/>
                </a:moveTo>
                <a:lnTo>
                  <a:pt x="18481058" y="0"/>
                </a:lnTo>
                <a:lnTo>
                  <a:pt x="18481058" y="10580406"/>
                </a:lnTo>
                <a:lnTo>
                  <a:pt x="0" y="10580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5"/>
          <p:cNvSpPr txBox="1"/>
          <p:nvPr/>
        </p:nvSpPr>
        <p:spPr>
          <a:xfrm>
            <a:off x="0" y="230257"/>
            <a:ext cx="18288000" cy="863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97" u="none" cap="none" strike="noStrik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Discrete-Time LTI Systems : The Convolution Sum </a:t>
            </a:r>
            <a:endParaRPr/>
          </a:p>
        </p:txBody>
      </p:sp>
      <p:sp>
        <p:nvSpPr>
          <p:cNvPr id="118" name="Google Shape;118;p5"/>
          <p:cNvSpPr txBox="1"/>
          <p:nvPr/>
        </p:nvSpPr>
        <p:spPr>
          <a:xfrm>
            <a:off x="0" y="3455343"/>
            <a:ext cx="18288000" cy="438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69875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Representation of Input : Any DT signal can be expressed as a weighted sum of shifted unit impulses:</a:t>
            </a:r>
            <a:endParaRPr/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x[n] = Σ x[k] δ[n−k].</a:t>
            </a:r>
            <a:endParaRPr/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69875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Impulse Response : with the input x[n] to a linear system expressed in the above expression, the output y[n] can be expressed as </a:t>
            </a:r>
            <a:endParaRPr/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y[n] = Σ x[k] hk[n].</a:t>
            </a:r>
            <a:endParaRPr/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69875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Convolution Sum : The convolution or superposition sum will represent symbolically as </a:t>
            </a:r>
            <a:endParaRPr/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y[n] = x[n] * h[n] =Σ x[k] · h[n−k] </a:t>
            </a: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 = -</a:t>
            </a:r>
            <a:r>
              <a:rPr b="0" i="1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∞ to +</a:t>
            </a:r>
            <a:r>
              <a:rPr b="0" i="1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∞</a:t>
            </a:r>
            <a:endParaRPr/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24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/>
          <p:nvPr/>
        </p:nvSpPr>
        <p:spPr>
          <a:xfrm>
            <a:off x="0" y="0"/>
            <a:ext cx="18481058" cy="10580406"/>
          </a:xfrm>
          <a:custGeom>
            <a:rect b="b" l="l" r="r" t="t"/>
            <a:pathLst>
              <a:path extrusionOk="0" h="10580406" w="18481058">
                <a:moveTo>
                  <a:pt x="0" y="0"/>
                </a:moveTo>
                <a:lnTo>
                  <a:pt x="18481058" y="0"/>
                </a:lnTo>
                <a:lnTo>
                  <a:pt x="18481058" y="10580406"/>
                </a:lnTo>
                <a:lnTo>
                  <a:pt x="0" y="10580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6"/>
          <p:cNvSpPr txBox="1"/>
          <p:nvPr/>
        </p:nvSpPr>
        <p:spPr>
          <a:xfrm>
            <a:off x="0" y="230257"/>
            <a:ext cx="18288000" cy="863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97" u="none" cap="none" strike="noStrik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Continuous-Time LTI Systems : The Convolution Integral</a:t>
            </a:r>
            <a:endParaRPr/>
          </a:p>
        </p:txBody>
      </p:sp>
      <p:sp>
        <p:nvSpPr>
          <p:cNvPr id="125" name="Google Shape;125;p6"/>
          <p:cNvSpPr txBox="1"/>
          <p:nvPr/>
        </p:nvSpPr>
        <p:spPr>
          <a:xfrm>
            <a:off x="0" y="3256238"/>
            <a:ext cx="18288000" cy="482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69875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Representation of Input : Any CT signal can be expressed as a weighted sum of shifted unit impulses:</a:t>
            </a:r>
            <a:endParaRPr/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x(t) = ∫ x(τ) δ(τ).</a:t>
            </a:r>
            <a:endParaRPr/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69875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Impulse Response : with the input x(t) to a linear system expressed in the above expression, the output y(t) can be expressed as </a:t>
            </a:r>
            <a:endParaRPr/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y(t) = ∫ x (τ) h τ(t) dτ.</a:t>
            </a:r>
            <a:endParaRPr/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69875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Convolution Integral : The convolution or superposition integral will represent symbolically as </a:t>
            </a:r>
            <a:endParaRPr/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y(t) = x(t) * h(t) =∫ x(τ) · h(t−τ) dτ  [−∞ to +∞]</a:t>
            </a:r>
            <a:endParaRPr/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/>
          <p:nvPr/>
        </p:nvSpPr>
        <p:spPr>
          <a:xfrm>
            <a:off x="0" y="0"/>
            <a:ext cx="18481058" cy="10580406"/>
          </a:xfrm>
          <a:custGeom>
            <a:rect b="b" l="l" r="r" t="t"/>
            <a:pathLst>
              <a:path extrusionOk="0" h="10580406" w="18481058">
                <a:moveTo>
                  <a:pt x="0" y="0"/>
                </a:moveTo>
                <a:lnTo>
                  <a:pt x="18481058" y="0"/>
                </a:lnTo>
                <a:lnTo>
                  <a:pt x="18481058" y="10580406"/>
                </a:lnTo>
                <a:lnTo>
                  <a:pt x="0" y="10580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1" name="Google Shape;131;p7"/>
          <p:cNvSpPr txBox="1"/>
          <p:nvPr/>
        </p:nvSpPr>
        <p:spPr>
          <a:xfrm>
            <a:off x="0" y="230257"/>
            <a:ext cx="18288000" cy="863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97" u="none" cap="none" strike="noStrik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Properties of Linear Time-Invariant Systems</a:t>
            </a:r>
            <a:endParaRPr/>
          </a:p>
        </p:txBody>
      </p:sp>
      <p:sp>
        <p:nvSpPr>
          <p:cNvPr id="132" name="Google Shape;132;p7"/>
          <p:cNvSpPr txBox="1"/>
          <p:nvPr/>
        </p:nvSpPr>
        <p:spPr>
          <a:xfrm>
            <a:off x="545910" y="2017368"/>
            <a:ext cx="16713390" cy="6575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69875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Commutative Property : 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 </a:t>
            </a: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 discrete time , </a:t>
            </a:r>
            <a:r>
              <a:rPr b="1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x[n]</a:t>
            </a:r>
            <a:r>
              <a:rPr b="1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*</a:t>
            </a:r>
            <a:r>
              <a:rPr b="1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h[n]</a:t>
            </a:r>
            <a:r>
              <a:rPr b="1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= </a:t>
            </a: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h[n]</a:t>
            </a:r>
            <a:r>
              <a:rPr b="1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*</a:t>
            </a:r>
            <a:r>
              <a:rPr b="1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x[n]</a:t>
            </a:r>
            <a:r>
              <a:rPr b="1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b="1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Σ</a:t>
            </a:r>
            <a:r>
              <a:rPr b="1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h[k]</a:t>
            </a:r>
            <a:r>
              <a:rPr b="1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·</a:t>
            </a:r>
            <a:r>
              <a:rPr b="1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x[n−k] k = -∞ to + ∞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In continuous time , x(t) * h(t) = h(t) * x(t) = ∫</a:t>
            </a:r>
            <a:r>
              <a:rPr b="1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h(τ)</a:t>
            </a:r>
            <a:r>
              <a:rPr b="1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·</a:t>
            </a:r>
            <a:r>
              <a:rPr b="1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x(t−τ</a:t>
            </a:r>
            <a:r>
              <a:rPr b="1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 </a:t>
            </a: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dτ</a:t>
            </a:r>
            <a:r>
              <a:rPr b="1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[−∞</a:t>
            </a:r>
            <a:r>
              <a:rPr b="1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</a:t>
            </a:r>
            <a:r>
              <a:rPr b="1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+∞]</a:t>
            </a:r>
            <a:endParaRPr/>
          </a:p>
          <a:p>
            <a:pPr indent="0" lvl="0" marL="0" marR="0" rtl="0" algn="l">
              <a:lnSpc>
                <a:spcPct val="1395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69875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Distributive Property :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</a:t>
            </a: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In discrete time , x[n] * (h1 [n] + h2[n]) = x[n] * h1 [n] + x[n] * h2[n]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In continuous time , x(t) * [h1 (t) + h2 (t)] = x(t) * h1 (t) + x(t) * h2 (t)</a:t>
            </a:r>
            <a:endParaRPr/>
          </a:p>
          <a:p>
            <a:pPr indent="0" lvl="0" marL="0" marR="0" rtl="0" algn="l">
              <a:lnSpc>
                <a:spcPct val="1395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69875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Char char="•"/>
            </a:pPr>
            <a:r>
              <a:rPr b="1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The Associative Property :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In discrete time , x[n] * (h1 [n] * h2[n]) = (x[n] * h1 [n]) * h2[n]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In continuous time , x(t) * [h1 (t) * h2 (t)] = [x(t) * h1 (t)] * h2 (t)</a:t>
            </a:r>
            <a:endParaRPr/>
          </a:p>
          <a:p>
            <a:pPr indent="0" lvl="0" marL="0" marR="0" rtl="0" algn="l">
              <a:lnSpc>
                <a:spcPct val="1395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69875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Invertibility of LTI Systems :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In discrete time, h[n] *h1 [n] = δ[n]. 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In continuous time, h(t) *h1 (t) = δ(t).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/>
          <p:nvPr/>
        </p:nvSpPr>
        <p:spPr>
          <a:xfrm>
            <a:off x="0" y="0"/>
            <a:ext cx="18481058" cy="10580406"/>
          </a:xfrm>
          <a:custGeom>
            <a:rect b="b" l="l" r="r" t="t"/>
            <a:pathLst>
              <a:path extrusionOk="0" h="10580406" w="18481058">
                <a:moveTo>
                  <a:pt x="0" y="0"/>
                </a:moveTo>
                <a:lnTo>
                  <a:pt x="18481058" y="0"/>
                </a:lnTo>
                <a:lnTo>
                  <a:pt x="18481058" y="10580406"/>
                </a:lnTo>
                <a:lnTo>
                  <a:pt x="0" y="10580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8"/>
          <p:cNvSpPr txBox="1"/>
          <p:nvPr/>
        </p:nvSpPr>
        <p:spPr>
          <a:xfrm>
            <a:off x="0" y="230257"/>
            <a:ext cx="18288000" cy="863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97" u="none" cap="none" strike="noStrik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Properties of Linear Time-Invariant Systems</a:t>
            </a:r>
            <a:endParaRPr/>
          </a:p>
        </p:txBody>
      </p:sp>
      <p:sp>
        <p:nvSpPr>
          <p:cNvPr id="139" name="Google Shape;139;p8"/>
          <p:cNvSpPr txBox="1"/>
          <p:nvPr/>
        </p:nvSpPr>
        <p:spPr>
          <a:xfrm>
            <a:off x="458910" y="1002050"/>
            <a:ext cx="16713300" cy="95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69875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Char char="•"/>
            </a:pPr>
            <a:r>
              <a:rPr b="1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LTI Systems with and without Memory : 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 </a:t>
            </a: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discrete time LTI system is memoryless if h[n] = 0 for n ≠ 0. In this case the impulse response has      the  form h[n] = K δ[n], where K = h[0] is a constant, and the convolution sum reduces to the relation y[n] = Kx[n]. 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A continuous time LTI system is memoryless if h(t) = 0 for t ≠ 0, and such a memoryless LTI system        has the form y(t) = Kx(t) for some constant K and has the impulse response h(t) = K δ(n) 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69875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Char char="•"/>
            </a:pPr>
            <a:r>
              <a:rPr b="1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Causality for LTI Systems :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A discrete time LTI system is casual if h[n] = 0 for n &lt; 0.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A continuous time LTI system is casual if h(t) = 0 for t &lt; 0.</a:t>
            </a:r>
            <a:endParaRPr/>
          </a:p>
          <a:p>
            <a:pPr indent="0" lvl="0" marL="0" marR="0" rtl="0" algn="l">
              <a:lnSpc>
                <a:spcPct val="1395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69875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Char char="•"/>
            </a:pPr>
            <a:r>
              <a:rPr b="1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Stability for LTI Systems :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</a:t>
            </a: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 discrete time , the system is stable if Σ |h[k]|&lt; ∞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In continuous time , the system is stable if ∫ |h(τ) |dτ &lt; ∞</a:t>
            </a:r>
            <a:endParaRPr/>
          </a:p>
          <a:p>
            <a:pPr indent="0" lvl="0" marL="0" marR="0" rtl="0" algn="l">
              <a:lnSpc>
                <a:spcPct val="1395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69875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Char char="•"/>
            </a:pPr>
            <a:r>
              <a:rPr b="1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Unit Step Response of an LTI Systems :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</a:t>
            </a: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 discrete time, s[n] = Σ h[k] (from k = - ∞ to n)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In continuous time, s(t) = ∫ h(τ) dτ (from τ = - ∞ to t)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/>
          <p:nvPr/>
        </p:nvSpPr>
        <p:spPr>
          <a:xfrm>
            <a:off x="0" y="0"/>
            <a:ext cx="18481058" cy="10580406"/>
          </a:xfrm>
          <a:custGeom>
            <a:rect b="b" l="l" r="r" t="t"/>
            <a:pathLst>
              <a:path extrusionOk="0" h="10580406" w="18481058">
                <a:moveTo>
                  <a:pt x="0" y="0"/>
                </a:moveTo>
                <a:lnTo>
                  <a:pt x="18481058" y="0"/>
                </a:lnTo>
                <a:lnTo>
                  <a:pt x="18481058" y="10580406"/>
                </a:lnTo>
                <a:lnTo>
                  <a:pt x="0" y="10580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9"/>
          <p:cNvSpPr txBox="1"/>
          <p:nvPr/>
        </p:nvSpPr>
        <p:spPr>
          <a:xfrm>
            <a:off x="0" y="230257"/>
            <a:ext cx="18288000" cy="863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97" u="none" cap="none" strike="noStrik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LTI Systems: Differential &amp; Difference Equations</a:t>
            </a:r>
            <a:endParaRPr/>
          </a:p>
        </p:txBody>
      </p:sp>
      <p:sp>
        <p:nvSpPr>
          <p:cNvPr id="146" name="Google Shape;146;p9"/>
          <p:cNvSpPr txBox="1"/>
          <p:nvPr/>
        </p:nvSpPr>
        <p:spPr>
          <a:xfrm>
            <a:off x="417606" y="2026918"/>
            <a:ext cx="8822923" cy="3508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CT — Linear Constant-Coeff. Differential Eq.</a:t>
            </a:r>
            <a:endParaRPr/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General Form:</a:t>
            </a:r>
            <a:endParaRPr/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7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Σ aₖ (dᵏy/dtᵏ) = Σ bₖ (dᵏx/dtᵏ)</a:t>
            </a:r>
            <a:endParaRPr/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97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First-order example:</a:t>
            </a:r>
            <a:endParaRPr/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dy(t)/dt + ay(t) = bx(t)</a:t>
            </a:r>
            <a:endParaRPr/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7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" name="Google Shape;147;p9"/>
          <p:cNvSpPr txBox="1"/>
          <p:nvPr/>
        </p:nvSpPr>
        <p:spPr>
          <a:xfrm>
            <a:off x="9540383" y="2026918"/>
            <a:ext cx="8747617" cy="3772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DT — Linear Constant-Coeff. Difference Eq.</a:t>
            </a:r>
            <a:endParaRPr/>
          </a:p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General Form:</a:t>
            </a:r>
            <a:endParaRPr/>
          </a:p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97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Σ aₖ y[n−k] = Σ bₖ x[n−k]</a:t>
            </a:r>
            <a:endParaRPr/>
          </a:p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697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First-order example:</a:t>
            </a:r>
            <a:endParaRPr/>
          </a:p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y[n] − ay[n−1] = bx[n]</a:t>
            </a:r>
            <a:endParaRPr/>
          </a:p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97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8" name="Google Shape;148;p9"/>
          <p:cNvSpPr txBox="1"/>
          <p:nvPr/>
        </p:nvSpPr>
        <p:spPr>
          <a:xfrm>
            <a:off x="223632" y="6397660"/>
            <a:ext cx="17398753" cy="2101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Solution Approach for Causal LTI Systems: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 Homogeneous (Natural) Response: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Set input x = 0, solve for yₕ (characterizes system's natural behavior).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 Particular (Forced) Response: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Find yₚ due to input x(t) or x[n].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 Complete Solution: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y = yₕ + yₚ, apply initial conditions to find constants.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/>
          <p:nvPr/>
        </p:nvSpPr>
        <p:spPr>
          <a:xfrm>
            <a:off x="0" y="0"/>
            <a:ext cx="18481058" cy="10580406"/>
          </a:xfrm>
          <a:custGeom>
            <a:rect b="b" l="l" r="r" t="t"/>
            <a:pathLst>
              <a:path extrusionOk="0" h="10580406" w="18481058">
                <a:moveTo>
                  <a:pt x="0" y="0"/>
                </a:moveTo>
                <a:lnTo>
                  <a:pt x="18481058" y="0"/>
                </a:lnTo>
                <a:lnTo>
                  <a:pt x="18481058" y="10580406"/>
                </a:lnTo>
                <a:lnTo>
                  <a:pt x="0" y="10580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10"/>
          <p:cNvSpPr/>
          <p:nvPr/>
        </p:nvSpPr>
        <p:spPr>
          <a:xfrm>
            <a:off x="1028700" y="2394759"/>
            <a:ext cx="7350027" cy="3352644"/>
          </a:xfrm>
          <a:custGeom>
            <a:rect b="b" l="l" r="r" t="t"/>
            <a:pathLst>
              <a:path extrusionOk="0" h="3352644" w="7350027">
                <a:moveTo>
                  <a:pt x="0" y="0"/>
                </a:moveTo>
                <a:lnTo>
                  <a:pt x="7350027" y="0"/>
                </a:lnTo>
                <a:lnTo>
                  <a:pt x="7350027" y="3352644"/>
                </a:lnTo>
                <a:lnTo>
                  <a:pt x="0" y="33526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10"/>
          <p:cNvSpPr/>
          <p:nvPr/>
        </p:nvSpPr>
        <p:spPr>
          <a:xfrm>
            <a:off x="9144000" y="2380120"/>
            <a:ext cx="7419866" cy="2295330"/>
          </a:xfrm>
          <a:custGeom>
            <a:rect b="b" l="l" r="r" t="t"/>
            <a:pathLst>
              <a:path extrusionOk="0" h="2295330" w="7419866">
                <a:moveTo>
                  <a:pt x="0" y="0"/>
                </a:moveTo>
                <a:lnTo>
                  <a:pt x="7419866" y="0"/>
                </a:lnTo>
                <a:lnTo>
                  <a:pt x="7419866" y="2295331"/>
                </a:lnTo>
                <a:lnTo>
                  <a:pt x="0" y="22953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6385" l="-292" r="-292" t="0"/>
            </a:stretch>
          </a:blipFill>
          <a:ln>
            <a:noFill/>
          </a:ln>
        </p:spPr>
      </p:sp>
      <p:sp>
        <p:nvSpPr>
          <p:cNvPr id="156" name="Google Shape;156;p10"/>
          <p:cNvSpPr/>
          <p:nvPr/>
        </p:nvSpPr>
        <p:spPr>
          <a:xfrm>
            <a:off x="1028700" y="5965574"/>
            <a:ext cx="7350027" cy="2991477"/>
          </a:xfrm>
          <a:custGeom>
            <a:rect b="b" l="l" r="r" t="t"/>
            <a:pathLst>
              <a:path extrusionOk="0" h="2991477" w="7350027">
                <a:moveTo>
                  <a:pt x="0" y="0"/>
                </a:moveTo>
                <a:lnTo>
                  <a:pt x="7350027" y="0"/>
                </a:lnTo>
                <a:lnTo>
                  <a:pt x="7350027" y="2991477"/>
                </a:lnTo>
                <a:lnTo>
                  <a:pt x="0" y="2991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p10"/>
          <p:cNvSpPr/>
          <p:nvPr/>
        </p:nvSpPr>
        <p:spPr>
          <a:xfrm>
            <a:off x="9599521" y="5290203"/>
            <a:ext cx="6508823" cy="3427820"/>
          </a:xfrm>
          <a:custGeom>
            <a:rect b="b" l="l" r="r" t="t"/>
            <a:pathLst>
              <a:path extrusionOk="0" h="3427820" w="6508823">
                <a:moveTo>
                  <a:pt x="0" y="0"/>
                </a:moveTo>
                <a:lnTo>
                  <a:pt x="6508824" y="0"/>
                </a:lnTo>
                <a:lnTo>
                  <a:pt x="6508824" y="3427820"/>
                </a:lnTo>
                <a:lnTo>
                  <a:pt x="0" y="3427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6285" l="0" r="0" t="-6285"/>
            </a:stretch>
          </a:blipFill>
          <a:ln>
            <a:noFill/>
          </a:ln>
        </p:spPr>
      </p:sp>
      <p:sp>
        <p:nvSpPr>
          <p:cNvPr id="158" name="Google Shape;158;p10"/>
          <p:cNvSpPr txBox="1"/>
          <p:nvPr/>
        </p:nvSpPr>
        <p:spPr>
          <a:xfrm>
            <a:off x="0" y="-104775"/>
            <a:ext cx="18288000" cy="17494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97" u="none" cap="none" strike="noStrik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Differential &amp; Difference Equations : </a:t>
            </a:r>
            <a:endParaRPr/>
          </a:p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97" u="none" cap="none" strike="noStrik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Block Diagram Representation of First Order Systems</a:t>
            </a:r>
            <a:r>
              <a:rPr b="0" i="0" lang="en-US" sz="4997" u="none" cap="none" strike="noStrik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endParaRPr/>
          </a:p>
        </p:txBody>
      </p:sp>
      <p:sp>
        <p:nvSpPr>
          <p:cNvPr id="159" name="Google Shape;159;p10"/>
          <p:cNvSpPr txBox="1"/>
          <p:nvPr/>
        </p:nvSpPr>
        <p:spPr>
          <a:xfrm>
            <a:off x="3698646" y="1623165"/>
            <a:ext cx="11083766" cy="771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4497" u="sng" cap="none" strike="noStrik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DT — Linear Constant-Coeff. Difference Eq. </a:t>
            </a:r>
            <a:endParaRPr/>
          </a:p>
        </p:txBody>
      </p:sp>
      <p:sp>
        <p:nvSpPr>
          <p:cNvPr id="160" name="Google Shape;160;p10"/>
          <p:cNvSpPr txBox="1"/>
          <p:nvPr/>
        </p:nvSpPr>
        <p:spPr>
          <a:xfrm>
            <a:off x="384282" y="8899901"/>
            <a:ext cx="16875018" cy="1166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Basic elements for the block diagram representation of the causal system:</a:t>
            </a:r>
            <a:endParaRPr/>
          </a:p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(a) an adder; (b) multi plication by a coefficient; (c) a unit delay. </a:t>
            </a:r>
            <a:endParaRPr/>
          </a:p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Block diagram representation for the causal discrete-time system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/>
          <p:nvPr/>
        </p:nvSpPr>
        <p:spPr>
          <a:xfrm>
            <a:off x="0" y="0"/>
            <a:ext cx="18481058" cy="10580406"/>
          </a:xfrm>
          <a:custGeom>
            <a:rect b="b" l="l" r="r" t="t"/>
            <a:pathLst>
              <a:path extrusionOk="0" h="10580406" w="18481058">
                <a:moveTo>
                  <a:pt x="0" y="0"/>
                </a:moveTo>
                <a:lnTo>
                  <a:pt x="18481058" y="0"/>
                </a:lnTo>
                <a:lnTo>
                  <a:pt x="18481058" y="10580406"/>
                </a:lnTo>
                <a:lnTo>
                  <a:pt x="0" y="10580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11"/>
          <p:cNvSpPr/>
          <p:nvPr/>
        </p:nvSpPr>
        <p:spPr>
          <a:xfrm>
            <a:off x="1356480" y="1709988"/>
            <a:ext cx="7129292" cy="3873908"/>
          </a:xfrm>
          <a:custGeom>
            <a:rect b="b" l="l" r="r" t="t"/>
            <a:pathLst>
              <a:path extrusionOk="0" h="3873908" w="7129292">
                <a:moveTo>
                  <a:pt x="0" y="0"/>
                </a:moveTo>
                <a:lnTo>
                  <a:pt x="7129292" y="0"/>
                </a:lnTo>
                <a:lnTo>
                  <a:pt x="7129292" y="3873908"/>
                </a:lnTo>
                <a:lnTo>
                  <a:pt x="0" y="38739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11"/>
          <p:cNvSpPr/>
          <p:nvPr/>
        </p:nvSpPr>
        <p:spPr>
          <a:xfrm>
            <a:off x="9144000" y="1873702"/>
            <a:ext cx="7812904" cy="3175107"/>
          </a:xfrm>
          <a:custGeom>
            <a:rect b="b" l="l" r="r" t="t"/>
            <a:pathLst>
              <a:path extrusionOk="0" h="3175107" w="7812904">
                <a:moveTo>
                  <a:pt x="0" y="0"/>
                </a:moveTo>
                <a:lnTo>
                  <a:pt x="7812904" y="0"/>
                </a:lnTo>
                <a:lnTo>
                  <a:pt x="7812904" y="3175107"/>
                </a:lnTo>
                <a:lnTo>
                  <a:pt x="0" y="31751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11"/>
          <p:cNvSpPr/>
          <p:nvPr/>
        </p:nvSpPr>
        <p:spPr>
          <a:xfrm>
            <a:off x="1356480" y="5583896"/>
            <a:ext cx="6475703" cy="3344594"/>
          </a:xfrm>
          <a:custGeom>
            <a:rect b="b" l="l" r="r" t="t"/>
            <a:pathLst>
              <a:path extrusionOk="0" h="3344594" w="6475703">
                <a:moveTo>
                  <a:pt x="0" y="0"/>
                </a:moveTo>
                <a:lnTo>
                  <a:pt x="6475703" y="0"/>
                </a:lnTo>
                <a:lnTo>
                  <a:pt x="6475703" y="3344593"/>
                </a:lnTo>
                <a:lnTo>
                  <a:pt x="0" y="33445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11"/>
          <p:cNvSpPr/>
          <p:nvPr/>
        </p:nvSpPr>
        <p:spPr>
          <a:xfrm>
            <a:off x="10145455" y="5048809"/>
            <a:ext cx="5809993" cy="3706375"/>
          </a:xfrm>
          <a:custGeom>
            <a:rect b="b" l="l" r="r" t="t"/>
            <a:pathLst>
              <a:path extrusionOk="0" h="3706375" w="5809993">
                <a:moveTo>
                  <a:pt x="0" y="0"/>
                </a:moveTo>
                <a:lnTo>
                  <a:pt x="5809993" y="0"/>
                </a:lnTo>
                <a:lnTo>
                  <a:pt x="5809993" y="3706374"/>
                </a:lnTo>
                <a:lnTo>
                  <a:pt x="0" y="37063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p11"/>
          <p:cNvSpPr txBox="1"/>
          <p:nvPr/>
        </p:nvSpPr>
        <p:spPr>
          <a:xfrm>
            <a:off x="3154453" y="623536"/>
            <a:ext cx="11308199" cy="771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4497" u="sng" cap="none" strike="noStrik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CT — Linear Constant-Coeff. Differential Eq.</a:t>
            </a:r>
            <a:r>
              <a:rPr b="1" i="0" lang="en-US" sz="4497" u="none" cap="none" strike="noStrik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endParaRPr/>
          </a:p>
        </p:txBody>
      </p:sp>
      <p:sp>
        <p:nvSpPr>
          <p:cNvPr id="171" name="Google Shape;171;p11"/>
          <p:cNvSpPr txBox="1"/>
          <p:nvPr/>
        </p:nvSpPr>
        <p:spPr>
          <a:xfrm>
            <a:off x="0" y="8688508"/>
            <a:ext cx="18103900" cy="1372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Basic elements for the block diagram representation of the continuous-time system:</a:t>
            </a:r>
            <a:endParaRPr/>
          </a:p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(a) an adder; (b) multiplication by a coefficient; (c) a differentiator.(d) </a:t>
            </a:r>
            <a:endParaRPr/>
          </a:p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Block diagram representation for the system, using adders, multiplications by coefficients, and differentiators.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"/>
          <p:cNvSpPr/>
          <p:nvPr/>
        </p:nvSpPr>
        <p:spPr>
          <a:xfrm>
            <a:off x="0" y="0"/>
            <a:ext cx="18481058" cy="10580406"/>
          </a:xfrm>
          <a:custGeom>
            <a:rect b="b" l="l" r="r" t="t"/>
            <a:pathLst>
              <a:path extrusionOk="0" h="10580406" w="18481058">
                <a:moveTo>
                  <a:pt x="0" y="0"/>
                </a:moveTo>
                <a:lnTo>
                  <a:pt x="18481058" y="0"/>
                </a:lnTo>
                <a:lnTo>
                  <a:pt x="18481058" y="10580406"/>
                </a:lnTo>
                <a:lnTo>
                  <a:pt x="0" y="10580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12"/>
          <p:cNvSpPr/>
          <p:nvPr/>
        </p:nvSpPr>
        <p:spPr>
          <a:xfrm>
            <a:off x="1028700" y="1618721"/>
            <a:ext cx="4858181" cy="8279871"/>
          </a:xfrm>
          <a:custGeom>
            <a:rect b="b" l="l" r="r" t="t"/>
            <a:pathLst>
              <a:path extrusionOk="0" h="8279871" w="4858181">
                <a:moveTo>
                  <a:pt x="0" y="0"/>
                </a:moveTo>
                <a:lnTo>
                  <a:pt x="4858181" y="0"/>
                </a:lnTo>
                <a:lnTo>
                  <a:pt x="4858181" y="8279870"/>
                </a:lnTo>
                <a:lnTo>
                  <a:pt x="0" y="82798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8813" r="-1765" t="0"/>
            </a:stretch>
          </a:blipFill>
          <a:ln>
            <a:noFill/>
          </a:ln>
        </p:spPr>
      </p:sp>
      <p:sp>
        <p:nvSpPr>
          <p:cNvPr id="178" name="Google Shape;178;p12"/>
          <p:cNvSpPr/>
          <p:nvPr/>
        </p:nvSpPr>
        <p:spPr>
          <a:xfrm>
            <a:off x="6684104" y="1618721"/>
            <a:ext cx="5115470" cy="8279871"/>
          </a:xfrm>
          <a:custGeom>
            <a:rect b="b" l="l" r="r" t="t"/>
            <a:pathLst>
              <a:path extrusionOk="0" h="8279871" w="5115470">
                <a:moveTo>
                  <a:pt x="0" y="0"/>
                </a:moveTo>
                <a:lnTo>
                  <a:pt x="5115470" y="0"/>
                </a:lnTo>
                <a:lnTo>
                  <a:pt x="5115470" y="8279870"/>
                </a:lnTo>
                <a:lnTo>
                  <a:pt x="0" y="82798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4030" r="-205" t="0"/>
            </a:stretch>
          </a:blipFill>
          <a:ln>
            <a:noFill/>
          </a:ln>
        </p:spPr>
      </p:sp>
      <p:sp>
        <p:nvSpPr>
          <p:cNvPr id="179" name="Google Shape;179;p12"/>
          <p:cNvSpPr/>
          <p:nvPr/>
        </p:nvSpPr>
        <p:spPr>
          <a:xfrm>
            <a:off x="12320038" y="1618721"/>
            <a:ext cx="5327485" cy="7639579"/>
          </a:xfrm>
          <a:custGeom>
            <a:rect b="b" l="l" r="r" t="t"/>
            <a:pathLst>
              <a:path extrusionOk="0" h="7639579" w="5327485">
                <a:moveTo>
                  <a:pt x="0" y="0"/>
                </a:moveTo>
                <a:lnTo>
                  <a:pt x="5327485" y="0"/>
                </a:lnTo>
                <a:lnTo>
                  <a:pt x="5327485" y="7639579"/>
                </a:lnTo>
                <a:lnTo>
                  <a:pt x="0" y="7639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1628" r="-1628" t="0"/>
            </a:stretch>
          </a:blipFill>
          <a:ln>
            <a:noFill/>
          </a:ln>
        </p:spPr>
      </p:sp>
      <p:sp>
        <p:nvSpPr>
          <p:cNvPr id="180" name="Google Shape;180;p12"/>
          <p:cNvSpPr txBox="1"/>
          <p:nvPr/>
        </p:nvSpPr>
        <p:spPr>
          <a:xfrm>
            <a:off x="2127381" y="304096"/>
            <a:ext cx="13641884" cy="863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97" u="none" cap="none" strike="noStrik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Singularity Functions — Impulse, Step &amp; Ramp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/>
          <p:nvPr/>
        </p:nvSpPr>
        <p:spPr>
          <a:xfrm>
            <a:off x="0" y="0"/>
            <a:ext cx="18481058" cy="10580406"/>
          </a:xfrm>
          <a:custGeom>
            <a:rect b="b" l="l" r="r" t="t"/>
            <a:pathLst>
              <a:path extrusionOk="0" h="10580406" w="18481058">
                <a:moveTo>
                  <a:pt x="0" y="0"/>
                </a:moveTo>
                <a:lnTo>
                  <a:pt x="18481058" y="0"/>
                </a:lnTo>
                <a:lnTo>
                  <a:pt x="18481058" y="10580406"/>
                </a:lnTo>
                <a:lnTo>
                  <a:pt x="0" y="10580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p13"/>
          <p:cNvSpPr txBox="1"/>
          <p:nvPr/>
        </p:nvSpPr>
        <p:spPr>
          <a:xfrm>
            <a:off x="6457126" y="3609300"/>
            <a:ext cx="59220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9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Module - 2</a:t>
            </a:r>
            <a:endParaRPr/>
          </a:p>
          <a:p>
            <a:pPr indent="0" lvl="0" marL="0" marR="0" rtl="0" algn="ctr">
              <a:lnSpc>
                <a:spcPct val="711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897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9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Completed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